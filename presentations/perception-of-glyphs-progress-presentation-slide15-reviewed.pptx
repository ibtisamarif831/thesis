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7d4a579d1143db" /><Relationship Type="http://schemas.openxmlformats.org/officeDocument/2006/relationships/extended-properties" Target="/docProps/app.xml" Id="R38236cf1b0634b56" /><Relationship Type="http://schemas.openxmlformats.org/officeDocument/2006/relationships/officeDocument" Target="/ppt/presentation.xml" Id="R329dd7d2cbfd4278" /></Relationships>
</file>

<file path=ppt/presentation.xml><?xml version="1.0" encoding="utf-8"?>
<p:presentation xmlns:p="http://schemas.openxmlformats.org/presentationml/2006/main">
  <p:sldMasterIdLst>
    <p:sldMasterId xmlns:r="http://schemas.openxmlformats.org/officeDocument/2006/relationships" id="2147483648" r:id="R6438d3f6fdfc4bc4"/>
  </p:sldMasterIdLst>
  <p:notesMasterIdLst>
    <p:notesMasterId xmlns:r="http://schemas.openxmlformats.org/officeDocument/2006/relationships" r:id="R0e7153f759334e39"/>
  </p:notesMasterIdLst>
  <p:sldIdLst>
    <p:sldId xmlns:r="http://schemas.openxmlformats.org/officeDocument/2006/relationships" id="256" r:id="R7ffe768906344467"/>
    <p:sldId xmlns:r="http://schemas.openxmlformats.org/officeDocument/2006/relationships" id="257" r:id="R6d976c52883042c6"/>
    <p:sldId xmlns:r="http://schemas.openxmlformats.org/officeDocument/2006/relationships" id="258" r:id="R4efc01b44af046bc"/>
    <p:sldId xmlns:r="http://schemas.openxmlformats.org/officeDocument/2006/relationships" id="259" r:id="R00bd00a19d7c44f3"/>
    <p:sldId xmlns:r="http://schemas.openxmlformats.org/officeDocument/2006/relationships" id="260" r:id="R658c7b1f750345a5"/>
    <p:sldId xmlns:r="http://schemas.openxmlformats.org/officeDocument/2006/relationships" id="261" r:id="R54ad657b63a549e3"/>
    <p:sldId xmlns:r="http://schemas.openxmlformats.org/officeDocument/2006/relationships" id="262" r:id="R31eeaedb444d4e3f"/>
    <p:sldId xmlns:r="http://schemas.openxmlformats.org/officeDocument/2006/relationships" id="263" r:id="R1bf1d91bf2d443eb"/>
    <p:sldId xmlns:r="http://schemas.openxmlformats.org/officeDocument/2006/relationships" id="264" r:id="Rdc52fe7c6c7843ee"/>
    <p:sldId xmlns:r="http://schemas.openxmlformats.org/officeDocument/2006/relationships" id="265" r:id="Rac36b4d8ae014c7f"/>
    <p:sldId xmlns:r="http://schemas.openxmlformats.org/officeDocument/2006/relationships" id="266" r:id="Rbce6a245dd854adc"/>
    <p:sldId xmlns:r="http://schemas.openxmlformats.org/officeDocument/2006/relationships" id="267" r:id="R068b90b7b9284676"/>
    <p:sldId xmlns:r="http://schemas.openxmlformats.org/officeDocument/2006/relationships" id="268" r:id="Rb12a13c9e37944b9"/>
    <p:sldId xmlns:r="http://schemas.openxmlformats.org/officeDocument/2006/relationships" id="269" r:id="R350c008e45984122"/>
    <p:sldId xmlns:r="http://schemas.openxmlformats.org/officeDocument/2006/relationships" id="270" r:id="Rabe97725bd674b45"/>
    <p:sldId xmlns:r="http://schemas.openxmlformats.org/officeDocument/2006/relationships" id="271" r:id="R210e13ade0c04bca"/>
    <p:sldId xmlns:r="http://schemas.openxmlformats.org/officeDocument/2006/relationships" id="272" r:id="R8ebe41051dcb4d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6b9e9223f543a8" /><Relationship Type="http://schemas.openxmlformats.org/officeDocument/2006/relationships/slideMaster" Target="/ppt/slideMasters/slideMaster1.xml" Id="R6438d3f6fdfc4bc4" /><Relationship Type="http://schemas.openxmlformats.org/officeDocument/2006/relationships/notesMaster" Target="/ppt/notesMasters/notesMaster1.xml" Id="R0e7153f759334e39" /><Relationship Type="http://schemas.openxmlformats.org/officeDocument/2006/relationships/presProps" Target="/ppt/presProps.xml" Id="R9aaf074243cf4891" /><Relationship Type="http://schemas.openxmlformats.org/officeDocument/2006/relationships/tableStyles" Target="/ppt/tableStyles.xml" Id="R6a1f486ba442472b" /><Relationship Type="http://schemas.openxmlformats.org/officeDocument/2006/relationships/slide" Target="/ppt/slides/slide1.xml" Id="R7ffe768906344467" /><Relationship Type="http://schemas.openxmlformats.org/officeDocument/2006/relationships/slide" Target="/ppt/slides/slide2.xml" Id="R6d976c52883042c6" /><Relationship Type="http://schemas.openxmlformats.org/officeDocument/2006/relationships/slide" Target="/ppt/slides/slide3.xml" Id="R4efc01b44af046bc" /><Relationship Type="http://schemas.openxmlformats.org/officeDocument/2006/relationships/slide" Target="/ppt/slides/slide4.xml" Id="R00bd00a19d7c44f3" /><Relationship Type="http://schemas.openxmlformats.org/officeDocument/2006/relationships/slide" Target="/ppt/slides/slide5.xml" Id="R658c7b1f750345a5" /><Relationship Type="http://schemas.openxmlformats.org/officeDocument/2006/relationships/slide" Target="/ppt/slides/slide6.xml" Id="R54ad657b63a549e3" /><Relationship Type="http://schemas.openxmlformats.org/officeDocument/2006/relationships/slide" Target="/ppt/slides/slide7.xml" Id="R31eeaedb444d4e3f" /><Relationship Type="http://schemas.openxmlformats.org/officeDocument/2006/relationships/slide" Target="/ppt/slides/slide8.xml" Id="R1bf1d91bf2d443eb" /><Relationship Type="http://schemas.openxmlformats.org/officeDocument/2006/relationships/slide" Target="/ppt/slides/slide9.xml" Id="Rdc52fe7c6c7843ee" /><Relationship Type="http://schemas.openxmlformats.org/officeDocument/2006/relationships/slide" Target="/ppt/slides/slide10.xml" Id="Rac36b4d8ae014c7f" /><Relationship Type="http://schemas.openxmlformats.org/officeDocument/2006/relationships/slide" Target="/ppt/slides/slide11.xml" Id="Rbce6a245dd854adc" /><Relationship Type="http://schemas.openxmlformats.org/officeDocument/2006/relationships/slide" Target="/ppt/slides/slide12.xml" Id="R068b90b7b9284676" /><Relationship Type="http://schemas.openxmlformats.org/officeDocument/2006/relationships/slide" Target="/ppt/slides/slide13.xml" Id="Rb12a13c9e37944b9" /><Relationship Type="http://schemas.openxmlformats.org/officeDocument/2006/relationships/slide" Target="/ppt/slides/slide14.xml" Id="R350c008e45984122" /><Relationship Type="http://schemas.openxmlformats.org/officeDocument/2006/relationships/slide" Target="/ppt/slides/slide15.xml" Id="Rabe97725bd674b45" /><Relationship Type="http://schemas.openxmlformats.org/officeDocument/2006/relationships/slide" Target="/ppt/slides/slide16.xml" Id="R210e13ade0c04bca" /><Relationship Type="http://schemas.openxmlformats.org/officeDocument/2006/relationships/slide" Target="/ppt/slides/slide17.xml" Id="R8ebe41051dcb4d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e1e7ac59c64c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74d9c8590c4b8b" /><Relationship Type="http://schemas.openxmlformats.org/officeDocument/2006/relationships/notesMaster" Target="/ppt/notesMasters/notesMaster1.xml" Id="R369b8760f28746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20a43f075f40aa" /><Relationship Type="http://schemas.openxmlformats.org/officeDocument/2006/relationships/notesMaster" Target="/ppt/notesMasters/notesMaster1.xml" Id="Reb82270c472e40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412723aac4449d" /><Relationship Type="http://schemas.openxmlformats.org/officeDocument/2006/relationships/notesMaster" Target="/ppt/notesMasters/notesMaster1.xml" Id="Rd0546c61720b4d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575fbd54a94ad2" /><Relationship Type="http://schemas.openxmlformats.org/officeDocument/2006/relationships/notesMaster" Target="/ppt/notesMasters/notesMaster1.xml" Id="R691fa90d32d04b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ef2037cd544bf2" /><Relationship Type="http://schemas.openxmlformats.org/officeDocument/2006/relationships/notesMaster" Target="/ppt/notesMasters/notesMaster1.xml" Id="R444821bba16049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617547d8cb42bf" /><Relationship Type="http://schemas.openxmlformats.org/officeDocument/2006/relationships/notesMaster" Target="/ppt/notesMasters/notesMaster1.xml" Id="R41d3f71b6299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07857751784e54" /><Relationship Type="http://schemas.openxmlformats.org/officeDocument/2006/relationships/notesMaster" Target="/ppt/notesMasters/notesMaster1.xml" Id="R022e9428d54941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0e78a7accd41c6" /><Relationship Type="http://schemas.openxmlformats.org/officeDocument/2006/relationships/notesMaster" Target="/ppt/notesMasters/notesMaster1.xml" Id="R416eb1a786e745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c0b85605a64f5a" /><Relationship Type="http://schemas.openxmlformats.org/officeDocument/2006/relationships/notesMaster" Target="/ppt/notesMasters/notesMaster1.xml" Id="R06f42df4bf0643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b6d86e0afd4258" /><Relationship Type="http://schemas.openxmlformats.org/officeDocument/2006/relationships/notesMaster" Target="/ppt/notesMasters/notesMaster1.xml" Id="Rda3cede0b2f54c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fe90fbb51f4608" /><Relationship Type="http://schemas.openxmlformats.org/officeDocument/2006/relationships/notesMaster" Target="/ppt/notesMasters/notesMaster1.xml" Id="R923f6039244f4f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887e79fc5d4c4b" /><Relationship Type="http://schemas.openxmlformats.org/officeDocument/2006/relationships/notesMaster" Target="/ppt/notesMasters/notesMaster1.xml" Id="Rce88d3df274f46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3d0f01e3b4de6" /><Relationship Type="http://schemas.openxmlformats.org/officeDocument/2006/relationships/notesMaster" Target="/ppt/notesMasters/notesMaster1.xml" Id="R89a85dda19f24e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dad4cd034d4fc5" /><Relationship Type="http://schemas.openxmlformats.org/officeDocument/2006/relationships/notesMaster" Target="/ppt/notesMasters/notesMaster1.xml" Id="R078983432cdb4d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d3f842de7a4bd0" /><Relationship Type="http://schemas.openxmlformats.org/officeDocument/2006/relationships/notesMaster" Target="/ppt/notesMasters/notesMaster1.xml" Id="R8861f3a08e9940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90e1a1ad5f487e" /><Relationship Type="http://schemas.openxmlformats.org/officeDocument/2006/relationships/notesMaster" Target="/ppt/notesMasters/notesMaster1.xml" Id="Rb931cdce556949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a134718f754008" /><Relationship Type="http://schemas.openxmlformats.org/officeDocument/2006/relationships/notesMaster" Target="/ppt/notesMasters/notesMaster1.xml" Id="R6a7594d0759d48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only the name, programme, and supervisor fields.</a:t>
            </a:r>
          </a:p>
          <a:p xmlns:a="http://schemas.openxmlformats.org/drawingml/2006/main">
            <a:r>
              <a:t/>
            </a:r>
          </a:p>
          <a:p xmlns:a="http://schemas.openxmlformats.org/drawingml/2006/main">
            <a:r>
              <a:t>[Sources]</a:t>
            </a:r>
          </a:p>
          <a:p xmlns:a="http://schemas.openxmlformats.org/drawingml/2006/main">
            <a:r>
              <a:t>- Supervisor-provided thesis title and project description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Supervisor-provided thesis title and project description supplied by the user.</a:t>
            </a:r>
          </a:p>
          <a:p xmlns:a="http://schemas.openxmlformats.org/drawingml/2006/main">
            <a:r>
              <a:t>- papers/Glyph_Visualization_A_Fail-Safe_Design_Scheme_Based_on_Quasi-Hamming_Distances.pdf, Figure 1, p.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papers shaped the current measurements and glyph-selection workflow. The 2017 systematic review informs the later study-design phase.</a:t>
            </a:r>
          </a:p>
          <a:p xmlns:a="http://schemas.openxmlformats.org/drawingml/2006/main">
            <a:r>
              <a:t>Legg et al. support pairwise and set-relative perceptual distance; clustering is a project step applied afterward, not a method validated by that paper.</a:t>
            </a:r>
          </a:p>
          <a:p xmlns:a="http://schemas.openxmlformats.org/drawingml/2006/main">
            <a:r>
              <a:t>The stated research gap is limited to the reviewed local literature: this corpus does not establish validated size-dependent thresholds for heterogeneous icon sets.</a:t>
            </a:r>
          </a:p>
          <a:p xmlns:a="http://schemas.openxmlformats.org/drawingml/2006/main">
            <a:r>
              <a:t>Maguire et al. (2012) was reviewed as design context but is omitted from the main narrative because it did not materially determine the current image-feature implementation.</a:t>
            </a:r>
          </a:p>
          <a:p xmlns:a="http://schemas.openxmlformats.org/drawingml/2006/main">
            <a:r>
              <a:t/>
            </a:r>
          </a:p>
          <a:p xmlns:a="http://schemas.openxmlformats.org/drawingml/2006/main">
            <a:r>
              <a:t>[Sources]</a:t>
            </a:r>
          </a:p>
          <a:p xmlns:a="http://schemas.openxmlformats.org/drawingml/2006/main">
            <a:r>
              <a:t>- papers/Forsythe-Measuring_cion_complexity_automated.pdf, pp. 4–7</a:t>
            </a:r>
          </a:p>
          <a:p xmlns:a="http://schemas.openxmlformats.org/drawingml/2006/main">
            <a:r>
              <a:t>- papers/Garcia-Development_validation_icons_abstractness.pdf, pp. 3–4, 11, 20</a:t>
            </a:r>
          </a:p>
          <a:p xmlns:a="http://schemas.openxmlformats.org/drawingml/2006/main">
            <a:r>
              <a:t>- papers/Glyph-based_Visualization_Foundations_Design_Guidelines_Techniques_Applications.pdf, pp. 7–10, 12, 16</a:t>
            </a:r>
          </a:p>
          <a:p xmlns:a="http://schemas.openxmlformats.org/drawingml/2006/main">
            <a:r>
              <a:t>- papers/Glyph_Visualization_A_Fail-Safe_Design_Scheme_Based_on_Quasi-Hamming_Distances.pdf, pp. 4–6</a:t>
            </a:r>
          </a:p>
          <a:p xmlns:a="http://schemas.openxmlformats.org/drawingml/2006/main">
            <a:r>
              <a:t>- papers/The_Influence_of_Contour_on_Similarity_Perception_of_Star_Glyphs.pdf, pp. 2–3, 6–8</a:t>
            </a:r>
          </a:p>
          <a:p xmlns:a="http://schemas.openxmlformats.org/drawingml/2006/main">
            <a:r>
              <a:t>- papers/A_Systematic_Review_of_Experimental_Studies_on_Data_Glyphs.pdf, pp. 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supports the visual constructs. Canny edge density has the closest measure-level evidence, but the repository extraction is still project-specific. The other six exact formulas are project-defined proxies and still require human validation.</a:t>
            </a:r>
          </a:p>
          <a:p xmlns:a="http://schemas.openxmlformats.org/drawingml/2006/main">
            <a:r>
              <a:t>The 239-icon source-set count is verified from the local McDougall corpus manifest and dataset provenance.</a:t>
            </a:r>
          </a:p>
          <a:p xmlns:a="http://schemas.openxmlformats.org/drawingml/2006/main">
            <a:r>
              <a:t/>
            </a:r>
          </a:p>
          <a:p xmlns:a="http://schemas.openxmlformats.org/drawingml/2006/main">
            <a:r>
              <a:t>[Sources]</a:t>
            </a:r>
          </a:p>
          <a:p xmlns:a="http://schemas.openxmlformats.org/drawingml/2006/main">
            <a:r>
              <a:t>- papers/Forsythe-Measuring_cion_complexity_automated.pdf, pp. 4–7</a:t>
            </a:r>
          </a:p>
          <a:p xmlns:a="http://schemas.openxmlformats.org/drawingml/2006/main">
            <a:r>
              <a:t>- papers/Garcia-Development_validation_icons_abstractness.pdf, pp. 3–4, 11, 20</a:t>
            </a:r>
          </a:p>
          <a:p xmlns:a="http://schemas.openxmlformats.org/drawingml/2006/main">
            <a:r>
              <a:t>- papers/The_Influence_of_Contour_on_Similarity_Perception_of_Star_Glyphs.pdf, pp. 2–3, 6–8</a:t>
            </a:r>
          </a:p>
          <a:p xmlns:a="http://schemas.openxmlformats.org/drawingml/2006/main">
            <a:r>
              <a:t>- papers/Glyph_Visualization_A_Fail-Safe_Design_Scheme_Based_on_Quasi-Hamming_Distances.pdf, pp. 4–6</a:t>
            </a:r>
          </a:p>
          <a:p xmlns:a="http://schemas.openxmlformats.org/drawingml/2006/main">
            <a:r>
              <a:t>- papers/Glyph-based_Visualization_Foundations_Design_Guidelines_Techniques_Applications.pdf, pp. 7–10, 12, 16</a:t>
            </a:r>
          </a:p>
          <a:p xmlns:a="http://schemas.openxmlformats.org/drawingml/2006/main">
            <a:r>
              <a:t>- wiki/literature-and-evidence.md</a:t>
            </a:r>
          </a:p>
          <a:p xmlns:a="http://schemas.openxmlformats.org/drawingml/2006/main">
            <a:r>
              <a:t>- wiki/feature-system.md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Legg et al. support pairwise and set-relative perceptual distance. The thesis applies project-defined clustering afterward to organize candidate glyphs; it is not a replication or validation of quasi-Hamming clustering.</a:t>
            </a:r>
          </a:p>
          <a:p xmlns:a="http://schemas.openxmlformats.org/drawingml/2006/main">
            <a:r>
              <a:t>Fuchs et al. (2014) reports task-specific contour and fill effects, not a universal accuracy benefit.</a:t>
            </a:r>
          </a:p>
          <a:p xmlns:a="http://schemas.openxmlformats.org/drawingml/2006/main">
            <a:r>
              <a:t>The 2017 review informs study-design options but does not define a finalized protocol for this thesis.</a:t>
            </a:r>
          </a:p>
          <a:p xmlns:a="http://schemas.openxmlformats.org/drawingml/2006/main">
            <a:r>
              <a:t/>
            </a:r>
          </a:p>
          <a:p xmlns:a="http://schemas.openxmlformats.org/drawingml/2006/main">
            <a:r>
              <a:t>[Sources]</a:t>
            </a:r>
          </a:p>
          <a:p xmlns:a="http://schemas.openxmlformats.org/drawingml/2006/main">
            <a:r>
              <a:t>- papers/Glyph_Visualization_A_Fail-Safe_Design_Scheme_Based_on_Quasi-Hamming_Distances.pdf, pp. 4–6</a:t>
            </a:r>
          </a:p>
          <a:p xmlns:a="http://schemas.openxmlformats.org/drawingml/2006/main">
            <a:r>
              <a:t>- papers/The_Influence_of_Contour_on_Similarity_Perception_of_Star_Glyphs.pdf, pp. 2–3, 6–8</a:t>
            </a:r>
          </a:p>
          <a:p xmlns:a="http://schemas.openxmlformats.org/drawingml/2006/main">
            <a:r>
              <a:t>- papers/A_Systematic_Review_of_Experimental_Studies_on_Data_Glyphs.pdf, pp. 1–17</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Git history: 4e5d7d64a (2026-06-01), c9616aed2 (2026-07-21), 31e075b7b (2026-07-28), fce7512f1 (2026-08-10)</a:t>
            </a:r>
          </a:p>
          <a:p xmlns:a="http://schemas.openxmlformats.org/drawingml/2006/main">
            <a:r>
              <a:t>- wiki/README.md</a:t>
            </a:r>
          </a:p>
          <a:p xmlns:a="http://schemas.openxmlformats.org/drawingml/2006/main">
            <a:r>
              <a:t>- wiki/dashboard-implementation.md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usable icon record is the pipeline's canonical row: one selected source icon after dataset-specific duplicate and alternate-export rules are applied.</a:t>
            </a:r>
          </a:p>
          <a:p xmlns:a="http://schemas.openxmlformats.org/drawingml/2006/main">
            <a:r>
              <a:t>The displayed examples are representative normalized icons; they do not imply that every set uses the same visual style.</a:t>
            </a:r>
          </a:p>
          <a:p xmlns:a="http://schemas.openxmlformats.org/drawingml/2006/main">
            <a:r>
              <a:t/>
            </a:r>
          </a:p>
          <a:p xmlns:a="http://schemas.openxmlformats.org/drawingml/2006/main">
            <a:r>
              <a:t>[Sources]</a:t>
            </a:r>
          </a:p>
          <a:p xmlns:a="http://schemas.openxmlformats.org/drawingml/2006/main">
            <a:r>
              <a:t>- icon_data/analysis/dataset.csv (28,749 rows; counts verified 2026-08-16)</a:t>
            </a:r>
          </a:p>
          <a:p xmlns:a="http://schemas.openxmlformats.org/drawingml/2006/main">
            <a:r>
              <a:t>- wiki/datasets-and-provenance.md</a:t>
            </a:r>
          </a:p>
          <a:p xmlns:a="http://schemas.openxmlformats.org/drawingml/2006/main">
            <a:r>
              <a:t>- wiki/pipeline.md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code/thesis_pipeline/features/registry.py</a:t>
            </a:r>
          </a:p>
          <a:p xmlns:a="http://schemas.openxmlformats.org/drawingml/2006/main">
            <a:r>
              <a:t>- wiki/feature-system.md</a:t>
            </a:r>
          </a:p>
          <a:p xmlns:a="http://schemas.openxmlformats.org/drawingml/2006/main">
            <a:r>
              <a:t>- wiki/literature-and-evidence.md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one family detail during the live demo to show value-stratified examples and the selected representative.</a:t>
            </a:r>
          </a:p>
          <a:p xmlns:a="http://schemas.openxmlformats.org/drawingml/2006/main">
            <a:r>
              <a:t/>
            </a:r>
          </a:p>
          <a:p xmlns:a="http://schemas.openxmlformats.org/drawingml/2006/main">
            <a:r>
              <a:t>[Sources]</a:t>
            </a:r>
          </a:p>
          <a:p xmlns:a="http://schemas.openxmlformats.org/drawingml/2006/main">
            <a:r>
              <a:t>- icon_data/analysis/analysis_dashboard/index.html (served and browser-verified 2026-08-13)</a:t>
            </a:r>
          </a:p>
          <a:p xmlns:a="http://schemas.openxmlformats.org/drawingml/2006/main">
            <a:r>
              <a:t>- code/build_analysis_dashboard.py</a:t>
            </a:r>
          </a:p>
          <a:p xmlns:a="http://schemas.openxmlformats.org/drawingml/2006/main">
            <a:r>
              <a:t>- wiki/dashboard-ui.md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live demo, use lasso selection, inspect one icon, and open one cluster summary.</a:t>
            </a:r>
          </a:p>
          <a:p xmlns:a="http://schemas.openxmlformats.org/drawingml/2006/main">
            <a:r>
              <a:t>The dashboard supports candidate selection; it does not measure discernibility.</a:t>
            </a:r>
          </a:p>
          <a:p xmlns:a="http://schemas.openxmlformats.org/drawingml/2006/main">
            <a:r>
              <a:t/>
            </a:r>
          </a:p>
          <a:p xmlns:a="http://schemas.openxmlformats.org/drawingml/2006/main">
            <a:r>
              <a:t>[Sources]</a:t>
            </a:r>
          </a:p>
          <a:p xmlns:a="http://schemas.openxmlformats.org/drawingml/2006/main">
            <a:r>
              <a:t>- icon_data/analysis/analysis_dashboard/index.html (served and browser-verified 2026-08-13)</a:t>
            </a:r>
          </a:p>
          <a:p xmlns:a="http://schemas.openxmlformats.org/drawingml/2006/main">
            <a:r>
              <a:t>- code/build_analysis_dashboard.py</a:t>
            </a:r>
          </a:p>
          <a:p xmlns:a="http://schemas.openxmlformats.org/drawingml/2006/main">
            <a:r>
              <a:t>- wiki/dashboard-ui.md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Pairwise agreement compares every icon pair: whether both clusterings put the pair together or both put it apart.</a:t>
            </a:r>
          </a:p>
          <a:p xmlns:a="http://schemas.openxmlformats.org/drawingml/2006/main">
            <a:r>
              <a:t>The AI image-embedding model receives normalized image pixels, not the seven thesis feature values.</a:t>
            </a:r>
          </a:p>
          <a:p xmlns:a="http://schemas.openxmlformats.org/drawingml/2006/main">
            <a:r>
              <a:t/>
            </a:r>
          </a:p>
          <a:p xmlns:a="http://schemas.openxmlformats.org/drawingml/2006/main">
            <a:r>
              <a:t>[Sources]</a:t>
            </a:r>
          </a:p>
          <a:p xmlns:a="http://schemas.openxmlformats.org/drawingml/2006/main">
            <a:r>
              <a:t>- icon_data/analysis/analysis_dashboard/index.html (served and browser-verified 2026-08-13)</a:t>
            </a:r>
          </a:p>
          <a:p xmlns:a="http://schemas.openxmlformats.org/drawingml/2006/main">
            <a:r>
              <a:t>- code/thesis_pipeline/ai_clustering/metrics.py</a:t>
            </a:r>
          </a:p>
          <a:p xmlns:a="http://schemas.openxmlformats.org/drawingml/2006/main">
            <a:r>
              <a:t>- wiki/dashboard-ui.md</a:t>
            </a:r>
          </a:p>
          <a:p xmlns:a="http://schemas.openxmlformats.org/drawingml/2006/main">
            <a:r>
              <a:t>- wiki/similarity-and-clustering.md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wiki/README.md</a:t>
            </a:r>
          </a:p>
          <a:p xmlns:a="http://schemas.openxmlformats.org/drawingml/2006/main">
            <a:r>
              <a:t>- wiki/evaluation-and-human-study.md</a:t>
            </a:r>
          </a:p>
          <a:p xmlns:a="http://schemas.openxmlformats.org/drawingml/2006/main">
            <a:r>
              <a:t>- wiki/limitations-and-backlog.md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study-design details are intentionally left open at this stage.</a:t>
            </a:r>
          </a:p>
          <a:p xmlns:a="http://schemas.openxmlformats.org/drawingml/2006/main">
            <a:r>
              <a:t/>
            </a:r>
          </a:p>
          <a:p xmlns:a="http://schemas.openxmlformats.org/drawingml/2006/main">
            <a:r>
              <a:t>[Sources]</a:t>
            </a:r>
          </a:p>
          <a:p xmlns:a="http://schemas.openxmlformats.org/drawingml/2006/main">
            <a:r>
              <a:t>- wiki/dashboard-ui.md</a:t>
            </a:r>
          </a:p>
          <a:p xmlns:a="http://schemas.openxmlformats.org/drawingml/2006/main">
            <a:r>
              <a:t>- wiki/dashboard-implementation.md</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three outcomes that should not be collapsed into one measure.</a:t>
            </a:r>
          </a:p>
          <a:p xmlns:a="http://schemas.openxmlformats.org/drawingml/2006/main">
            <a:r>
              <a:t/>
            </a:r>
          </a:p>
          <a:p xmlns:a="http://schemas.openxmlformats.org/drawingml/2006/main">
            <a:r>
              <a:t>Fuchs et al. (2014), Experiment 2: 62 Amazon Mechanical Turk workers were accepted; 36 were retained after three control questions. Each participant completed 48 trials. A highlighted target appeared with eight alternatives in a 3×3 arrangement, and the participant selected the most similar glyph without training or an explanation of the encoded data.</a:t>
            </a:r>
          </a:p>
          <a:p xmlns:a="http://schemas.openxmlformats.org/drawingml/2006/main">
            <a:r>
              <a:t/>
            </a:r>
          </a:p>
          <a:p xmlns:a="http://schemas.openxmlformats.org/drawingml/2006/main">
            <a:r>
              <a:t>Legg et al. (2017 issue; copyright 2016): 20 University of Oxford students or employees were recruited and one outlier was excluded. Participants rated 104 glyph pairs on an integer 0–10 scale according to how well they could differentiate them; the 96 non-reference pairs were randomized.</a:t>
            </a:r>
          </a:p>
          <a:p xmlns:a="http://schemas.openxmlformats.org/drawingml/2006/main">
            <a:r>
              <a:t/>
            </a:r>
          </a:p>
          <a:p xmlns:a="http://schemas.openxmlformats.org/drawingml/2006/main">
            <a:r>
              <a:t>Fuchs et al. (2017): the systematic review synthesized 64 quantitative controlled data-glyph user-study papers. Accuracy was recorded in 63 of 64, completion time in 42, and qualitative feedback in 19. The authors also warn that participant preference did not always match measured performance.</a:t>
            </a:r>
          </a:p>
          <a:p xmlns:a="http://schemas.openxmlformats.org/drawingml/2006/main">
            <a:r>
              <a:t/>
            </a:r>
          </a:p>
          <a:p xmlns:a="http://schemas.openxmlformats.org/drawingml/2006/main">
            <a:r>
              <a:t>Boundary for this thesis: these sources support similarity choice, pairwise differentiation, and task-performance measures. They do not directly establish semantic identification thresholds for heterogeneous icons at reduced sizes.</a:t>
            </a:r>
          </a:p>
          <a:p xmlns:a="http://schemas.openxmlformats.org/drawingml/2006/main">
            <a:r>
              <a:t/>
            </a:r>
          </a:p>
          <a:p xmlns:a="http://schemas.openxmlformats.org/drawingml/2006/main">
            <a:r>
              <a:t>[Sources]</a:t>
            </a:r>
          </a:p>
          <a:p xmlns:a="http://schemas.openxmlformats.org/drawingml/2006/main">
            <a:r>
              <a:t>- papers/The_Influence_of_Contour_on_Similarity_Perception_of_Star_Glyphs.pdf, p. 6</a:t>
            </a:r>
          </a:p>
          <a:p xmlns:a="http://schemas.openxmlformats.org/drawingml/2006/main">
            <a:r>
              <a:t>- papers/Glyph_Visualization_A_Fail-Safe_Design_Scheme_Based_on_Quasi-Hamming_Distances.pdf, p. 4</a:t>
            </a:r>
          </a:p>
          <a:p xmlns:a="http://schemas.openxmlformats.org/drawingml/2006/main">
            <a:r>
              <a:t>- papers/A_Systematic_Review_of_Experimental_Studies_on_Data_Glyphs.pdf, pp. 1, 4</a:t>
            </a:r>
          </a:p>
          <a:p xmlns:a="http://schemas.openxmlformats.org/drawingml/2006/main">
            <a:r>
              <a:t>- wiki/literature-and-evidence.md</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discussion proposal only. The protocol, participant plan, sizes, stimuli, and measures are not finalized.</a:t>
            </a:r>
          </a:p>
          <a:p xmlns:a="http://schemas.openxmlformats.org/drawingml/2006/main">
            <a:r>
              <a:t/>
            </a:r>
          </a:p>
          <a:p xmlns:a="http://schemas.openxmlformats.org/drawingml/2006/main">
            <a:r>
              <a:t>[Sources]</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wiki/evaluation-and-human-study.md</a:t>
            </a:r>
          </a:p>
          <a:p xmlns:a="http://schemas.openxmlformats.org/drawingml/2006/main">
            <a:r>
              <a:t>- wiki/limitations-and-backlog.md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84a49c15b14b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f7910119fe44c6" /><Relationship Type="http://schemas.openxmlformats.org/officeDocument/2006/relationships/slideLayout" Target="/ppt/slideLayouts/slideLayout1.xml" Id="R26696d8abe9941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696d8abe9941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acbe8406f64e68" /><Relationship Type="http://schemas.openxmlformats.org/officeDocument/2006/relationships/notesSlide" Target="/ppt/notesSlides/notesSlide1.xml" Id="R925f07b654b041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1dc920925f46b0" /><Relationship Type="http://schemas.openxmlformats.org/officeDocument/2006/relationships/image" Target="/ppt/media/image.png" Id="R4775a884c8504018" /><Relationship Type="http://schemas.openxmlformats.org/officeDocument/2006/relationships/notesSlide" Target="/ppt/notesSlides/notesSlide2.xml" Id="R5bbc48847ef441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e3a67e22274f94" /><Relationship Type="http://schemas.openxmlformats.org/officeDocument/2006/relationships/notesSlide" Target="/ppt/notesSlides/notesSlide3.xml" Id="R168ce9f16fd049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cdb7da877440f2" /><Relationship Type="http://schemas.openxmlformats.org/officeDocument/2006/relationships/notesSlide" Target="/ppt/notesSlides/notesSlide4.xml" Id="R947cf559c78a4e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475728557f4f73" /><Relationship Type="http://schemas.openxmlformats.org/officeDocument/2006/relationships/notesSlide" Target="/ppt/notesSlides/notesSlide5.xml" Id="R62f77fc160ba48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36b98b58754389" /><Relationship Type="http://schemas.openxmlformats.org/officeDocument/2006/relationships/notesSlide" Target="/ppt/notesSlides/notesSlide6.xml" Id="R315c554cee4d43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b545d99fe647e3" /><Relationship Type="http://schemas.openxmlformats.org/officeDocument/2006/relationships/notesSlide" Target="/ppt/notesSlides/notesSlide7.xml" Id="R667230b5a53647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8aa83ed49a4bf7" /><Relationship Type="http://schemas.openxmlformats.org/officeDocument/2006/relationships/image" Target="/ppt/media/image2.png" Id="Raa913ed4c33b4871" /><Relationship Type="http://schemas.openxmlformats.org/officeDocument/2006/relationships/image" Target="/ppt/media/image3.png" Id="R414b13dc4b7d4026" /><Relationship Type="http://schemas.openxmlformats.org/officeDocument/2006/relationships/image" Target="/ppt/media/image4.png" Id="R7a036109e8e94dc4" /><Relationship Type="http://schemas.openxmlformats.org/officeDocument/2006/relationships/image" Target="/ppt/media/image5.png" Id="Rae78fc40fd5d4981" /><Relationship Type="http://schemas.openxmlformats.org/officeDocument/2006/relationships/image" Target="/ppt/media/image6.png" Id="R584b1e3a478c4826" /><Relationship Type="http://schemas.openxmlformats.org/officeDocument/2006/relationships/image" Target="/ppt/media/image7.png" Id="Rcfbda383f0fb43f6" /><Relationship Type="http://schemas.openxmlformats.org/officeDocument/2006/relationships/image" Target="/ppt/media/image8.png" Id="R84829274f7774553" /><Relationship Type="http://schemas.openxmlformats.org/officeDocument/2006/relationships/image" Target="/ppt/media/image9.png" Id="R234576a186924ea5" /><Relationship Type="http://schemas.openxmlformats.org/officeDocument/2006/relationships/image" Target="/ppt/media/image10.png" Id="R077e7a42a82a425d" /><Relationship Type="http://schemas.openxmlformats.org/officeDocument/2006/relationships/image" Target="/ppt/media/image11.png" Id="R959d76ca3a0f49be" /><Relationship Type="http://schemas.openxmlformats.org/officeDocument/2006/relationships/image" Target="/ppt/media/image12.png" Id="Rd321325722264cc9" /><Relationship Type="http://schemas.openxmlformats.org/officeDocument/2006/relationships/image" Target="/ppt/media/image13.png" Id="R99c450e705d04f5b" /><Relationship Type="http://schemas.openxmlformats.org/officeDocument/2006/relationships/image" Target="/ppt/media/image14.png" Id="Rc47e1d8c1a774482" /><Relationship Type="http://schemas.openxmlformats.org/officeDocument/2006/relationships/notesSlide" Target="/ppt/notesSlides/notesSlide8.xml" Id="Reba5734909d845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32bdebbb404498" /><Relationship Type="http://schemas.openxmlformats.org/officeDocument/2006/relationships/notesSlide" Target="/ppt/notesSlides/notesSlide9.xml" Id="R5528f2bcfa0949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485b9f26664c08" /><Relationship Type="http://schemas.openxmlformats.org/officeDocument/2006/relationships/image" Target="/ppt/media/image15.png" Id="R3ecaec74b6a34d54" /><Relationship Type="http://schemas.openxmlformats.org/officeDocument/2006/relationships/notesSlide" Target="/ppt/notesSlides/notesSlide10.xml" Id="R6ed356a58ef143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62f93c3f7d4e41" /><Relationship Type="http://schemas.openxmlformats.org/officeDocument/2006/relationships/image" Target="/ppt/media/image16.png" Id="R2da6099d49734bb9" /><Relationship Type="http://schemas.openxmlformats.org/officeDocument/2006/relationships/notesSlide" Target="/ppt/notesSlides/notesSlide11.xml" Id="Reea3fdc59a5643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6526b817f94eb0" /><Relationship Type="http://schemas.openxmlformats.org/officeDocument/2006/relationships/image" Target="/ppt/media/image17.png" Id="Rf2cd945363514d9a" /><Relationship Type="http://schemas.openxmlformats.org/officeDocument/2006/relationships/notesSlide" Target="/ppt/notesSlides/notesSlide12.xml" Id="Ra5bb4400a1a744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8db620f1bf4993" /><Relationship Type="http://schemas.openxmlformats.org/officeDocument/2006/relationships/notesSlide" Target="/ppt/notesSlides/notesSlide13.xml" Id="R205158cfec7746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ae81add72534ee5" /><Relationship Type="http://schemas.openxmlformats.org/officeDocument/2006/relationships/notesSlide" Target="/ppt/notesSlides/notesSlide14.xml" Id="Rc31f20d0c81e4c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79a60c96c9242e1" /><Relationship Type="http://schemas.openxmlformats.org/officeDocument/2006/relationships/notesSlide" Target="/ppt/notesSlides/notesSlide15.xml" Id="R6fbba22ccfd84a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e0a7c8295049f2" /><Relationship Type="http://schemas.openxmlformats.org/officeDocument/2006/relationships/notesSlide" Target="/ppt/notesSlides/notesSlide16.xml" Id="Rd26625d676714c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5848c1c55f439b" /><Relationship Type="http://schemas.openxmlformats.org/officeDocument/2006/relationships/notesSlide" Target="/ppt/notesSlides/notesSlide17.xml" Id="R5df2a53e096541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D9B73C-4278-4532-99C6-E22A2B5DD9C3}"/>
              </a:ext>
            </a:extLst>
          </p:cNvPr>
          <p:cNvSpPr>
            <a:spLocks xmlns:a="http://schemas.openxmlformats.org/drawingml/2006/main" noGrp="1"/>
          </p:cNvSpPr>
          <p:nvPr/>
        </p:nvSpPr>
        <p:spPr>
          <a:xfrm xmlns:a="http://schemas.openxmlformats.org/drawingml/2006/main">
            <a:off x="40005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THESIS PROGRESS PRESENTATION</a:t>
            </a:r>
          </a:p>
        </p:txBody>
      </p:sp>
      <p:sp>
        <p:nvSpPr>
          <p:cNvPr id="2" name="">
            <a:extLst xmlns:a="http://schemas.openxmlformats.org/drawingml/2006/main">
              <a:ext uri="{FF2B5EF4-FFF2-40B4-BE49-F238E27FC236}">
                <a16:creationId xmlns:a16="http://schemas.microsoft.com/office/drawing/2014/main" id="{0B2D677D-3F34-4069-8B47-2239ADB7B4AB}"/>
              </a:ext>
            </a:extLst>
          </p:cNvPr>
          <p:cNvSpPr>
            <a:spLocks xmlns:a="http://schemas.openxmlformats.org/drawingml/2006/main" noGrp="1"/>
          </p:cNvSpPr>
          <p:nvPr/>
        </p:nvSpPr>
        <p:spPr>
          <a:xfrm xmlns:a="http://schemas.openxmlformats.org/drawingml/2006/main">
            <a:off x="400050" y="1952625"/>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Perception of Glyphs</a:t>
            </a:r>
          </a:p>
        </p:txBody>
      </p:sp>
      <p:sp>
        <p:nvSpPr>
          <p:cNvPr id="3" name="">
            <a:extLst xmlns:a="http://schemas.openxmlformats.org/drawingml/2006/main">
              <a:ext uri="{FF2B5EF4-FFF2-40B4-BE49-F238E27FC236}">
                <a16:creationId xmlns:a16="http://schemas.microsoft.com/office/drawing/2014/main" id="{72D33FD7-33B6-4F5D-85C1-911FD9B1FC56}"/>
              </a:ext>
            </a:extLst>
          </p:cNvPr>
          <p:cNvSpPr>
            <a:spLocks xmlns:a="http://schemas.openxmlformats.org/drawingml/2006/main" noGrp="1"/>
          </p:cNvSpPr>
          <p:nvPr/>
        </p:nvSpPr>
        <p:spPr>
          <a:xfrm xmlns:a="http://schemas.openxmlformats.org/drawingml/2006/main">
            <a:off x="400050" y="3533775"/>
            <a:ext cx="17907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7CBF0F-C899-47A1-A0F7-AB5B1A14647E}"/>
              </a:ext>
            </a:extLst>
          </p:cNvPr>
          <p:cNvSpPr>
            <a:spLocks xmlns:a="http://schemas.openxmlformats.org/drawingml/2006/main" noGrp="1"/>
          </p:cNvSpPr>
          <p:nvPr/>
        </p:nvSpPr>
        <p:spPr>
          <a:xfrm xmlns:a="http://schemas.openxmlformats.org/drawingml/2006/main">
            <a:off x="400050" y="3943350"/>
            <a:ext cx="981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111111"/>
                </a:solidFill>
                <a:latin typeface="Helvetica Neue"/>
                <a:ea typeface="Helvetica Neue"/>
                <a:cs typeface="Helvetica Neue"/>
              </a:defRPr>
            </a:pPr>
            <a:r>
              <a:rPr sz="2250" b="0">
                <a:solidFill>
                  <a:srgbClr val="111111"/>
                </a:solidFill>
                <a:latin typeface="Helvetica Neue"/>
                <a:ea typeface="Helvetica Neue"/>
                <a:cs typeface="Helvetica Neue"/>
              </a:rPr>
              <a:t>When do glyph sets stop being discernible as size is reduced?</a:t>
            </a:r>
          </a:p>
        </p:txBody>
      </p:sp>
      <p:sp>
        <p:nvSpPr>
          <p:cNvPr id="5" name="">
            <a:extLst xmlns:a="http://schemas.openxmlformats.org/drawingml/2006/main">
              <a:ext uri="{FF2B5EF4-FFF2-40B4-BE49-F238E27FC236}">
                <a16:creationId xmlns:a16="http://schemas.microsoft.com/office/drawing/2014/main" id="{20295ABF-766F-46CA-BAA0-97B08A19F756}"/>
              </a:ext>
            </a:extLst>
          </p:cNvPr>
          <p:cNvSpPr>
            <a:spLocks xmlns:a="http://schemas.openxmlformats.org/drawingml/2006/main" noGrp="1"/>
          </p:cNvSpPr>
          <p:nvPr/>
        </p:nvSpPr>
        <p:spPr>
          <a:xfrm xmlns:a="http://schemas.openxmlformats.org/drawingml/2006/main">
            <a:off x="400050" y="56007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Name · Programme · Bauhaus-Universität Weimar · Supervisor · August 2026</a:t>
            </a:r>
          </a:p>
        </p:txBody>
      </p:sp>
    </p:spTree>
    <p:extLst>
      <p:ext uri="{BB962C8B-B14F-4D97-AF65-F5344CB8AC3E}">
        <p14:creationId xmlns:p14="http://schemas.microsoft.com/office/powerpoint/2010/main" val="15361400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FDC670-9FAD-4317-8D54-F6EAFAA62CBD}"/>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01 · THE PROBLEM</a:t>
            </a:r>
          </a:p>
        </p:txBody>
      </p:sp>
      <p:sp>
        <p:nvSpPr>
          <p:cNvPr id="2" name="">
            <a:extLst xmlns:a="http://schemas.openxmlformats.org/drawingml/2006/main">
              <a:ext uri="{FF2B5EF4-FFF2-40B4-BE49-F238E27FC236}">
                <a16:creationId xmlns:a16="http://schemas.microsoft.com/office/drawing/2014/main" id="{DC9BE443-1C15-4AE4-A5DE-A44A2AAA4DA3}"/>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EB5D2AD-458F-40DD-A9A5-A7FB5509D7C1}"/>
              </a:ext>
            </a:extLst>
          </p:cNvPr>
          <p:cNvSpPr>
            <a:spLocks xmlns:a="http://schemas.openxmlformats.org/drawingml/2006/main" noGrp="1"/>
          </p:cNvSpPr>
          <p:nvPr/>
        </p:nvSpPr>
        <p:spPr>
          <a:xfrm xmlns:a="http://schemas.openxmlformats.org/drawingml/2006/main">
            <a:off x="400050" y="742950"/>
            <a:ext cx="11391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111111"/>
                </a:solidFill>
                <a:latin typeface="Helvetica Neue"/>
                <a:ea typeface="Helvetica Neue"/>
                <a:cs typeface="Helvetica Neue"/>
              </a:defRPr>
            </a:pPr>
            <a:r>
              <a:rPr sz="3375" b="1">
                <a:solidFill>
                  <a:srgbClr val="111111"/>
                </a:solidFill>
                <a:latin typeface="Helvetica Neue"/>
                <a:ea typeface="Helvetica Neue"/>
                <a:cs typeface="Helvetica Neue"/>
              </a:rPr>
              <a:t>When do reduced glyphs stop being discernible?</a:t>
            </a:r>
          </a:p>
        </p:txBody>
      </p:sp>
      <p:sp>
        <p:nvSpPr>
          <p:cNvPr id="4" name="">
            <a:extLst xmlns:a="http://schemas.openxmlformats.org/drawingml/2006/main">
              <a:ext uri="{FF2B5EF4-FFF2-40B4-BE49-F238E27FC236}">
                <a16:creationId xmlns:a16="http://schemas.microsoft.com/office/drawing/2014/main" id="{B75C1DE6-1A5B-4001-80B3-3FC85E87140D}"/>
              </a:ext>
            </a:extLst>
          </p:cNvPr>
          <p:cNvSpPr>
            <a:spLocks xmlns:a="http://schemas.openxmlformats.org/drawingml/2006/main" noGrp="1"/>
          </p:cNvSpPr>
          <p:nvPr/>
        </p:nvSpPr>
        <p:spPr>
          <a:xfrm xmlns:a="http://schemas.openxmlformats.org/drawingml/2006/main">
            <a:off x="400050" y="1914525"/>
            <a:ext cx="485775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As size decreases:</a:t>
            </a:r>
          </a:p>
          <a:p xmlns:a="http://schemas.openxmlformats.org/drawingml/2006/main">
            <a:r>
              <a:t/>
            </a:r>
          </a:p>
          <a:p xmlns:a="http://schemas.openxmlformats.org/drawingml/2006/main">
            <a:pPr algn="l">
              <a:buNone/>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Fine detail disappears</a:t>
            </a:r>
          </a:p>
          <a:p xmlns:a="http://schemas.openxmlformats.org/drawingml/2006/main">
            <a:pPr algn="l">
              <a:buNone/>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Internal gaps close</a:t>
            </a:r>
          </a:p>
          <a:p xmlns:a="http://schemas.openxmlformats.org/drawingml/2006/main">
            <a:pPr algn="l">
              <a:buNone/>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Thin strokes weaken</a:t>
            </a:r>
          </a:p>
          <a:p xmlns:a="http://schemas.openxmlformats.org/drawingml/2006/main">
            <a:pPr algn="l">
              <a:buNone/>
              <a:defRPr sz="1800" b="0">
                <a:solidFill>
                  <a:srgbClr val="111111"/>
                </a:solidFill>
                <a:latin typeface="Helvetica Neue"/>
                <a:ea typeface="Helvetica Neue"/>
                <a:cs typeface="Helvetica Neue"/>
              </a:defRPr>
            </a:pPr>
            <a:r>
              <a:rPr sz="1800" b="0">
                <a:solidFill>
                  <a:srgbClr val="111111"/>
                </a:solidFill>
                <a:latin typeface="Helvetica Neue"/>
                <a:ea typeface="Helvetica Neue"/>
                <a:cs typeface="Helvetica Neue"/>
              </a:rPr>
              <a:t>Shape differences collapse</a:t>
            </a:r>
          </a:p>
        </p:txBody>
      </p:sp>
      <p:sp>
        <p:nvSpPr>
          <p:cNvPr id="5" name="">
            <a:extLst xmlns:a="http://schemas.openxmlformats.org/drawingml/2006/main">
              <a:ext uri="{FF2B5EF4-FFF2-40B4-BE49-F238E27FC236}">
                <a16:creationId xmlns:a16="http://schemas.microsoft.com/office/drawing/2014/main" id="{50456B17-0C71-42AF-8C3B-D238A753101C}"/>
              </a:ext>
            </a:extLst>
          </p:cNvPr>
          <p:cNvSpPr>
            <a:spLocks xmlns:a="http://schemas.openxmlformats.org/drawingml/2006/main" noGrp="1"/>
          </p:cNvSpPr>
          <p:nvPr/>
        </p:nvSpPr>
        <p:spPr>
          <a:xfrm xmlns:a="http://schemas.openxmlformats.org/drawingml/2006/main">
            <a:off x="400050" y="4010025"/>
            <a:ext cx="4857750" cy="1343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Target outcome</a:t>
            </a:r>
          </a:p>
          <a:p xmlns:a="http://schemas.openxmlformats.org/drawingml/2006/main">
            <a:r>
              <a:t/>
            </a:r>
          </a:p>
          <a:p xmlns:a="http://schemas.openxmlformats.org/drawingml/2006/main">
            <a:pPr algn="l">
              <a:buNone/>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Smallest discernible size</a:t>
            </a:r>
          </a:p>
          <a:p xmlns:a="http://schemas.openxmlformats.org/drawingml/2006/main">
            <a:pPr algn="l">
              <a:buNone/>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a:t>
            </a:r>
          </a:p>
          <a:p xmlns:a="http://schemas.openxmlformats.org/drawingml/2006/main">
            <a:pPr algn="l">
              <a:buNone/>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Visual predictors of confusion</a:t>
            </a:r>
          </a:p>
        </p:txBody>
      </p:sp>
      <p:sp>
        <p:nvSpPr>
          <p:cNvPr id="6" name="">
            <a:extLst xmlns:a="http://schemas.openxmlformats.org/drawingml/2006/main">
              <a:ext uri="{FF2B5EF4-FFF2-40B4-BE49-F238E27FC236}">
                <a16:creationId xmlns:a16="http://schemas.microsoft.com/office/drawing/2014/main" id="{D00D3063-D954-46A9-AF6D-CA51DA28797B}"/>
              </a:ext>
            </a:extLst>
          </p:cNvPr>
          <p:cNvSpPr>
            <a:spLocks xmlns:a="http://schemas.openxmlformats.org/drawingml/2006/main" noGrp="1"/>
          </p:cNvSpPr>
          <p:nvPr/>
        </p:nvSpPr>
        <p:spPr>
          <a:xfrm xmlns:a="http://schemas.openxmlformats.org/drawingml/2006/main">
            <a:off x="5810250" y="1676400"/>
            <a:ext cx="5981700" cy="43053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A43A02B-281B-4B51-9326-C8ED59F93E76}"/>
              </a:ext>
            </a:extLst>
          </p:cNvPr>
          <p:cNvSpPr>
            <a:spLocks xmlns:a="http://schemas.openxmlformats.org/drawingml/2006/main" noGrp="1"/>
          </p:cNvSpPr>
          <p:nvPr/>
        </p:nvSpPr>
        <p:spPr>
          <a:xfrm xmlns:a="http://schemas.openxmlformats.org/drawingml/2006/main">
            <a:off x="6105525" y="1952625"/>
            <a:ext cx="539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GLYPH SET · DECREASING DISPLAY SIZE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775a884c8504018"/>
          <a:stretch xmlns:a="http://schemas.openxmlformats.org/drawingml/2006/main"/>
        </p:blipFill>
        <p:spPr>
          <a:xfrm xmlns:a="http://schemas.openxmlformats.org/drawingml/2006/main">
            <a:off x="7096125" y="2334889"/>
            <a:ext cx="3429000" cy="249302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8E16A34-9249-41E5-AEB3-F1B620A398D2}"/>
              </a:ext>
            </a:extLst>
          </p:cNvPr>
          <p:cNvSpPr>
            <a:spLocks xmlns:a="http://schemas.openxmlformats.org/drawingml/2006/main" noGrp="1"/>
          </p:cNvSpPr>
          <p:nvPr/>
        </p:nvSpPr>
        <p:spPr>
          <a:xfrm xmlns:a="http://schemas.openxmlformats.org/drawingml/2006/main">
            <a:off x="7429500" y="4895850"/>
            <a:ext cx="2762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0">
                <a:solidFill>
                  <a:srgbClr val="5E6672"/>
                </a:solidFill>
                <a:latin typeface="Helvetica Neue"/>
                <a:ea typeface="Helvetica Neue"/>
                <a:cs typeface="Helvetica Neue"/>
              </a:defRPr>
            </a:pPr>
            <a:r>
              <a:rPr sz="900" b="0">
                <a:solidFill>
                  <a:srgbClr val="5E6672"/>
                </a:solidFill>
                <a:latin typeface="Helvetica Neue"/>
                <a:ea typeface="Helvetica Neue"/>
                <a:cs typeface="Helvetica Neue"/>
              </a:rPr>
              <a:t>Legg et al., 2017 · Figure 1</a:t>
            </a:r>
          </a:p>
        </p:txBody>
      </p:sp>
      <p:sp>
        <p:nvSpPr>
          <p:cNvPr id="10" name="">
            <a:extLst xmlns:a="http://schemas.openxmlformats.org/drawingml/2006/main">
              <a:ext uri="{FF2B5EF4-FFF2-40B4-BE49-F238E27FC236}">
                <a16:creationId xmlns:a16="http://schemas.microsoft.com/office/drawing/2014/main" id="{126A6144-EFAF-4758-BEF3-3943FA02E949}"/>
              </a:ext>
            </a:extLst>
          </p:cNvPr>
          <p:cNvSpPr>
            <a:spLocks xmlns:a="http://schemas.openxmlformats.org/drawingml/2006/main" noGrp="1"/>
          </p:cNvSpPr>
          <p:nvPr/>
        </p:nvSpPr>
        <p:spPr>
          <a:xfrm xmlns:a="http://schemas.openxmlformats.org/drawingml/2006/main">
            <a:off x="6267450" y="5219700"/>
            <a:ext cx="50673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At what point do set members become confused?</a:t>
            </a:r>
          </a:p>
        </p:txBody>
      </p:sp>
    </p:spTree>
    <p:extLst>
      <p:ext uri="{BB962C8B-B14F-4D97-AF65-F5344CB8AC3E}">
        <p14:creationId xmlns:p14="http://schemas.microsoft.com/office/powerpoint/2010/main" val="12132993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F8BC85-D7A9-4432-AE7A-16A8CD1F7700}"/>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02–03 · AIM AND RESEARCH DIRECTION</a:t>
            </a:r>
          </a:p>
        </p:txBody>
      </p:sp>
      <p:sp>
        <p:nvSpPr>
          <p:cNvPr id="2" name="">
            <a:extLst xmlns:a="http://schemas.openxmlformats.org/drawingml/2006/main">
              <a:ext uri="{FF2B5EF4-FFF2-40B4-BE49-F238E27FC236}">
                <a16:creationId xmlns:a16="http://schemas.microsoft.com/office/drawing/2014/main" id="{3D90B763-FD45-44C8-BA25-A36110EB75CE}"/>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D4024CC4-2396-42F3-B6FB-AB41914FE224}"/>
              </a:ext>
            </a:extLst>
          </p:cNvPr>
          <p:cNvSpPr>
            <a:spLocks xmlns:a="http://schemas.openxmlformats.org/drawingml/2006/main" noGrp="1"/>
          </p:cNvSpPr>
          <p:nvPr/>
        </p:nvSpPr>
        <p:spPr>
          <a:xfrm xmlns:a="http://schemas.openxmlformats.org/drawingml/2006/main">
            <a:off x="400050" y="742950"/>
            <a:ext cx="11391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The research goal is explicitly size-dependent</a:t>
            </a:r>
          </a:p>
        </p:txBody>
      </p:sp>
      <p:sp>
        <p:nvSpPr>
          <p:cNvPr id="4" name="">
            <a:extLst xmlns:a="http://schemas.openxmlformats.org/drawingml/2006/main">
              <a:ext uri="{FF2B5EF4-FFF2-40B4-BE49-F238E27FC236}">
                <a16:creationId xmlns:a16="http://schemas.microsoft.com/office/drawing/2014/main" id="{D78A32AB-0C08-43D6-BFB9-F62D08A46D52}"/>
              </a:ext>
            </a:extLst>
          </p:cNvPr>
          <p:cNvSpPr>
            <a:spLocks xmlns:a="http://schemas.openxmlformats.org/drawingml/2006/main" noGrp="1"/>
          </p:cNvSpPr>
          <p:nvPr/>
        </p:nvSpPr>
        <p:spPr>
          <a:xfrm xmlns:a="http://schemas.openxmlformats.org/drawingml/2006/main">
            <a:off x="400050" y="1628775"/>
            <a:ext cx="108394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E6672"/>
                </a:solidFill>
                <a:latin typeface="Helvetica Neue"/>
                <a:ea typeface="Helvetica Neue"/>
                <a:cs typeface="Helvetica Neue"/>
              </a:defRPr>
            </a:pPr>
            <a:r>
              <a:rPr sz="1725" b="0">
                <a:solidFill>
                  <a:srgbClr val="5E6672"/>
                </a:solidFill>
                <a:latin typeface="Helvetica Neue"/>
                <a:ea typeface="Helvetica Neue"/>
                <a:cs typeface="Helvetica Neue"/>
              </a:rPr>
              <a:t>Primary aim · Size-dependent discernibility</a:t>
            </a:r>
          </a:p>
          <a:p xmlns:a="http://schemas.openxmlformats.org/drawingml/2006/main">
            <a:pPr algn="l">
              <a:buNone/>
              <a:defRPr sz="1725" b="0">
                <a:solidFill>
                  <a:srgbClr val="5E6672"/>
                </a:solidFill>
                <a:latin typeface="Helvetica Neue"/>
                <a:ea typeface="Helvetica Neue"/>
                <a:cs typeface="Helvetica Neue"/>
              </a:defRPr>
            </a:pPr>
            <a:r>
              <a:rPr sz="1725" b="0">
                <a:solidFill>
                  <a:srgbClr val="5E6672"/>
                </a:solidFill>
                <a:latin typeface="Helvetica Neue"/>
                <a:ea typeface="Helvetica Neue"/>
                <a:cs typeface="Helvetica Neue"/>
              </a:rPr>
              <a:t>Current focus · Computational basis for glyph selection</a:t>
            </a:r>
          </a:p>
        </p:txBody>
      </p:sp>
      <p:sp>
        <p:nvSpPr>
          <p:cNvPr id="5" name="">
            <a:extLst xmlns:a="http://schemas.openxmlformats.org/drawingml/2006/main">
              <a:ext uri="{FF2B5EF4-FFF2-40B4-BE49-F238E27FC236}">
                <a16:creationId xmlns:a16="http://schemas.microsoft.com/office/drawing/2014/main" id="{D7D92EF8-B47B-4235-953D-59F0446840E5}"/>
              </a:ext>
            </a:extLst>
          </p:cNvPr>
          <p:cNvSpPr>
            <a:spLocks xmlns:a="http://schemas.openxmlformats.org/drawingml/2006/main" noGrp="1"/>
          </p:cNvSpPr>
          <p:nvPr/>
        </p:nvSpPr>
        <p:spPr>
          <a:xfrm xmlns:a="http://schemas.openxmlformats.org/drawingml/2006/main">
            <a:off x="400050" y="280987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GOAL</a:t>
            </a:r>
          </a:p>
        </p:txBody>
      </p:sp>
      <p:sp>
        <p:nvSpPr>
          <p:cNvPr id="6" name="">
            <a:extLst xmlns:a="http://schemas.openxmlformats.org/drawingml/2006/main">
              <a:ext uri="{FF2B5EF4-FFF2-40B4-BE49-F238E27FC236}">
                <a16:creationId xmlns:a16="http://schemas.microsoft.com/office/drawing/2014/main" id="{5268A40C-3E5F-4D60-9BE9-3C04475DAE84}"/>
              </a:ext>
            </a:extLst>
          </p:cNvPr>
          <p:cNvSpPr>
            <a:spLocks xmlns:a="http://schemas.openxmlformats.org/drawingml/2006/main" noGrp="1"/>
          </p:cNvSpPr>
          <p:nvPr/>
        </p:nvSpPr>
        <p:spPr>
          <a:xfrm xmlns:a="http://schemas.openxmlformats.org/drawingml/2006/main">
            <a:off x="160020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Discernibility thresholds across display sizes</a:t>
            </a:r>
          </a:p>
        </p:txBody>
      </p:sp>
      <p:sp>
        <p:nvSpPr>
          <p:cNvPr id="7" name="">
            <a:extLst xmlns:a="http://schemas.openxmlformats.org/drawingml/2006/main">
              <a:ext uri="{FF2B5EF4-FFF2-40B4-BE49-F238E27FC236}">
                <a16:creationId xmlns:a16="http://schemas.microsoft.com/office/drawing/2014/main" id="{FE3E2825-D1EA-4CF5-BA46-73110A5B1C7F}"/>
              </a:ext>
            </a:extLst>
          </p:cNvPr>
          <p:cNvSpPr>
            <a:spLocks xmlns:a="http://schemas.openxmlformats.org/drawingml/2006/main" noGrp="1"/>
          </p:cNvSpPr>
          <p:nvPr/>
        </p:nvSpPr>
        <p:spPr>
          <a:xfrm xmlns:a="http://schemas.openxmlformats.org/drawingml/2006/main">
            <a:off x="400050" y="353377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48924E0-BD9C-40BC-BA08-29AF84CA0D64}"/>
              </a:ext>
            </a:extLst>
          </p:cNvPr>
          <p:cNvSpPr>
            <a:spLocks xmlns:a="http://schemas.openxmlformats.org/drawingml/2006/main" noGrp="1"/>
          </p:cNvSpPr>
          <p:nvPr/>
        </p:nvSpPr>
        <p:spPr>
          <a:xfrm xmlns:a="http://schemas.openxmlformats.org/drawingml/2006/main">
            <a:off x="400050" y="382905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NOW</a:t>
            </a:r>
          </a:p>
        </p:txBody>
      </p:sp>
      <p:sp>
        <p:nvSpPr>
          <p:cNvPr id="9" name="">
            <a:extLst xmlns:a="http://schemas.openxmlformats.org/drawingml/2006/main">
              <a:ext uri="{FF2B5EF4-FFF2-40B4-BE49-F238E27FC236}">
                <a16:creationId xmlns:a16="http://schemas.microsoft.com/office/drawing/2014/main" id="{66CA6654-3307-42A9-9C38-7AB4C31F348D}"/>
              </a:ext>
            </a:extLst>
          </p:cNvPr>
          <p:cNvSpPr>
            <a:spLocks xmlns:a="http://schemas.openxmlformats.org/drawingml/2006/main" noGrp="1"/>
          </p:cNvSpPr>
          <p:nvPr/>
        </p:nvSpPr>
        <p:spPr>
          <a:xfrm xmlns:a="http://schemas.openxmlformats.org/drawingml/2006/main">
            <a:off x="1600200" y="3819525"/>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Seven feature families · clustering · candidate selection</a:t>
            </a:r>
          </a:p>
        </p:txBody>
      </p:sp>
      <p:sp>
        <p:nvSpPr>
          <p:cNvPr id="10" name="">
            <a:extLst xmlns:a="http://schemas.openxmlformats.org/drawingml/2006/main">
              <a:ext uri="{FF2B5EF4-FFF2-40B4-BE49-F238E27FC236}">
                <a16:creationId xmlns:a16="http://schemas.microsoft.com/office/drawing/2014/main" id="{421B4075-96FD-4B42-92EF-C48EB3B56AF6}"/>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2E22CA-5703-49A8-A1B1-A79DD36B3C55}"/>
              </a:ext>
            </a:extLst>
          </p:cNvPr>
          <p:cNvSpPr>
            <a:spLocks xmlns:a="http://schemas.openxmlformats.org/drawingml/2006/main" noGrp="1"/>
          </p:cNvSpPr>
          <p:nvPr/>
        </p:nvSpPr>
        <p:spPr>
          <a:xfrm xmlns:a="http://schemas.openxmlformats.org/drawingml/2006/main">
            <a:off x="400050" y="484822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LATER</a:t>
            </a:r>
          </a:p>
        </p:txBody>
      </p:sp>
      <p:sp>
        <p:nvSpPr>
          <p:cNvPr id="12" name="">
            <a:extLst xmlns:a="http://schemas.openxmlformats.org/drawingml/2006/main">
              <a:ext uri="{FF2B5EF4-FFF2-40B4-BE49-F238E27FC236}">
                <a16:creationId xmlns:a16="http://schemas.microsoft.com/office/drawing/2014/main" id="{7119FC55-75BD-4260-8C28-354755705B36}"/>
              </a:ext>
            </a:extLst>
          </p:cNvPr>
          <p:cNvSpPr>
            <a:spLocks xmlns:a="http://schemas.openxmlformats.org/drawingml/2006/main" noGrp="1"/>
          </p:cNvSpPr>
          <p:nvPr/>
        </p:nvSpPr>
        <p:spPr>
          <a:xfrm xmlns:a="http://schemas.openxmlformats.org/drawingml/2006/main">
            <a:off x="1600200" y="4838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Research questions · protocol · measures</a:t>
            </a:r>
          </a:p>
        </p:txBody>
      </p:sp>
    </p:spTree>
    <p:extLst>
      <p:ext uri="{BB962C8B-B14F-4D97-AF65-F5344CB8AC3E}">
        <p14:creationId xmlns:p14="http://schemas.microsoft.com/office/powerpoint/2010/main" val="12820379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346A4F9-4133-4A4D-99AB-7CAE776F2217}"/>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C6D6C3D1-EB5C-439E-BBF3-B54EF883B1BD}"/>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BE02ED7A-F464-4073-8EB0-D22B113E3FC9}"/>
              </a:ext>
            </a:extLst>
          </p:cNvPr>
          <p:cNvSpPr>
            <a:spLocks xmlns:a="http://schemas.openxmlformats.org/drawingml/2006/main" noGrp="1"/>
          </p:cNvSpPr>
          <p:nvPr/>
        </p:nvSpPr>
        <p:spPr>
          <a:xfrm xmlns:a="http://schemas.openxmlformats.org/drawingml/2006/main">
            <a:off x="400050" y="74295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Literature shaped the system and guides the next phase</a:t>
            </a:r>
          </a:p>
        </p:txBody>
      </p:sp>
      <p:sp>
        <p:nvSpPr>
          <p:cNvPr id="4" name="">
            <a:extLst xmlns:a="http://schemas.openxmlformats.org/drawingml/2006/main">
              <a:ext uri="{FF2B5EF4-FFF2-40B4-BE49-F238E27FC236}">
                <a16:creationId xmlns:a16="http://schemas.microsoft.com/office/drawing/2014/main" id="{D93ADFD8-CD03-43DE-BD9B-80E2B1FE80E3}"/>
              </a:ext>
            </a:extLst>
          </p:cNvPr>
          <p:cNvSpPr>
            <a:spLocks xmlns:a="http://schemas.openxmlformats.org/drawingml/2006/main" noGrp="1"/>
          </p:cNvSpPr>
          <p:nvPr/>
        </p:nvSpPr>
        <p:spPr>
          <a:xfrm xmlns:a="http://schemas.openxmlformats.org/drawingml/2006/main">
            <a:off x="400050" y="15049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Five implementation influences · one human-evaluation review</a:t>
            </a:r>
          </a:p>
        </p:txBody>
      </p:sp>
      <p:sp>
        <p:nvSpPr>
          <p:cNvPr id="5" name="">
            <a:extLst xmlns:a="http://schemas.openxmlformats.org/drawingml/2006/main">
              <a:ext uri="{FF2B5EF4-FFF2-40B4-BE49-F238E27FC236}">
                <a16:creationId xmlns:a16="http://schemas.microsoft.com/office/drawing/2014/main" id="{F73D4F80-73A8-4B13-9B06-F1FDB0D66E27}"/>
              </a:ext>
            </a:extLst>
          </p:cNvPr>
          <p:cNvSpPr>
            <a:spLocks xmlns:a="http://schemas.openxmlformats.org/drawingml/2006/main" noGrp="1"/>
          </p:cNvSpPr>
          <p:nvPr/>
        </p:nvSpPr>
        <p:spPr>
          <a:xfrm xmlns:a="http://schemas.openxmlformats.org/drawingml/2006/main">
            <a:off x="400050" y="238125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MEASURABLE STRUCTURE</a:t>
            </a:r>
          </a:p>
        </p:txBody>
      </p:sp>
      <p:sp>
        <p:nvSpPr>
          <p:cNvPr id="6" name="">
            <a:extLst xmlns:a="http://schemas.openxmlformats.org/drawingml/2006/main">
              <a:ext uri="{FF2B5EF4-FFF2-40B4-BE49-F238E27FC236}">
                <a16:creationId xmlns:a16="http://schemas.microsoft.com/office/drawing/2014/main" id="{BEB298C5-5D62-4596-85D3-90E27FBABDDD}"/>
              </a:ext>
            </a:extLst>
          </p:cNvPr>
          <p:cNvSpPr>
            <a:spLocks xmlns:a="http://schemas.openxmlformats.org/drawingml/2006/main" noGrp="1"/>
          </p:cNvSpPr>
          <p:nvPr/>
        </p:nvSpPr>
        <p:spPr>
          <a:xfrm xmlns:a="http://schemas.openxmlformats.org/drawingml/2006/main">
            <a:off x="3333750" y="23622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Forsythe et al. (2003) · Garcia et al. (1994) · Borgo et al. (2013)</a:t>
            </a:r>
          </a:p>
        </p:txBody>
      </p:sp>
      <p:sp>
        <p:nvSpPr>
          <p:cNvPr id="7" name="">
            <a:extLst xmlns:a="http://schemas.openxmlformats.org/drawingml/2006/main">
              <a:ext uri="{FF2B5EF4-FFF2-40B4-BE49-F238E27FC236}">
                <a16:creationId xmlns:a16="http://schemas.microsoft.com/office/drawing/2014/main" id="{A1A78F62-72EF-4A91-8669-2B516E58C008}"/>
              </a:ext>
            </a:extLst>
          </p:cNvPr>
          <p:cNvSpPr>
            <a:spLocks xmlns:a="http://schemas.openxmlformats.org/drawingml/2006/main" noGrp="1"/>
          </p:cNvSpPr>
          <p:nvPr/>
        </p:nvSpPr>
        <p:spPr>
          <a:xfrm xmlns:a="http://schemas.openxmlformats.org/drawingml/2006/main">
            <a:off x="8382000" y="2362200"/>
            <a:ext cx="3095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Evidence for measurable visual concepts</a:t>
            </a:r>
          </a:p>
        </p:txBody>
      </p:sp>
      <p:sp>
        <p:nvSpPr>
          <p:cNvPr id="8" name="">
            <a:extLst xmlns:a="http://schemas.openxmlformats.org/drawingml/2006/main">
              <a:ext uri="{FF2B5EF4-FFF2-40B4-BE49-F238E27FC236}">
                <a16:creationId xmlns:a16="http://schemas.microsoft.com/office/drawing/2014/main" id="{8E98441E-E859-4567-B4CC-4D2280FD58FC}"/>
              </a:ext>
            </a:extLst>
          </p:cNvPr>
          <p:cNvSpPr>
            <a:spLocks xmlns:a="http://schemas.openxmlformats.org/drawingml/2006/main" noGrp="1"/>
          </p:cNvSpPr>
          <p:nvPr/>
        </p:nvSpPr>
        <p:spPr>
          <a:xfrm xmlns:a="http://schemas.openxmlformats.org/drawingml/2006/main">
            <a:off x="400050" y="30861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04EBF8-2CA2-4646-B691-5290A80776BA}"/>
              </a:ext>
            </a:extLst>
          </p:cNvPr>
          <p:cNvSpPr>
            <a:spLocks xmlns:a="http://schemas.openxmlformats.org/drawingml/2006/main" noGrp="1"/>
          </p:cNvSpPr>
          <p:nvPr/>
        </p:nvSpPr>
        <p:spPr>
          <a:xfrm xmlns:a="http://schemas.openxmlformats.org/drawingml/2006/main">
            <a:off x="400050" y="338137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SET-RELATIVE SEPARATION</a:t>
            </a:r>
          </a:p>
        </p:txBody>
      </p:sp>
      <p:sp>
        <p:nvSpPr>
          <p:cNvPr id="10" name="">
            <a:extLst xmlns:a="http://schemas.openxmlformats.org/drawingml/2006/main">
              <a:ext uri="{FF2B5EF4-FFF2-40B4-BE49-F238E27FC236}">
                <a16:creationId xmlns:a16="http://schemas.microsoft.com/office/drawing/2014/main" id="{582C7641-4B67-4BC9-AFF2-B60F7E396339}"/>
              </a:ext>
            </a:extLst>
          </p:cNvPr>
          <p:cNvSpPr>
            <a:spLocks xmlns:a="http://schemas.openxmlformats.org/drawingml/2006/main" noGrp="1"/>
          </p:cNvSpPr>
          <p:nvPr/>
        </p:nvSpPr>
        <p:spPr>
          <a:xfrm xmlns:a="http://schemas.openxmlformats.org/drawingml/2006/main">
            <a:off x="3333750" y="33623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Legg et al. (2017)</a:t>
            </a:r>
            <a:r>
              <a:rPr sz="1425" b="1">
                <a:solidFill>
                  <a:srgbClr val="111111"/>
                </a:solidFill>
                <a:latin typeface="Helvetica Neue"/>
                <a:ea typeface="Helvetica Neue"/>
                <a:cs typeface="Helvetica Neue"/>
              </a:rPr>
              <a:t> · Fuchs et al. (2014)</a:t>
            </a:r>
          </a:p>
        </p:txBody>
      </p:sp>
      <p:sp>
        <p:nvSpPr>
          <p:cNvPr id="11" name="">
            <a:extLst xmlns:a="http://schemas.openxmlformats.org/drawingml/2006/main">
              <a:ext uri="{FF2B5EF4-FFF2-40B4-BE49-F238E27FC236}">
                <a16:creationId xmlns:a16="http://schemas.microsoft.com/office/drawing/2014/main" id="{033DDCDB-F72A-4D7E-827C-182D0A35896C}"/>
              </a:ext>
            </a:extLst>
          </p:cNvPr>
          <p:cNvSpPr>
            <a:spLocks xmlns:a="http://schemas.openxmlformats.org/drawingml/2006/main" noGrp="1"/>
          </p:cNvSpPr>
          <p:nvPr/>
        </p:nvSpPr>
        <p:spPr>
          <a:xfrm xmlns:a="http://schemas.openxmlformats.org/drawingml/2006/main">
            <a:off x="8382000" y="3362325"/>
            <a:ext cx="3095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Pairwise distance · contour-aware contrasts</a:t>
            </a:r>
          </a:p>
        </p:txBody>
      </p:sp>
      <p:sp>
        <p:nvSpPr>
          <p:cNvPr id="12" name="">
            <a:extLst xmlns:a="http://schemas.openxmlformats.org/drawingml/2006/main">
              <a:ext uri="{FF2B5EF4-FFF2-40B4-BE49-F238E27FC236}">
                <a16:creationId xmlns:a16="http://schemas.microsoft.com/office/drawing/2014/main" id="{08AE2945-C283-4B3E-9513-87E9C9D8D81F}"/>
              </a:ext>
            </a:extLst>
          </p:cNvPr>
          <p:cNvSpPr>
            <a:spLocks xmlns:a="http://schemas.openxmlformats.org/drawingml/2006/main" noGrp="1"/>
          </p:cNvSpPr>
          <p:nvPr/>
        </p:nvSpPr>
        <p:spPr>
          <a:xfrm xmlns:a="http://schemas.openxmlformats.org/drawingml/2006/main">
            <a:off x="400050" y="408622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3552482-AE2F-4D4E-B89A-B5A2AF325674}"/>
              </a:ext>
            </a:extLst>
          </p:cNvPr>
          <p:cNvSpPr>
            <a:spLocks xmlns:a="http://schemas.openxmlformats.org/drawingml/2006/main" noGrp="1"/>
          </p:cNvSpPr>
          <p:nvPr/>
        </p:nvSpPr>
        <p:spPr>
          <a:xfrm xmlns:a="http://schemas.openxmlformats.org/drawingml/2006/main">
            <a:off x="400050" y="438150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HUMAN EVALUATION</a:t>
            </a:r>
          </a:p>
        </p:txBody>
      </p:sp>
      <p:sp>
        <p:nvSpPr>
          <p:cNvPr id="14" name="">
            <a:extLst xmlns:a="http://schemas.openxmlformats.org/drawingml/2006/main">
              <a:ext uri="{FF2B5EF4-FFF2-40B4-BE49-F238E27FC236}">
                <a16:creationId xmlns:a16="http://schemas.microsoft.com/office/drawing/2014/main" id="{2989C36D-6D9B-4A9A-A7FD-91AA1FA97CD1}"/>
              </a:ext>
            </a:extLst>
          </p:cNvPr>
          <p:cNvSpPr>
            <a:spLocks xmlns:a="http://schemas.openxmlformats.org/drawingml/2006/main" noGrp="1"/>
          </p:cNvSpPr>
          <p:nvPr/>
        </p:nvSpPr>
        <p:spPr>
          <a:xfrm xmlns:a="http://schemas.openxmlformats.org/drawingml/2006/main">
            <a:off x="3333750" y="43624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Fuchs et al. (2017)</a:t>
            </a:r>
          </a:p>
        </p:txBody>
      </p:sp>
      <p:sp>
        <p:nvSpPr>
          <p:cNvPr id="15" name="">
            <a:extLst xmlns:a="http://schemas.openxmlformats.org/drawingml/2006/main">
              <a:ext uri="{FF2B5EF4-FFF2-40B4-BE49-F238E27FC236}">
                <a16:creationId xmlns:a16="http://schemas.microsoft.com/office/drawing/2014/main" id="{12C21A75-E177-4308-B669-321172601F21}"/>
              </a:ext>
            </a:extLst>
          </p:cNvPr>
          <p:cNvSpPr>
            <a:spLocks xmlns:a="http://schemas.openxmlformats.org/drawingml/2006/main" noGrp="1"/>
          </p:cNvSpPr>
          <p:nvPr/>
        </p:nvSpPr>
        <p:spPr>
          <a:xfrm xmlns:a="http://schemas.openxmlformats.org/drawingml/2006/main">
            <a:off x="8382000" y="4362450"/>
            <a:ext cx="3095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Task- and condition-dependent performance</a:t>
            </a:r>
          </a:p>
        </p:txBody>
      </p:sp>
      <p:sp>
        <p:nvSpPr>
          <p:cNvPr id="16" name="">
            <a:extLst xmlns:a="http://schemas.openxmlformats.org/drawingml/2006/main">
              <a:ext uri="{FF2B5EF4-FFF2-40B4-BE49-F238E27FC236}">
                <a16:creationId xmlns:a16="http://schemas.microsoft.com/office/drawing/2014/main" id="{E3BCCD53-F454-4B15-8FDD-7FEB92CF688E}"/>
              </a:ext>
            </a:extLst>
          </p:cNvPr>
          <p:cNvSpPr>
            <a:spLocks xmlns:a="http://schemas.openxmlformats.org/drawingml/2006/main" noGrp="1"/>
          </p:cNvSpPr>
          <p:nvPr/>
        </p:nvSpPr>
        <p:spPr>
          <a:xfrm xmlns:a="http://schemas.openxmlformats.org/drawingml/2006/main">
            <a:off x="914400" y="5514975"/>
            <a:ext cx="10363200" cy="666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C7BF88-788C-4442-9DBF-F4519AE35CD2}"/>
              </a:ext>
            </a:extLst>
          </p:cNvPr>
          <p:cNvSpPr>
            <a:spLocks xmlns:a="http://schemas.openxmlformats.org/drawingml/2006/main" noGrp="1"/>
          </p:cNvSpPr>
          <p:nvPr/>
        </p:nvSpPr>
        <p:spPr>
          <a:xfrm xmlns:a="http://schemas.openxmlformats.org/drawingml/2006/main">
            <a:off x="1162050" y="5695950"/>
            <a:ext cx="986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Reviewed gap · No validated size thresholds found for heterogeneous icon sets</a:t>
            </a:r>
          </a:p>
        </p:txBody>
      </p:sp>
    </p:spTree>
    <p:extLst>
      <p:ext uri="{BB962C8B-B14F-4D97-AF65-F5344CB8AC3E}">
        <p14:creationId xmlns:p14="http://schemas.microsoft.com/office/powerpoint/2010/main" val="62617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29AA2EA-4281-4D62-A246-342ED77960E6}"/>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D44A54B4-79AE-401D-BE68-F3CD33BA4D15}"/>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02B0103-18B0-46C0-B9C1-2AC72D532D5A}"/>
              </a:ext>
            </a:extLst>
          </p:cNvPr>
          <p:cNvSpPr>
            <a:spLocks xmlns:a="http://schemas.openxmlformats.org/drawingml/2006/main" noGrp="1"/>
          </p:cNvSpPr>
          <p:nvPr/>
        </p:nvSpPr>
        <p:spPr>
          <a:xfrm xmlns:a="http://schemas.openxmlformats.org/drawingml/2006/main">
            <a:off x="400050" y="74295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Visual concepts became measurable features</a:t>
            </a:r>
          </a:p>
        </p:txBody>
      </p:sp>
      <p:sp>
        <p:nvSpPr>
          <p:cNvPr id="4" name="">
            <a:extLst xmlns:a="http://schemas.openxmlformats.org/drawingml/2006/main">
              <a:ext uri="{FF2B5EF4-FFF2-40B4-BE49-F238E27FC236}">
                <a16:creationId xmlns:a16="http://schemas.microsoft.com/office/drawing/2014/main" id="{80B39FCC-1476-4C02-8AD3-C53D44423083}"/>
              </a:ext>
            </a:extLst>
          </p:cNvPr>
          <p:cNvSpPr>
            <a:spLocks xmlns:a="http://schemas.openxmlformats.org/drawingml/2006/main" noGrp="1"/>
          </p:cNvSpPr>
          <p:nvPr/>
        </p:nvSpPr>
        <p:spPr>
          <a:xfrm xmlns:a="http://schemas.openxmlformats.org/drawingml/2006/main">
            <a:off x="400050" y="14859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672"/>
                </a:solidFill>
                <a:latin typeface="Helvetica Neue"/>
                <a:ea typeface="Helvetica Neue"/>
                <a:cs typeface="Helvetica Neue"/>
              </a:defRPr>
            </a:pPr>
            <a:r>
              <a:rPr sz="1500" b="0">
                <a:solidFill>
                  <a:srgbClr val="5E6672"/>
                </a:solidFill>
                <a:latin typeface="Helvetica Neue"/>
                <a:ea typeface="Helvetica Neue"/>
                <a:cs typeface="Helvetica Neue"/>
              </a:rPr>
              <a:t>One close measure-level match · six project-defined proxies</a:t>
            </a:r>
          </a:p>
        </p:txBody>
      </p:sp>
      <p:sp>
        <p:nvSpPr>
          <p:cNvPr id="5" name="">
            <a:extLst xmlns:a="http://schemas.openxmlformats.org/drawingml/2006/main">
              <a:ext uri="{FF2B5EF4-FFF2-40B4-BE49-F238E27FC236}">
                <a16:creationId xmlns:a16="http://schemas.microsoft.com/office/drawing/2014/main" id="{2875D04E-A76C-4B0C-87F3-77961C175AEB}"/>
              </a:ext>
            </a:extLst>
          </p:cNvPr>
          <p:cNvSpPr>
            <a:spLocks xmlns:a="http://schemas.openxmlformats.org/drawingml/2006/main" noGrp="1"/>
          </p:cNvSpPr>
          <p:nvPr/>
        </p:nvSpPr>
        <p:spPr>
          <a:xfrm xmlns:a="http://schemas.openxmlformats.org/drawingml/2006/main">
            <a:off x="400050" y="2238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FAMILY</a:t>
            </a:r>
          </a:p>
        </p:txBody>
      </p:sp>
      <p:sp>
        <p:nvSpPr>
          <p:cNvPr id="6" name="">
            <a:extLst xmlns:a="http://schemas.openxmlformats.org/drawingml/2006/main">
              <a:ext uri="{FF2B5EF4-FFF2-40B4-BE49-F238E27FC236}">
                <a16:creationId xmlns:a16="http://schemas.microsoft.com/office/drawing/2014/main" id="{F16B64E3-A747-47FD-9D6C-B38D54F8D61D}"/>
              </a:ext>
            </a:extLst>
          </p:cNvPr>
          <p:cNvSpPr>
            <a:spLocks xmlns:a="http://schemas.openxmlformats.org/drawingml/2006/main" noGrp="1"/>
          </p:cNvSpPr>
          <p:nvPr/>
        </p:nvSpPr>
        <p:spPr>
          <a:xfrm xmlns:a="http://schemas.openxmlformats.org/drawingml/2006/main">
            <a:off x="2381250" y="2238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LITERATURE BASIS</a:t>
            </a:r>
          </a:p>
        </p:txBody>
      </p:sp>
      <p:sp>
        <p:nvSpPr>
          <p:cNvPr id="7" name="">
            <a:extLst xmlns:a="http://schemas.openxmlformats.org/drawingml/2006/main">
              <a:ext uri="{FF2B5EF4-FFF2-40B4-BE49-F238E27FC236}">
                <a16:creationId xmlns:a16="http://schemas.microsoft.com/office/drawing/2014/main" id="{EA26D4A9-9FE7-4535-AD8D-20E9876AD22A}"/>
              </a:ext>
            </a:extLst>
          </p:cNvPr>
          <p:cNvSpPr>
            <a:spLocks xmlns:a="http://schemas.openxmlformats.org/drawingml/2006/main" noGrp="1"/>
          </p:cNvSpPr>
          <p:nvPr/>
        </p:nvSpPr>
        <p:spPr>
          <a:xfrm xmlns:a="http://schemas.openxmlformats.org/drawingml/2006/main">
            <a:off x="5619750" y="22383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IMPLEMENTED REPRESENTATIVE</a:t>
            </a:r>
          </a:p>
        </p:txBody>
      </p:sp>
      <p:sp>
        <p:nvSpPr>
          <p:cNvPr id="8" name="">
            <a:extLst xmlns:a="http://schemas.openxmlformats.org/drawingml/2006/main">
              <a:ext uri="{FF2B5EF4-FFF2-40B4-BE49-F238E27FC236}">
                <a16:creationId xmlns:a16="http://schemas.microsoft.com/office/drawing/2014/main" id="{DCB3EB71-8425-4B04-B2FB-78C43A0795E3}"/>
              </a:ext>
            </a:extLst>
          </p:cNvPr>
          <p:cNvSpPr>
            <a:spLocks xmlns:a="http://schemas.openxmlformats.org/drawingml/2006/main" noGrp="1"/>
          </p:cNvSpPr>
          <p:nvPr/>
        </p:nvSpPr>
        <p:spPr>
          <a:xfrm xmlns:a="http://schemas.openxmlformats.org/drawingml/2006/main">
            <a:off x="9144000" y="22383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RELATION TO LITERATURE</a:t>
            </a:r>
          </a:p>
        </p:txBody>
      </p:sp>
      <p:sp>
        <p:nvSpPr>
          <p:cNvPr id="9" name="">
            <a:extLst xmlns:a="http://schemas.openxmlformats.org/drawingml/2006/main">
              <a:ext uri="{FF2B5EF4-FFF2-40B4-BE49-F238E27FC236}">
                <a16:creationId xmlns:a16="http://schemas.microsoft.com/office/drawing/2014/main" id="{F482DF97-B393-414C-9875-658F6BA03884}"/>
              </a:ext>
            </a:extLst>
          </p:cNvPr>
          <p:cNvSpPr>
            <a:spLocks xmlns:a="http://schemas.openxmlformats.org/drawingml/2006/main" noGrp="1"/>
          </p:cNvSpPr>
          <p:nvPr/>
        </p:nvSpPr>
        <p:spPr>
          <a:xfrm xmlns:a="http://schemas.openxmlformats.org/drawingml/2006/main">
            <a:off x="400050" y="2552700"/>
            <a:ext cx="113919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3684E4-FAAA-42AA-ACE9-D3725A454B30}"/>
              </a:ext>
            </a:extLst>
          </p:cNvPr>
          <p:cNvSpPr>
            <a:spLocks xmlns:a="http://schemas.openxmlformats.org/drawingml/2006/main" noGrp="1"/>
          </p:cNvSpPr>
          <p:nvPr/>
        </p:nvSpPr>
        <p:spPr>
          <a:xfrm xmlns:a="http://schemas.openxmlformats.org/drawingml/2006/main">
            <a:off x="400050" y="27813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Complexity</a:t>
            </a:r>
          </a:p>
        </p:txBody>
      </p:sp>
      <p:sp>
        <p:nvSpPr>
          <p:cNvPr id="11" name="">
            <a:extLst xmlns:a="http://schemas.openxmlformats.org/drawingml/2006/main">
              <a:ext uri="{FF2B5EF4-FFF2-40B4-BE49-F238E27FC236}">
                <a16:creationId xmlns:a16="http://schemas.microsoft.com/office/drawing/2014/main" id="{8AB2CF8E-9B5D-4310-AA3A-0DD4EE34B122}"/>
              </a:ext>
            </a:extLst>
          </p:cNvPr>
          <p:cNvSpPr>
            <a:spLocks xmlns:a="http://schemas.openxmlformats.org/drawingml/2006/main" noGrp="1"/>
          </p:cNvSpPr>
          <p:nvPr/>
        </p:nvSpPr>
        <p:spPr>
          <a:xfrm xmlns:a="http://schemas.openxmlformats.org/drawingml/2006/main">
            <a:off x="2381250" y="27813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Forsythe et al. (2003)</a:t>
            </a:r>
          </a:p>
        </p:txBody>
      </p:sp>
      <p:sp>
        <p:nvSpPr>
          <p:cNvPr id="12" name="">
            <a:extLst xmlns:a="http://schemas.openxmlformats.org/drawingml/2006/main">
              <a:ext uri="{FF2B5EF4-FFF2-40B4-BE49-F238E27FC236}">
                <a16:creationId xmlns:a16="http://schemas.microsoft.com/office/drawing/2014/main" id="{697C0875-FCEC-479F-8CA5-C451288B99FD}"/>
              </a:ext>
            </a:extLst>
          </p:cNvPr>
          <p:cNvSpPr>
            <a:spLocks xmlns:a="http://schemas.openxmlformats.org/drawingml/2006/main" noGrp="1"/>
          </p:cNvSpPr>
          <p:nvPr/>
        </p:nvSpPr>
        <p:spPr>
          <a:xfrm xmlns:a="http://schemas.openxmlformats.org/drawingml/2006/main">
            <a:off x="5619750" y="2781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Canny edge density</a:t>
            </a:r>
          </a:p>
        </p:txBody>
      </p:sp>
      <p:sp>
        <p:nvSpPr>
          <p:cNvPr id="13" name="">
            <a:extLst xmlns:a="http://schemas.openxmlformats.org/drawingml/2006/main">
              <a:ext uri="{FF2B5EF4-FFF2-40B4-BE49-F238E27FC236}">
                <a16:creationId xmlns:a16="http://schemas.microsoft.com/office/drawing/2014/main" id="{29F8635B-C2E0-47E4-BF4D-B20567B4A50B}"/>
              </a:ext>
            </a:extLst>
          </p:cNvPr>
          <p:cNvSpPr>
            <a:spLocks xmlns:a="http://schemas.openxmlformats.org/drawingml/2006/main" noGrp="1"/>
          </p:cNvSpPr>
          <p:nvPr/>
        </p:nvSpPr>
        <p:spPr>
          <a:xfrm xmlns:a="http://schemas.openxmlformats.org/drawingml/2006/main">
            <a:off x="9144000" y="27813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Closest measure-level evidence</a:t>
            </a:r>
          </a:p>
        </p:txBody>
      </p:sp>
      <p:sp>
        <p:nvSpPr>
          <p:cNvPr id="14" name="">
            <a:extLst xmlns:a="http://schemas.openxmlformats.org/drawingml/2006/main">
              <a:ext uri="{FF2B5EF4-FFF2-40B4-BE49-F238E27FC236}">
                <a16:creationId xmlns:a16="http://schemas.microsoft.com/office/drawing/2014/main" id="{AA575F4E-CF95-45F7-9FD4-9101482F7F1E}"/>
              </a:ext>
            </a:extLst>
          </p:cNvPr>
          <p:cNvSpPr>
            <a:spLocks xmlns:a="http://schemas.openxmlformats.org/drawingml/2006/main" noGrp="1"/>
          </p:cNvSpPr>
          <p:nvPr/>
        </p:nvSpPr>
        <p:spPr>
          <a:xfrm xmlns:a="http://schemas.openxmlformats.org/drawingml/2006/main">
            <a:off x="400050" y="326707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CA4BFC-4382-4C57-B029-B6C8577273A6}"/>
              </a:ext>
            </a:extLst>
          </p:cNvPr>
          <p:cNvSpPr>
            <a:spLocks xmlns:a="http://schemas.openxmlformats.org/drawingml/2006/main" noGrp="1"/>
          </p:cNvSpPr>
          <p:nvPr/>
        </p:nvSpPr>
        <p:spPr>
          <a:xfrm xmlns:a="http://schemas.openxmlformats.org/drawingml/2006/main">
            <a:off x="400050" y="34385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Shape · Density</a:t>
            </a:r>
          </a:p>
        </p:txBody>
      </p:sp>
      <p:sp>
        <p:nvSpPr>
          <p:cNvPr id="16" name="">
            <a:extLst xmlns:a="http://schemas.openxmlformats.org/drawingml/2006/main">
              <a:ext uri="{FF2B5EF4-FFF2-40B4-BE49-F238E27FC236}">
                <a16:creationId xmlns:a16="http://schemas.microsoft.com/office/drawing/2014/main" id="{F9483A39-3110-4BD7-9B4D-31E648516489}"/>
              </a:ext>
            </a:extLst>
          </p:cNvPr>
          <p:cNvSpPr>
            <a:spLocks xmlns:a="http://schemas.openxmlformats.org/drawingml/2006/main" noGrp="1"/>
          </p:cNvSpPr>
          <p:nvPr/>
        </p:nvSpPr>
        <p:spPr>
          <a:xfrm xmlns:a="http://schemas.openxmlformats.org/drawingml/2006/main">
            <a:off x="2381250" y="34385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Garcia et al. (1994) · Fuchs et al. (2014)</a:t>
            </a:r>
          </a:p>
        </p:txBody>
      </p:sp>
      <p:sp>
        <p:nvSpPr>
          <p:cNvPr id="17" name="">
            <a:extLst xmlns:a="http://schemas.openxmlformats.org/drawingml/2006/main">
              <a:ext uri="{FF2B5EF4-FFF2-40B4-BE49-F238E27FC236}">
                <a16:creationId xmlns:a16="http://schemas.microsoft.com/office/drawing/2014/main" id="{066B8B17-A2D6-4D3E-AB79-3EE7AD16E6D0}"/>
              </a:ext>
            </a:extLst>
          </p:cNvPr>
          <p:cNvSpPr>
            <a:spLocks xmlns:a="http://schemas.openxmlformats.org/drawingml/2006/main" noGrp="1"/>
          </p:cNvSpPr>
          <p:nvPr/>
        </p:nvSpPr>
        <p:spPr>
          <a:xfrm xmlns:a="http://schemas.openxmlformats.org/drawingml/2006/main">
            <a:off x="5619750" y="34385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Enclosure · Solid fill</a:t>
            </a:r>
          </a:p>
        </p:txBody>
      </p:sp>
      <p:sp>
        <p:nvSpPr>
          <p:cNvPr id="18" name="">
            <a:extLst xmlns:a="http://schemas.openxmlformats.org/drawingml/2006/main">
              <a:ext uri="{FF2B5EF4-FFF2-40B4-BE49-F238E27FC236}">
                <a16:creationId xmlns:a16="http://schemas.microsoft.com/office/drawing/2014/main" id="{FED25B39-134F-405A-844B-276AC200A1D7}"/>
              </a:ext>
            </a:extLst>
          </p:cNvPr>
          <p:cNvSpPr>
            <a:spLocks xmlns:a="http://schemas.openxmlformats.org/drawingml/2006/main" noGrp="1"/>
          </p:cNvSpPr>
          <p:nvPr/>
        </p:nvSpPr>
        <p:spPr>
          <a:xfrm xmlns:a="http://schemas.openxmlformats.org/drawingml/2006/main">
            <a:off x="9144000" y="343852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Project-defined proxies</a:t>
            </a:r>
          </a:p>
        </p:txBody>
      </p:sp>
      <p:sp>
        <p:nvSpPr>
          <p:cNvPr id="19" name="">
            <a:extLst xmlns:a="http://schemas.openxmlformats.org/drawingml/2006/main">
              <a:ext uri="{FF2B5EF4-FFF2-40B4-BE49-F238E27FC236}">
                <a16:creationId xmlns:a16="http://schemas.microsoft.com/office/drawing/2014/main" id="{D47D1E91-EC37-45C9-8BEF-B0DBA5407F50}"/>
              </a:ext>
            </a:extLst>
          </p:cNvPr>
          <p:cNvSpPr>
            <a:spLocks xmlns:a="http://schemas.openxmlformats.org/drawingml/2006/main" noGrp="1"/>
          </p:cNvSpPr>
          <p:nvPr/>
        </p:nvSpPr>
        <p:spPr>
          <a:xfrm xmlns:a="http://schemas.openxmlformats.org/drawingml/2006/main">
            <a:off x="400050" y="39243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862B8D3-9A70-4178-BE3E-9A743B39EFDB}"/>
              </a:ext>
            </a:extLst>
          </p:cNvPr>
          <p:cNvSpPr>
            <a:spLocks xmlns:a="http://schemas.openxmlformats.org/drawingml/2006/main" noGrp="1"/>
          </p:cNvSpPr>
          <p:nvPr/>
        </p:nvSpPr>
        <p:spPr>
          <a:xfrm xmlns:a="http://schemas.openxmlformats.org/drawingml/2006/main">
            <a:off x="400050" y="40957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Stroke · Texture</a:t>
            </a:r>
          </a:p>
        </p:txBody>
      </p:sp>
      <p:sp>
        <p:nvSpPr>
          <p:cNvPr id="21" name="">
            <a:extLst xmlns:a="http://schemas.openxmlformats.org/drawingml/2006/main">
              <a:ext uri="{FF2B5EF4-FFF2-40B4-BE49-F238E27FC236}">
                <a16:creationId xmlns:a16="http://schemas.microsoft.com/office/drawing/2014/main" id="{D70CDFE9-A4D6-4611-992D-52C4AFD2ECF9}"/>
              </a:ext>
            </a:extLst>
          </p:cNvPr>
          <p:cNvSpPr>
            <a:spLocks xmlns:a="http://schemas.openxmlformats.org/drawingml/2006/main" noGrp="1"/>
          </p:cNvSpPr>
          <p:nvPr/>
        </p:nvSpPr>
        <p:spPr>
          <a:xfrm xmlns:a="http://schemas.openxmlformats.org/drawingml/2006/main">
            <a:off x="2381250" y="40957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Legg et al. (2017)</a:t>
            </a:r>
          </a:p>
        </p:txBody>
      </p:sp>
      <p:sp>
        <p:nvSpPr>
          <p:cNvPr id="22" name="">
            <a:extLst xmlns:a="http://schemas.openxmlformats.org/drawingml/2006/main">
              <a:ext uri="{FF2B5EF4-FFF2-40B4-BE49-F238E27FC236}">
                <a16:creationId xmlns:a16="http://schemas.microsoft.com/office/drawing/2014/main" id="{CA6B35FB-1D8D-4994-B4B5-2FF487F32628}"/>
              </a:ext>
            </a:extLst>
          </p:cNvPr>
          <p:cNvSpPr>
            <a:spLocks xmlns:a="http://schemas.openxmlformats.org/drawingml/2006/main" noGrp="1"/>
          </p:cNvSpPr>
          <p:nvPr/>
        </p:nvSpPr>
        <p:spPr>
          <a:xfrm xmlns:a="http://schemas.openxmlformats.org/drawingml/2006/main">
            <a:off x="5619750"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Orientation · Local texture</a:t>
            </a:r>
          </a:p>
        </p:txBody>
      </p:sp>
      <p:sp>
        <p:nvSpPr>
          <p:cNvPr id="23" name="">
            <a:extLst xmlns:a="http://schemas.openxmlformats.org/drawingml/2006/main">
              <a:ext uri="{FF2B5EF4-FFF2-40B4-BE49-F238E27FC236}">
                <a16:creationId xmlns:a16="http://schemas.microsoft.com/office/drawing/2014/main" id="{BCC6213F-6722-40ED-AD11-F76EC251E807}"/>
              </a:ext>
            </a:extLst>
          </p:cNvPr>
          <p:cNvSpPr>
            <a:spLocks xmlns:a="http://schemas.openxmlformats.org/drawingml/2006/main" noGrp="1"/>
          </p:cNvSpPr>
          <p:nvPr/>
        </p:nvSpPr>
        <p:spPr>
          <a:xfrm xmlns:a="http://schemas.openxmlformats.org/drawingml/2006/main">
            <a:off x="9144000" y="4095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Project-defined proxies</a:t>
            </a:r>
          </a:p>
        </p:txBody>
      </p:sp>
      <p:sp>
        <p:nvSpPr>
          <p:cNvPr id="24" name="">
            <a:extLst xmlns:a="http://schemas.openxmlformats.org/drawingml/2006/main">
              <a:ext uri="{FF2B5EF4-FFF2-40B4-BE49-F238E27FC236}">
                <a16:creationId xmlns:a16="http://schemas.microsoft.com/office/drawing/2014/main" id="{EF07239A-5D62-413D-B0F5-5223023B97F5}"/>
              </a:ext>
            </a:extLst>
          </p:cNvPr>
          <p:cNvSpPr>
            <a:spLocks xmlns:a="http://schemas.openxmlformats.org/drawingml/2006/main" noGrp="1"/>
          </p:cNvSpPr>
          <p:nvPr/>
        </p:nvSpPr>
        <p:spPr>
          <a:xfrm xmlns:a="http://schemas.openxmlformats.org/drawingml/2006/main">
            <a:off x="400050" y="458152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EBAE9AB-3474-47ED-9E6B-D1C6D2D52123}"/>
              </a:ext>
            </a:extLst>
          </p:cNvPr>
          <p:cNvSpPr>
            <a:spLocks xmlns:a="http://schemas.openxmlformats.org/drawingml/2006/main" noGrp="1"/>
          </p:cNvSpPr>
          <p:nvPr/>
        </p:nvSpPr>
        <p:spPr>
          <a:xfrm xmlns:a="http://schemas.openxmlformats.org/drawingml/2006/main">
            <a:off x="400050" y="47529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Balance · Colour</a:t>
            </a:r>
          </a:p>
        </p:txBody>
      </p:sp>
      <p:sp>
        <p:nvSpPr>
          <p:cNvPr id="26" name="">
            <a:extLst xmlns:a="http://schemas.openxmlformats.org/drawingml/2006/main">
              <a:ext uri="{FF2B5EF4-FFF2-40B4-BE49-F238E27FC236}">
                <a16:creationId xmlns:a16="http://schemas.microsoft.com/office/drawing/2014/main" id="{2DD48C56-5163-4329-A81F-CAFB695F455D}"/>
              </a:ext>
            </a:extLst>
          </p:cNvPr>
          <p:cNvSpPr>
            <a:spLocks xmlns:a="http://schemas.openxmlformats.org/drawingml/2006/main" noGrp="1"/>
          </p:cNvSpPr>
          <p:nvPr/>
        </p:nvSpPr>
        <p:spPr>
          <a:xfrm xmlns:a="http://schemas.openxmlformats.org/drawingml/2006/main">
            <a:off x="2381250" y="47529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Borgo et al. (2013)</a:t>
            </a:r>
          </a:p>
        </p:txBody>
      </p:sp>
      <p:sp>
        <p:nvSpPr>
          <p:cNvPr id="27" name="">
            <a:extLst xmlns:a="http://schemas.openxmlformats.org/drawingml/2006/main">
              <a:ext uri="{FF2B5EF4-FFF2-40B4-BE49-F238E27FC236}">
                <a16:creationId xmlns:a16="http://schemas.microsoft.com/office/drawing/2014/main" id="{D041479C-7189-43A8-B9C6-C88FE09A399A}"/>
              </a:ext>
            </a:extLst>
          </p:cNvPr>
          <p:cNvSpPr>
            <a:spLocks xmlns:a="http://schemas.openxmlformats.org/drawingml/2006/main" noGrp="1"/>
          </p:cNvSpPr>
          <p:nvPr/>
        </p:nvSpPr>
        <p:spPr>
          <a:xfrm xmlns:a="http://schemas.openxmlformats.org/drawingml/2006/main">
            <a:off x="5619750" y="4752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Symmetry · Saturation</a:t>
            </a:r>
          </a:p>
        </p:txBody>
      </p:sp>
      <p:sp>
        <p:nvSpPr>
          <p:cNvPr id="28" name="">
            <a:extLst xmlns:a="http://schemas.openxmlformats.org/drawingml/2006/main">
              <a:ext uri="{FF2B5EF4-FFF2-40B4-BE49-F238E27FC236}">
                <a16:creationId xmlns:a16="http://schemas.microsoft.com/office/drawing/2014/main" id="{FD33D02C-BB61-4667-8886-5CAA269DCE97}"/>
              </a:ext>
            </a:extLst>
          </p:cNvPr>
          <p:cNvSpPr>
            <a:spLocks xmlns:a="http://schemas.openxmlformats.org/drawingml/2006/main" noGrp="1"/>
          </p:cNvSpPr>
          <p:nvPr/>
        </p:nvSpPr>
        <p:spPr>
          <a:xfrm xmlns:a="http://schemas.openxmlformats.org/drawingml/2006/main">
            <a:off x="9144000" y="4752975"/>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Project-defined proxies</a:t>
            </a:r>
          </a:p>
        </p:txBody>
      </p:sp>
      <p:sp>
        <p:nvSpPr>
          <p:cNvPr id="29" name="">
            <a:extLst xmlns:a="http://schemas.openxmlformats.org/drawingml/2006/main">
              <a:ext uri="{FF2B5EF4-FFF2-40B4-BE49-F238E27FC236}">
                <a16:creationId xmlns:a16="http://schemas.microsoft.com/office/drawing/2014/main" id="{CC0B72D2-F654-4EA5-AF36-9B713B703ECA}"/>
              </a:ext>
            </a:extLst>
          </p:cNvPr>
          <p:cNvSpPr>
            <a:spLocks xmlns:a="http://schemas.openxmlformats.org/drawingml/2006/main" noGrp="1"/>
          </p:cNvSpPr>
          <p:nvPr/>
        </p:nvSpPr>
        <p:spPr>
          <a:xfrm xmlns:a="http://schemas.openxmlformats.org/drawingml/2006/main">
            <a:off x="400050" y="5372100"/>
            <a:ext cx="11391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Forsythe sample · 68 random icons from 239 McDougall symbols</a:t>
            </a:r>
          </a:p>
        </p:txBody>
      </p:sp>
      <p:sp>
        <p:nvSpPr>
          <p:cNvPr id="30" name="">
            <a:extLst xmlns:a="http://schemas.openxmlformats.org/drawingml/2006/main">
              <a:ext uri="{FF2B5EF4-FFF2-40B4-BE49-F238E27FC236}">
                <a16:creationId xmlns:a16="http://schemas.microsoft.com/office/drawing/2014/main" id="{5EF403A5-1AFA-4817-AFCB-5418A2A068B8}"/>
              </a:ext>
            </a:extLst>
          </p:cNvPr>
          <p:cNvSpPr>
            <a:spLocks xmlns:a="http://schemas.openxmlformats.org/drawingml/2006/main" noGrp="1"/>
          </p:cNvSpPr>
          <p:nvPr/>
        </p:nvSpPr>
        <p:spPr>
          <a:xfrm xmlns:a="http://schemas.openxmlformats.org/drawingml/2006/main">
            <a:off x="1238250" y="5772150"/>
            <a:ext cx="9715500" cy="4667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922A050-A629-4ABB-8237-437E1C9619E9}"/>
              </a:ext>
            </a:extLst>
          </p:cNvPr>
          <p:cNvSpPr>
            <a:spLocks xmlns:a="http://schemas.openxmlformats.org/drawingml/2006/main" noGrp="1"/>
          </p:cNvSpPr>
          <p:nvPr/>
        </p:nvSpPr>
        <p:spPr>
          <a:xfrm xmlns:a="http://schemas.openxmlformats.org/drawingml/2006/main">
            <a:off x="1466850" y="5895975"/>
            <a:ext cx="9258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Thesis contribution · Seven reproducible measurements across 28,749 icons</a:t>
            </a:r>
          </a:p>
        </p:txBody>
      </p:sp>
    </p:spTree>
    <p:extLst>
      <p:ext uri="{BB962C8B-B14F-4D97-AF65-F5344CB8AC3E}">
        <p14:creationId xmlns:p14="http://schemas.microsoft.com/office/powerpoint/2010/main" val="3920477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19D7AAF-06BA-4AEA-B3F6-F5FD02601C43}"/>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87B1AF5B-7B81-4E94-8BFF-DFF5CCF7F7DE}"/>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38A40E47-5726-4762-9F92-D5DF42884036}"/>
              </a:ext>
            </a:extLst>
          </p:cNvPr>
          <p:cNvSpPr>
            <a:spLocks xmlns:a="http://schemas.openxmlformats.org/drawingml/2006/main" noGrp="1"/>
          </p:cNvSpPr>
          <p:nvPr/>
        </p:nvSpPr>
        <p:spPr>
          <a:xfrm xmlns:a="http://schemas.openxmlformats.org/drawingml/2006/main">
            <a:off x="400050" y="74295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Literature guides glyph selection</a:t>
            </a:r>
          </a:p>
        </p:txBody>
      </p:sp>
      <p:sp>
        <p:nvSpPr>
          <p:cNvPr id="4" name="">
            <a:extLst xmlns:a="http://schemas.openxmlformats.org/drawingml/2006/main">
              <a:ext uri="{FF2B5EF4-FFF2-40B4-BE49-F238E27FC236}">
                <a16:creationId xmlns:a16="http://schemas.microsoft.com/office/drawing/2014/main" id="{B2C4D458-93F0-4470-9F18-B08FBD484D15}"/>
              </a:ext>
            </a:extLst>
          </p:cNvPr>
          <p:cNvSpPr>
            <a:spLocks xmlns:a="http://schemas.openxmlformats.org/drawingml/2006/main" noGrp="1"/>
          </p:cNvSpPr>
          <p:nvPr/>
        </p:nvSpPr>
        <p:spPr>
          <a:xfrm xmlns:a="http://schemas.openxmlformats.org/drawingml/2006/main">
            <a:off x="400050" y="1485900"/>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672"/>
                </a:solidFill>
                <a:latin typeface="Helvetica Neue"/>
                <a:ea typeface="Helvetica Neue"/>
                <a:cs typeface="Helvetica Neue"/>
              </a:defRPr>
            </a:pPr>
            <a:r>
              <a:rPr sz="1500" b="0">
                <a:solidFill>
                  <a:srgbClr val="5E6672"/>
                </a:solidFill>
                <a:latin typeface="Helvetica Neue"/>
                <a:ea typeface="Helvetica Neue"/>
                <a:cs typeface="Helvetica Neue"/>
              </a:rPr>
              <a:t>Literature → candidate selection     Participants → perceptual evidence</a:t>
            </a:r>
          </a:p>
        </p:txBody>
      </p:sp>
      <p:sp>
        <p:nvSpPr>
          <p:cNvPr id="5" name="">
            <a:extLst xmlns:a="http://schemas.openxmlformats.org/drawingml/2006/main">
              <a:ext uri="{FF2B5EF4-FFF2-40B4-BE49-F238E27FC236}">
                <a16:creationId xmlns:a16="http://schemas.microsoft.com/office/drawing/2014/main" id="{C7E9A5F9-4016-4AF3-86C0-CC7C4A04DE33}"/>
              </a:ext>
            </a:extLst>
          </p:cNvPr>
          <p:cNvSpPr>
            <a:spLocks xmlns:a="http://schemas.openxmlformats.org/drawingml/2006/main" noGrp="1"/>
          </p:cNvSpPr>
          <p:nvPr/>
        </p:nvSpPr>
        <p:spPr>
          <a:xfrm xmlns:a="http://schemas.openxmlformats.org/drawingml/2006/main">
            <a:off x="4057650" y="2266950"/>
            <a:ext cx="9525" cy="29527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3AFBFD-45BD-4D1F-A71C-2689135BBC3B}"/>
              </a:ext>
            </a:extLst>
          </p:cNvPr>
          <p:cNvSpPr>
            <a:spLocks xmlns:a="http://schemas.openxmlformats.org/drawingml/2006/main" noGrp="1"/>
          </p:cNvSpPr>
          <p:nvPr/>
        </p:nvSpPr>
        <p:spPr>
          <a:xfrm xmlns:a="http://schemas.openxmlformats.org/drawingml/2006/main">
            <a:off x="8115300" y="2266950"/>
            <a:ext cx="9525" cy="29527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68D26D-5CF4-48C7-A103-3CD4BC8B1411}"/>
              </a:ext>
            </a:extLst>
          </p:cNvPr>
          <p:cNvSpPr>
            <a:spLocks xmlns:a="http://schemas.openxmlformats.org/drawingml/2006/main" noGrp="1"/>
          </p:cNvSpPr>
          <p:nvPr/>
        </p:nvSpPr>
        <p:spPr>
          <a:xfrm xmlns:a="http://schemas.openxmlformats.org/drawingml/2006/main">
            <a:off x="400050" y="23336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LEGG ET AL. · 2017</a:t>
            </a:r>
          </a:p>
        </p:txBody>
      </p:sp>
      <p:sp>
        <p:nvSpPr>
          <p:cNvPr id="8" name="">
            <a:extLst xmlns:a="http://schemas.openxmlformats.org/drawingml/2006/main">
              <a:ext uri="{FF2B5EF4-FFF2-40B4-BE49-F238E27FC236}">
                <a16:creationId xmlns:a16="http://schemas.microsoft.com/office/drawing/2014/main" id="{88550F52-FACE-44FA-95E5-CBA584FC0151}"/>
              </a:ext>
            </a:extLst>
          </p:cNvPr>
          <p:cNvSpPr>
            <a:spLocks xmlns:a="http://schemas.openxmlformats.org/drawingml/2006/main" noGrp="1"/>
          </p:cNvSpPr>
          <p:nvPr/>
        </p:nvSpPr>
        <p:spPr>
          <a:xfrm xmlns:a="http://schemas.openxmlformats.org/drawingml/2006/main">
            <a:off x="400050" y="2838450"/>
            <a:ext cx="3257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Multiple visual channels</a:t>
            </a:r>
          </a:p>
        </p:txBody>
      </p:sp>
      <p:sp>
        <p:nvSpPr>
          <p:cNvPr id="9" name="">
            <a:extLst xmlns:a="http://schemas.openxmlformats.org/drawingml/2006/main">
              <a:ext uri="{FF2B5EF4-FFF2-40B4-BE49-F238E27FC236}">
                <a16:creationId xmlns:a16="http://schemas.microsoft.com/office/drawing/2014/main" id="{DD572E73-8107-44A3-A981-FB28F54A0E56}"/>
              </a:ext>
            </a:extLst>
          </p:cNvPr>
          <p:cNvSpPr>
            <a:spLocks xmlns:a="http://schemas.openxmlformats.org/drawingml/2006/main" noGrp="1"/>
          </p:cNvSpPr>
          <p:nvPr/>
        </p:nvSpPr>
        <p:spPr>
          <a:xfrm xmlns:a="http://schemas.openxmlformats.org/drawingml/2006/main">
            <a:off x="400050" y="4095750"/>
            <a:ext cx="3257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EFFECT ON THIS WORK</a:t>
            </a:r>
          </a:p>
        </p:txBody>
      </p:sp>
      <p:sp>
        <p:nvSpPr>
          <p:cNvPr id="10" name="">
            <a:extLst xmlns:a="http://schemas.openxmlformats.org/drawingml/2006/main">
              <a:ext uri="{FF2B5EF4-FFF2-40B4-BE49-F238E27FC236}">
                <a16:creationId xmlns:a16="http://schemas.microsoft.com/office/drawing/2014/main" id="{D6269A3F-CCF5-46D9-986C-9B4CB4D06EF9}"/>
              </a:ext>
            </a:extLst>
          </p:cNvPr>
          <p:cNvSpPr>
            <a:spLocks xmlns:a="http://schemas.openxmlformats.org/drawingml/2006/main" noGrp="1"/>
          </p:cNvSpPr>
          <p:nvPr/>
        </p:nvSpPr>
        <p:spPr>
          <a:xfrm xmlns:a="http://schemas.openxmlformats.org/drawingml/2006/main">
            <a:off x="400050" y="4448175"/>
            <a:ext cx="3257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Pairwise distance → project grouping</a:t>
            </a:r>
          </a:p>
          <a:p xmlns:a="http://schemas.openxmlformats.org/drawingml/2006/main">
            <a:pPr algn="l">
              <a:buNone/>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Close vs. distant candidates</a:t>
            </a:r>
          </a:p>
        </p:txBody>
      </p:sp>
      <p:sp>
        <p:nvSpPr>
          <p:cNvPr id="11" name="">
            <a:extLst xmlns:a="http://schemas.openxmlformats.org/drawingml/2006/main">
              <a:ext uri="{FF2B5EF4-FFF2-40B4-BE49-F238E27FC236}">
                <a16:creationId xmlns:a16="http://schemas.microsoft.com/office/drawing/2014/main" id="{4EC31DF6-EF14-4412-A7A3-3060D1BB04C0}"/>
              </a:ext>
            </a:extLst>
          </p:cNvPr>
          <p:cNvSpPr>
            <a:spLocks xmlns:a="http://schemas.openxmlformats.org/drawingml/2006/main" noGrp="1"/>
          </p:cNvSpPr>
          <p:nvPr/>
        </p:nvSpPr>
        <p:spPr>
          <a:xfrm xmlns:a="http://schemas.openxmlformats.org/drawingml/2006/main">
            <a:off x="4457700" y="23336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FUCHS ET AL. · 2014</a:t>
            </a:r>
          </a:p>
        </p:txBody>
      </p:sp>
      <p:sp>
        <p:nvSpPr>
          <p:cNvPr id="12" name="">
            <a:extLst xmlns:a="http://schemas.openxmlformats.org/drawingml/2006/main">
              <a:ext uri="{FF2B5EF4-FFF2-40B4-BE49-F238E27FC236}">
                <a16:creationId xmlns:a16="http://schemas.microsoft.com/office/drawing/2014/main" id="{76F664DD-32D2-4D74-AFD1-9BFCB43038D6}"/>
              </a:ext>
            </a:extLst>
          </p:cNvPr>
          <p:cNvSpPr>
            <a:spLocks xmlns:a="http://schemas.openxmlformats.org/drawingml/2006/main" noGrp="1"/>
          </p:cNvSpPr>
          <p:nvPr/>
        </p:nvSpPr>
        <p:spPr>
          <a:xfrm xmlns:a="http://schemas.openxmlformats.org/drawingml/2006/main">
            <a:off x="4457700" y="2838450"/>
            <a:ext cx="3257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Contour and fill effects</a:t>
            </a:r>
          </a:p>
        </p:txBody>
      </p:sp>
      <p:sp>
        <p:nvSpPr>
          <p:cNvPr id="13" name="">
            <a:extLst xmlns:a="http://schemas.openxmlformats.org/drawingml/2006/main">
              <a:ext uri="{FF2B5EF4-FFF2-40B4-BE49-F238E27FC236}">
                <a16:creationId xmlns:a16="http://schemas.microsoft.com/office/drawing/2014/main" id="{3A1EEE60-A551-45A7-8B43-4107C4FCBF00}"/>
              </a:ext>
            </a:extLst>
          </p:cNvPr>
          <p:cNvSpPr>
            <a:spLocks xmlns:a="http://schemas.openxmlformats.org/drawingml/2006/main" noGrp="1"/>
          </p:cNvSpPr>
          <p:nvPr/>
        </p:nvSpPr>
        <p:spPr>
          <a:xfrm xmlns:a="http://schemas.openxmlformats.org/drawingml/2006/main">
            <a:off x="4457700" y="4095750"/>
            <a:ext cx="3257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EFFECT ON THIS WORK</a:t>
            </a:r>
          </a:p>
        </p:txBody>
      </p:sp>
      <p:sp>
        <p:nvSpPr>
          <p:cNvPr id="14" name="">
            <a:extLst xmlns:a="http://schemas.openxmlformats.org/drawingml/2006/main">
              <a:ext uri="{FF2B5EF4-FFF2-40B4-BE49-F238E27FC236}">
                <a16:creationId xmlns:a16="http://schemas.microsoft.com/office/drawing/2014/main" id="{A3A71A89-A857-42F4-B5F3-7F4F205A6D42}"/>
              </a:ext>
            </a:extLst>
          </p:cNvPr>
          <p:cNvSpPr>
            <a:spLocks xmlns:a="http://schemas.openxmlformats.org/drawingml/2006/main" noGrp="1"/>
          </p:cNvSpPr>
          <p:nvPr/>
        </p:nvSpPr>
        <p:spPr>
          <a:xfrm xmlns:a="http://schemas.openxmlformats.org/drawingml/2006/main">
            <a:off x="4457700" y="4448175"/>
            <a:ext cx="3257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Enclosure · solid fill</a:t>
            </a:r>
          </a:p>
          <a:p xmlns:a="http://schemas.openxmlformats.org/drawingml/2006/main">
            <a:pPr algn="l">
              <a:buNone/>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Controlled contrasts</a:t>
            </a:r>
          </a:p>
        </p:txBody>
      </p:sp>
      <p:sp>
        <p:nvSpPr>
          <p:cNvPr id="15" name="">
            <a:extLst xmlns:a="http://schemas.openxmlformats.org/drawingml/2006/main">
              <a:ext uri="{FF2B5EF4-FFF2-40B4-BE49-F238E27FC236}">
                <a16:creationId xmlns:a16="http://schemas.microsoft.com/office/drawing/2014/main" id="{D3B7F20C-388F-43F0-8A3D-F29FF346EA4A}"/>
              </a:ext>
            </a:extLst>
          </p:cNvPr>
          <p:cNvSpPr>
            <a:spLocks xmlns:a="http://schemas.openxmlformats.org/drawingml/2006/main" noGrp="1"/>
          </p:cNvSpPr>
          <p:nvPr/>
        </p:nvSpPr>
        <p:spPr>
          <a:xfrm xmlns:a="http://schemas.openxmlformats.org/drawingml/2006/main">
            <a:off x="8515350" y="23336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FUCHS ET AL. · 2017</a:t>
            </a:r>
          </a:p>
        </p:txBody>
      </p:sp>
      <p:sp>
        <p:nvSpPr>
          <p:cNvPr id="16" name="">
            <a:extLst xmlns:a="http://schemas.openxmlformats.org/drawingml/2006/main">
              <a:ext uri="{FF2B5EF4-FFF2-40B4-BE49-F238E27FC236}">
                <a16:creationId xmlns:a16="http://schemas.microsoft.com/office/drawing/2014/main" id="{868B7868-2BDC-4608-9296-7BFFB9520885}"/>
              </a:ext>
            </a:extLst>
          </p:cNvPr>
          <p:cNvSpPr>
            <a:spLocks xmlns:a="http://schemas.openxmlformats.org/drawingml/2006/main" noGrp="1"/>
          </p:cNvSpPr>
          <p:nvPr/>
        </p:nvSpPr>
        <p:spPr>
          <a:xfrm xmlns:a="http://schemas.openxmlformats.org/drawingml/2006/main">
            <a:off x="8515350" y="2838450"/>
            <a:ext cx="3257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Task-dependent performance</a:t>
            </a:r>
          </a:p>
        </p:txBody>
      </p:sp>
      <p:sp>
        <p:nvSpPr>
          <p:cNvPr id="17" name="">
            <a:extLst xmlns:a="http://schemas.openxmlformats.org/drawingml/2006/main">
              <a:ext uri="{FF2B5EF4-FFF2-40B4-BE49-F238E27FC236}">
                <a16:creationId xmlns:a16="http://schemas.microsoft.com/office/drawing/2014/main" id="{CD62E24B-2525-44E3-A7C5-78AC7FB6431D}"/>
              </a:ext>
            </a:extLst>
          </p:cNvPr>
          <p:cNvSpPr>
            <a:spLocks xmlns:a="http://schemas.openxmlformats.org/drawingml/2006/main" noGrp="1"/>
          </p:cNvSpPr>
          <p:nvPr/>
        </p:nvSpPr>
        <p:spPr>
          <a:xfrm xmlns:a="http://schemas.openxmlformats.org/drawingml/2006/main">
            <a:off x="8515350" y="4095750"/>
            <a:ext cx="3257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EFFECT ON THIS WORK</a:t>
            </a:r>
          </a:p>
        </p:txBody>
      </p:sp>
      <p:sp>
        <p:nvSpPr>
          <p:cNvPr id="18" name="">
            <a:extLst xmlns:a="http://schemas.openxmlformats.org/drawingml/2006/main">
              <a:ext uri="{FF2B5EF4-FFF2-40B4-BE49-F238E27FC236}">
                <a16:creationId xmlns:a16="http://schemas.microsoft.com/office/drawing/2014/main" id="{BCA0BDAE-07F6-4647-A770-63D25D4DF8F3}"/>
              </a:ext>
            </a:extLst>
          </p:cNvPr>
          <p:cNvSpPr>
            <a:spLocks xmlns:a="http://schemas.openxmlformats.org/drawingml/2006/main" noGrp="1"/>
          </p:cNvSpPr>
          <p:nvPr/>
        </p:nvSpPr>
        <p:spPr>
          <a:xfrm xmlns:a="http://schemas.openxmlformats.org/drawingml/2006/main">
            <a:off x="8515350" y="4448175"/>
            <a:ext cx="3257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Dashboard-selected stimuli</a:t>
            </a:r>
          </a:p>
          <a:p xmlns:a="http://schemas.openxmlformats.org/drawingml/2006/main">
            <a:pPr algn="l">
              <a:buNone/>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Participant validation</a:t>
            </a:r>
          </a:p>
        </p:txBody>
      </p:sp>
      <p:sp>
        <p:nvSpPr>
          <p:cNvPr id="19" name="">
            <a:extLst xmlns:a="http://schemas.openxmlformats.org/drawingml/2006/main">
              <a:ext uri="{FF2B5EF4-FFF2-40B4-BE49-F238E27FC236}">
                <a16:creationId xmlns:a16="http://schemas.microsoft.com/office/drawing/2014/main" id="{39D12C37-AA13-43EA-AADC-82B35E31C190}"/>
              </a:ext>
            </a:extLst>
          </p:cNvPr>
          <p:cNvSpPr>
            <a:spLocks xmlns:a="http://schemas.openxmlformats.org/drawingml/2006/main" noGrp="1"/>
          </p:cNvSpPr>
          <p:nvPr/>
        </p:nvSpPr>
        <p:spPr>
          <a:xfrm xmlns:a="http://schemas.openxmlformats.org/drawingml/2006/main">
            <a:off x="723900" y="5562600"/>
            <a:ext cx="10744200" cy="666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C43F3FF-B0CA-4CE2-900B-F9C254384F75}"/>
              </a:ext>
            </a:extLst>
          </p:cNvPr>
          <p:cNvSpPr>
            <a:spLocks xmlns:a="http://schemas.openxmlformats.org/drawingml/2006/main" noGrp="1"/>
          </p:cNvSpPr>
          <p:nvPr/>
        </p:nvSpPr>
        <p:spPr>
          <a:xfrm xmlns:a="http://schemas.openxmlformats.org/drawingml/2006/main">
            <a:off x="952500" y="57435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Thesis contribution · Confusion thresholds as display size decreases</a:t>
            </a:r>
          </a:p>
        </p:txBody>
      </p:sp>
    </p:spTree>
    <p:extLst>
      <p:ext uri="{BB962C8B-B14F-4D97-AF65-F5344CB8AC3E}">
        <p14:creationId xmlns:p14="http://schemas.microsoft.com/office/powerpoint/2010/main" val="9207117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8AAAA42-8B25-400A-BA7F-C56A15E05FB0}"/>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05 · RESEARCH JOURNEY</a:t>
            </a:r>
          </a:p>
        </p:txBody>
      </p:sp>
      <p:sp>
        <p:nvSpPr>
          <p:cNvPr id="2" name="">
            <a:extLst xmlns:a="http://schemas.openxmlformats.org/drawingml/2006/main">
              <a:ext uri="{FF2B5EF4-FFF2-40B4-BE49-F238E27FC236}">
                <a16:creationId xmlns:a16="http://schemas.microsoft.com/office/drawing/2014/main" id="{BC9C03BA-CD91-40A6-8647-11D2A9E1530D}"/>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8468B8B1-6438-4CB6-BD1A-1A5201584F03}"/>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Analysis prepared glyph selection</a:t>
            </a:r>
          </a:p>
        </p:txBody>
      </p:sp>
      <p:sp>
        <p:nvSpPr>
          <p:cNvPr id="4" name="">
            <a:extLst xmlns:a="http://schemas.openxmlformats.org/drawingml/2006/main">
              <a:ext uri="{FF2B5EF4-FFF2-40B4-BE49-F238E27FC236}">
                <a16:creationId xmlns:a16="http://schemas.microsoft.com/office/drawing/2014/main" id="{D8F8F6A1-4C33-49F9-B6FB-A8019186F02F}"/>
              </a:ext>
            </a:extLst>
          </p:cNvPr>
          <p:cNvSpPr>
            <a:spLocks xmlns:a="http://schemas.openxmlformats.org/drawingml/2006/main" noGrp="1"/>
          </p:cNvSpPr>
          <p:nvPr/>
        </p:nvSpPr>
        <p:spPr>
          <a:xfrm xmlns:a="http://schemas.openxmlformats.org/drawingml/2006/main">
            <a:off x="400050" y="15049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Corpus → reliable features → comparable exploration → interpretable clusters</a:t>
            </a:r>
          </a:p>
        </p:txBody>
      </p:sp>
      <p:sp>
        <p:nvSpPr>
          <p:cNvPr id="5" name="">
            <a:extLst xmlns:a="http://schemas.openxmlformats.org/drawingml/2006/main">
              <a:ext uri="{FF2B5EF4-FFF2-40B4-BE49-F238E27FC236}">
                <a16:creationId xmlns:a16="http://schemas.microsoft.com/office/drawing/2014/main" id="{19356DCD-7368-4A0F-BD13-8419759FE650}"/>
              </a:ext>
            </a:extLst>
          </p:cNvPr>
          <p:cNvSpPr>
            <a:spLocks xmlns:a="http://schemas.openxmlformats.org/drawingml/2006/main" noGrp="1"/>
          </p:cNvSpPr>
          <p:nvPr/>
        </p:nvSpPr>
        <p:spPr>
          <a:xfrm xmlns:a="http://schemas.openxmlformats.org/drawingml/2006/main">
            <a:off x="1123950" y="3343275"/>
            <a:ext cx="9848850" cy="47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D53894-7F47-442D-B18B-60044F07D03C}"/>
              </a:ext>
            </a:extLst>
          </p:cNvPr>
          <p:cNvSpPr>
            <a:spLocks xmlns:a="http://schemas.openxmlformats.org/drawingml/2006/main" noGrp="1"/>
          </p:cNvSpPr>
          <p:nvPr/>
        </p:nvSpPr>
        <p:spPr>
          <a:xfrm xmlns:a="http://schemas.openxmlformats.org/drawingml/2006/main">
            <a:off x="1095375"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7" name="">
            <a:extLst xmlns:a="http://schemas.openxmlformats.org/drawingml/2006/main">
              <a:ext uri="{FF2B5EF4-FFF2-40B4-BE49-F238E27FC236}">
                <a16:creationId xmlns:a16="http://schemas.microsoft.com/office/drawing/2014/main" id="{BE04D5F3-02CB-47B1-B3FE-761AEAAFD089}"/>
              </a:ext>
            </a:extLst>
          </p:cNvPr>
          <p:cNvSpPr>
            <a:spLocks xmlns:a="http://schemas.openxmlformats.org/drawingml/2006/main" noGrp="1"/>
          </p:cNvSpPr>
          <p:nvPr/>
        </p:nvSpPr>
        <p:spPr>
          <a:xfrm xmlns:a="http://schemas.openxmlformats.org/drawingml/2006/main">
            <a:off x="514350"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JUNE</a:t>
            </a:r>
          </a:p>
        </p:txBody>
      </p:sp>
      <p:sp>
        <p:nvSpPr>
          <p:cNvPr id="8" name="">
            <a:extLst xmlns:a="http://schemas.openxmlformats.org/drawingml/2006/main">
              <a:ext uri="{FF2B5EF4-FFF2-40B4-BE49-F238E27FC236}">
                <a16:creationId xmlns:a16="http://schemas.microsoft.com/office/drawing/2014/main" id="{B59CEEC5-6C49-40FB-AB0D-27DA7AD2FE5C}"/>
              </a:ext>
            </a:extLst>
          </p:cNvPr>
          <p:cNvSpPr>
            <a:spLocks xmlns:a="http://schemas.openxmlformats.org/drawingml/2006/main" noGrp="1"/>
          </p:cNvSpPr>
          <p:nvPr/>
        </p:nvSpPr>
        <p:spPr>
          <a:xfrm xmlns:a="http://schemas.openxmlformats.org/drawingml/2006/main">
            <a:off x="514350"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Corpus + first pipeline</a:t>
            </a:r>
          </a:p>
        </p:txBody>
      </p:sp>
      <p:sp>
        <p:nvSpPr>
          <p:cNvPr id="9" name="">
            <a:extLst xmlns:a="http://schemas.openxmlformats.org/drawingml/2006/main">
              <a:ext uri="{FF2B5EF4-FFF2-40B4-BE49-F238E27FC236}">
                <a16:creationId xmlns:a16="http://schemas.microsoft.com/office/drawing/2014/main" id="{14358AA2-07A6-49E2-A4ED-9A95871D9D0D}"/>
              </a:ext>
            </a:extLst>
          </p:cNvPr>
          <p:cNvSpPr>
            <a:spLocks xmlns:a="http://schemas.openxmlformats.org/drawingml/2006/main" noGrp="1"/>
          </p:cNvSpPr>
          <p:nvPr/>
        </p:nvSpPr>
        <p:spPr>
          <a:xfrm xmlns:a="http://schemas.openxmlformats.org/drawingml/2006/main">
            <a:off x="514350"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13 icon sets</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Normalized images</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First extraction + dashboard</a:t>
            </a:r>
          </a:p>
        </p:txBody>
      </p:sp>
      <p:sp>
        <p:nvSpPr>
          <p:cNvPr id="10" name="">
            <a:extLst xmlns:a="http://schemas.openxmlformats.org/drawingml/2006/main">
              <a:ext uri="{FF2B5EF4-FFF2-40B4-BE49-F238E27FC236}">
                <a16:creationId xmlns:a16="http://schemas.microsoft.com/office/drawing/2014/main" id="{01A2D0DC-3A01-490C-BA75-F5BFDB8E4432}"/>
              </a:ext>
            </a:extLst>
          </p:cNvPr>
          <p:cNvSpPr>
            <a:spLocks xmlns:a="http://schemas.openxmlformats.org/drawingml/2006/main" noGrp="1"/>
          </p:cNvSpPr>
          <p:nvPr/>
        </p:nvSpPr>
        <p:spPr>
          <a:xfrm xmlns:a="http://schemas.openxmlformats.org/drawingml/2006/main">
            <a:off x="3981450"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11" name="">
            <a:extLst xmlns:a="http://schemas.openxmlformats.org/drawingml/2006/main">
              <a:ext uri="{FF2B5EF4-FFF2-40B4-BE49-F238E27FC236}">
                <a16:creationId xmlns:a16="http://schemas.microsoft.com/office/drawing/2014/main" id="{0AAFC2B8-8883-41ED-95EF-B1BFD7B28EC4}"/>
              </a:ext>
            </a:extLst>
          </p:cNvPr>
          <p:cNvSpPr>
            <a:spLocks xmlns:a="http://schemas.openxmlformats.org/drawingml/2006/main" noGrp="1"/>
          </p:cNvSpPr>
          <p:nvPr/>
        </p:nvSpPr>
        <p:spPr>
          <a:xfrm xmlns:a="http://schemas.openxmlformats.org/drawingml/2006/main">
            <a:off x="3400425"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JULY</a:t>
            </a:r>
          </a:p>
        </p:txBody>
      </p:sp>
      <p:sp>
        <p:nvSpPr>
          <p:cNvPr id="12" name="">
            <a:extLst xmlns:a="http://schemas.openxmlformats.org/drawingml/2006/main">
              <a:ext uri="{FF2B5EF4-FFF2-40B4-BE49-F238E27FC236}">
                <a16:creationId xmlns:a16="http://schemas.microsoft.com/office/drawing/2014/main" id="{405EA3CF-6E1B-464A-A328-EC0E7CF30E22}"/>
              </a:ext>
            </a:extLst>
          </p:cNvPr>
          <p:cNvSpPr>
            <a:spLocks xmlns:a="http://schemas.openxmlformats.org/drawingml/2006/main" noGrp="1"/>
          </p:cNvSpPr>
          <p:nvPr/>
        </p:nvSpPr>
        <p:spPr>
          <a:xfrm xmlns:a="http://schemas.openxmlformats.org/drawingml/2006/main">
            <a:off x="3400425"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Feature repair</a:t>
            </a:r>
          </a:p>
        </p:txBody>
      </p:sp>
      <p:sp>
        <p:nvSpPr>
          <p:cNvPr id="13" name="">
            <a:extLst xmlns:a="http://schemas.openxmlformats.org/drawingml/2006/main">
              <a:ext uri="{FF2B5EF4-FFF2-40B4-BE49-F238E27FC236}">
                <a16:creationId xmlns:a16="http://schemas.microsoft.com/office/drawing/2014/main" id="{02179781-B58C-4AC5-89AD-4FEB1BE08062}"/>
              </a:ext>
            </a:extLst>
          </p:cNvPr>
          <p:cNvSpPr>
            <a:spLocks xmlns:a="http://schemas.openxmlformats.org/drawingml/2006/main" noGrp="1"/>
          </p:cNvSpPr>
          <p:nvPr/>
        </p:nvSpPr>
        <p:spPr>
          <a:xfrm xmlns:a="http://schemas.openxmlformats.org/drawingml/2006/main">
            <a:off x="3400425"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Corrected semantics</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Schema v2</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Shared feature registry</a:t>
            </a:r>
          </a:p>
        </p:txBody>
      </p:sp>
      <p:sp>
        <p:nvSpPr>
          <p:cNvPr id="14" name="">
            <a:extLst xmlns:a="http://schemas.openxmlformats.org/drawingml/2006/main">
              <a:ext uri="{FF2B5EF4-FFF2-40B4-BE49-F238E27FC236}">
                <a16:creationId xmlns:a16="http://schemas.microsoft.com/office/drawing/2014/main" id="{591576ED-BCE9-4ECD-A798-B5006EE391D3}"/>
              </a:ext>
            </a:extLst>
          </p:cNvPr>
          <p:cNvSpPr>
            <a:spLocks xmlns:a="http://schemas.openxmlformats.org/drawingml/2006/main" noGrp="1"/>
          </p:cNvSpPr>
          <p:nvPr/>
        </p:nvSpPr>
        <p:spPr>
          <a:xfrm xmlns:a="http://schemas.openxmlformats.org/drawingml/2006/main">
            <a:off x="6867525"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15" name="">
            <a:extLst xmlns:a="http://schemas.openxmlformats.org/drawingml/2006/main">
              <a:ext uri="{FF2B5EF4-FFF2-40B4-BE49-F238E27FC236}">
                <a16:creationId xmlns:a16="http://schemas.microsoft.com/office/drawing/2014/main" id="{E12BCC7D-68F2-46EC-951E-6A59E23042AF}"/>
              </a:ext>
            </a:extLst>
          </p:cNvPr>
          <p:cNvSpPr>
            <a:spLocks xmlns:a="http://schemas.openxmlformats.org/drawingml/2006/main" noGrp="1"/>
          </p:cNvSpPr>
          <p:nvPr/>
        </p:nvSpPr>
        <p:spPr>
          <a:xfrm xmlns:a="http://schemas.openxmlformats.org/drawingml/2006/main">
            <a:off x="6286500"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EARLY AUG</a:t>
            </a:r>
          </a:p>
        </p:txBody>
      </p:sp>
      <p:sp>
        <p:nvSpPr>
          <p:cNvPr id="16" name="">
            <a:extLst xmlns:a="http://schemas.openxmlformats.org/drawingml/2006/main">
              <a:ext uri="{FF2B5EF4-FFF2-40B4-BE49-F238E27FC236}">
                <a16:creationId xmlns:a16="http://schemas.microsoft.com/office/drawing/2014/main" id="{88A6E8D8-02D8-403C-B9A0-2BD5E6C80125}"/>
              </a:ext>
            </a:extLst>
          </p:cNvPr>
          <p:cNvSpPr>
            <a:spLocks xmlns:a="http://schemas.openxmlformats.org/drawingml/2006/main" noGrp="1"/>
          </p:cNvSpPr>
          <p:nvPr/>
        </p:nvSpPr>
        <p:spPr>
          <a:xfrm xmlns:a="http://schemas.openxmlformats.org/drawingml/2006/main">
            <a:off x="6286500"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Comparable exploration</a:t>
            </a:r>
          </a:p>
        </p:txBody>
      </p:sp>
      <p:sp>
        <p:nvSpPr>
          <p:cNvPr id="17" name="">
            <a:extLst xmlns:a="http://schemas.openxmlformats.org/drawingml/2006/main">
              <a:ext uri="{FF2B5EF4-FFF2-40B4-BE49-F238E27FC236}">
                <a16:creationId xmlns:a16="http://schemas.microsoft.com/office/drawing/2014/main" id="{1E27E42B-925B-41AD-9DDB-71B3A14FF12C}"/>
              </a:ext>
            </a:extLst>
          </p:cNvPr>
          <p:cNvSpPr>
            <a:spLocks xmlns:a="http://schemas.openxmlformats.org/drawingml/2006/main" noGrp="1"/>
          </p:cNvSpPr>
          <p:nvPr/>
        </p:nvSpPr>
        <p:spPr>
          <a:xfrm xmlns:a="http://schemas.openxmlformats.org/drawingml/2006/main">
            <a:off x="6286500"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Balanced sampling</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Saved AI runs</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Side-by-side comparison</a:t>
            </a:r>
          </a:p>
        </p:txBody>
      </p:sp>
      <p:sp>
        <p:nvSpPr>
          <p:cNvPr id="18" name="">
            <a:extLst xmlns:a="http://schemas.openxmlformats.org/drawingml/2006/main">
              <a:ext uri="{FF2B5EF4-FFF2-40B4-BE49-F238E27FC236}">
                <a16:creationId xmlns:a16="http://schemas.microsoft.com/office/drawing/2014/main" id="{BEA13E16-3804-47A9-80AA-127E499D78D1}"/>
              </a:ext>
            </a:extLst>
          </p:cNvPr>
          <p:cNvSpPr>
            <a:spLocks xmlns:a="http://schemas.openxmlformats.org/drawingml/2006/main" noGrp="1"/>
          </p:cNvSpPr>
          <p:nvPr/>
        </p:nvSpPr>
        <p:spPr>
          <a:xfrm xmlns:a="http://schemas.openxmlformats.org/drawingml/2006/main">
            <a:off x="9753600"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19" name="">
            <a:extLst xmlns:a="http://schemas.openxmlformats.org/drawingml/2006/main">
              <a:ext uri="{FF2B5EF4-FFF2-40B4-BE49-F238E27FC236}">
                <a16:creationId xmlns:a16="http://schemas.microsoft.com/office/drawing/2014/main" id="{4D7AC5C8-9CC7-48E2-B091-D5DB1E356F86}"/>
              </a:ext>
            </a:extLst>
          </p:cNvPr>
          <p:cNvSpPr>
            <a:spLocks xmlns:a="http://schemas.openxmlformats.org/drawingml/2006/main" noGrp="1"/>
          </p:cNvSpPr>
          <p:nvPr/>
        </p:nvSpPr>
        <p:spPr>
          <a:xfrm xmlns:a="http://schemas.openxmlformats.org/drawingml/2006/main">
            <a:off x="9172575"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10 AUG</a:t>
            </a:r>
          </a:p>
        </p:txBody>
      </p:sp>
      <p:sp>
        <p:nvSpPr>
          <p:cNvPr id="20" name="">
            <a:extLst xmlns:a="http://schemas.openxmlformats.org/drawingml/2006/main">
              <a:ext uri="{FF2B5EF4-FFF2-40B4-BE49-F238E27FC236}">
                <a16:creationId xmlns:a16="http://schemas.microsoft.com/office/drawing/2014/main" id="{2EED16D4-D284-43C5-9301-244CB2CBA821}"/>
              </a:ext>
            </a:extLst>
          </p:cNvPr>
          <p:cNvSpPr>
            <a:spLocks xmlns:a="http://schemas.openxmlformats.org/drawingml/2006/main" noGrp="1"/>
          </p:cNvSpPr>
          <p:nvPr/>
        </p:nvSpPr>
        <p:spPr>
          <a:xfrm xmlns:a="http://schemas.openxmlformats.org/drawingml/2006/main">
            <a:off x="9172575"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Interpretability</a:t>
            </a:r>
          </a:p>
        </p:txBody>
      </p:sp>
      <p:sp>
        <p:nvSpPr>
          <p:cNvPr id="21" name="">
            <a:extLst xmlns:a="http://schemas.openxmlformats.org/drawingml/2006/main">
              <a:ext uri="{FF2B5EF4-FFF2-40B4-BE49-F238E27FC236}">
                <a16:creationId xmlns:a16="http://schemas.microsoft.com/office/drawing/2014/main" id="{EB449BE0-F875-4FB3-AC3F-694CC26A391C}"/>
              </a:ext>
            </a:extLst>
          </p:cNvPr>
          <p:cNvSpPr>
            <a:spLocks xmlns:a="http://schemas.openxmlformats.org/drawingml/2006/main" noGrp="1"/>
          </p:cNvSpPr>
          <p:nvPr/>
        </p:nvSpPr>
        <p:spPr>
          <a:xfrm xmlns:a="http://schemas.openxmlformats.org/drawingml/2006/main">
            <a:off x="9172575"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Lasso selection</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Cluster summaries</a:t>
            </a:r>
          </a:p>
          <a:p xmlns:a="http://schemas.openxmlformats.org/drawingml/2006/main">
            <a:pPr algn="ctr">
              <a:buNone/>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Post-hoc feature profiles</a:t>
            </a:r>
          </a:p>
        </p:txBody>
      </p:sp>
      <p:sp>
        <p:nvSpPr>
          <p:cNvPr id="22" name="">
            <a:extLst xmlns:a="http://schemas.openxmlformats.org/drawingml/2006/main">
              <a:ext uri="{FF2B5EF4-FFF2-40B4-BE49-F238E27FC236}">
                <a16:creationId xmlns:a16="http://schemas.microsoft.com/office/drawing/2014/main" id="{EC8BE0EA-4B84-4526-A60E-C2C79F0E5D17}"/>
              </a:ext>
            </a:extLst>
          </p:cNvPr>
          <p:cNvSpPr>
            <a:spLocks xmlns:a="http://schemas.openxmlformats.org/drawingml/2006/main" noGrp="1"/>
          </p:cNvSpPr>
          <p:nvPr/>
        </p:nvSpPr>
        <p:spPr>
          <a:xfrm xmlns:a="http://schemas.openxmlformats.org/drawingml/2006/main">
            <a:off x="1695450" y="5619750"/>
            <a:ext cx="8801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Result · Controlled glyph selection basis—not a discernibility threshold</a:t>
            </a:r>
          </a:p>
        </p:txBody>
      </p:sp>
    </p:spTree>
    <p:extLst>
      <p:ext uri="{BB962C8B-B14F-4D97-AF65-F5344CB8AC3E}">
        <p14:creationId xmlns:p14="http://schemas.microsoft.com/office/powerpoint/2010/main" val="15854712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0FB2351A-9E71-41EC-89E8-65A7E0244156}"/>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06 · IMPLEMENTATION</a:t>
            </a:r>
          </a:p>
        </p:txBody>
      </p:sp>
      <p:sp>
        <p:nvSpPr>
          <p:cNvPr id="2" name="">
            <a:extLst xmlns:a="http://schemas.openxmlformats.org/drawingml/2006/main">
              <a:ext uri="{FF2B5EF4-FFF2-40B4-BE49-F238E27FC236}">
                <a16:creationId xmlns:a16="http://schemas.microsoft.com/office/drawing/2014/main" id="{4015F03E-7BE0-4B3D-9B51-F3D0CBF4374E}"/>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37BCC302-8170-4D54-88F8-4AF386B1B39F}"/>
              </a:ext>
            </a:extLst>
          </p:cNvPr>
          <p:cNvSpPr>
            <a:spLocks xmlns:a="http://schemas.openxmlformats.org/drawingml/2006/main" noGrp="1"/>
          </p:cNvSpPr>
          <p:nvPr/>
        </p:nvSpPr>
        <p:spPr>
          <a:xfrm xmlns:a="http://schemas.openxmlformats.org/drawingml/2006/main">
            <a:off x="400050" y="723900"/>
            <a:ext cx="11391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Thirteen source sets provide 28,749 study candidates</a:t>
            </a:r>
          </a:p>
        </p:txBody>
      </p:sp>
      <p:sp>
        <p:nvSpPr>
          <p:cNvPr id="4" name="">
            <a:extLst xmlns:a="http://schemas.openxmlformats.org/drawingml/2006/main">
              <a:ext uri="{FF2B5EF4-FFF2-40B4-BE49-F238E27FC236}">
                <a16:creationId xmlns:a16="http://schemas.microsoft.com/office/drawing/2014/main" id="{6238D796-B81A-4DD9-9902-4C872F64AD7D}"/>
              </a:ext>
            </a:extLst>
          </p:cNvPr>
          <p:cNvSpPr>
            <a:spLocks xmlns:a="http://schemas.openxmlformats.org/drawingml/2006/main" noGrp="1"/>
          </p:cNvSpPr>
          <p:nvPr/>
        </p:nvSpPr>
        <p:spPr>
          <a:xfrm xmlns:a="http://schemas.openxmlformats.org/drawingml/2006/main">
            <a:off x="400050" y="13620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Canonical records · stable IDs · duplicates and alternate exports excluded</a:t>
            </a:r>
          </a:p>
        </p:txBody>
      </p:sp>
      <p:sp>
        <p:nvSpPr>
          <p:cNvPr id="5" name="">
            <a:extLst xmlns:a="http://schemas.openxmlformats.org/drawingml/2006/main">
              <a:ext uri="{FF2B5EF4-FFF2-40B4-BE49-F238E27FC236}">
                <a16:creationId xmlns:a16="http://schemas.microsoft.com/office/drawing/2014/main" id="{EA5C347C-7378-462E-88DA-C8BCEC175322}"/>
              </a:ext>
            </a:extLst>
          </p:cNvPr>
          <p:cNvSpPr>
            <a:spLocks xmlns:a="http://schemas.openxmlformats.org/drawingml/2006/main" noGrp="1"/>
          </p:cNvSpPr>
          <p:nvPr/>
        </p:nvSpPr>
        <p:spPr>
          <a:xfrm xmlns:a="http://schemas.openxmlformats.org/drawingml/2006/main">
            <a:off x="400050" y="1790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SOURCE SET + EXAMPLE</a:t>
            </a:r>
          </a:p>
        </p:txBody>
      </p:sp>
      <p:sp>
        <p:nvSpPr>
          <p:cNvPr id="6" name="">
            <a:extLst xmlns:a="http://schemas.openxmlformats.org/drawingml/2006/main">
              <a:ext uri="{FF2B5EF4-FFF2-40B4-BE49-F238E27FC236}">
                <a16:creationId xmlns:a16="http://schemas.microsoft.com/office/drawing/2014/main" id="{CB83C33C-731A-4293-A7C7-E3D55C073CE6}"/>
              </a:ext>
            </a:extLst>
          </p:cNvPr>
          <p:cNvSpPr>
            <a:spLocks xmlns:a="http://schemas.openxmlformats.org/drawingml/2006/main" noGrp="1"/>
          </p:cNvSpPr>
          <p:nvPr/>
        </p:nvSpPr>
        <p:spPr>
          <a:xfrm xmlns:a="http://schemas.openxmlformats.org/drawingml/2006/main">
            <a:off x="5010150" y="1790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ICONS</a:t>
            </a:r>
          </a:p>
        </p:txBody>
      </p:sp>
      <p:sp>
        <p:nvSpPr>
          <p:cNvPr id="7" name="">
            <a:extLst xmlns:a="http://schemas.openxmlformats.org/drawingml/2006/main">
              <a:ext uri="{FF2B5EF4-FFF2-40B4-BE49-F238E27FC236}">
                <a16:creationId xmlns:a16="http://schemas.microsoft.com/office/drawing/2014/main" id="{6A433BA6-65D7-42BC-902D-EC336F0E186D}"/>
              </a:ext>
            </a:extLst>
          </p:cNvPr>
          <p:cNvSpPr>
            <a:spLocks xmlns:a="http://schemas.openxmlformats.org/drawingml/2006/main" noGrp="1"/>
          </p:cNvSpPr>
          <p:nvPr/>
        </p:nvSpPr>
        <p:spPr>
          <a:xfrm xmlns:a="http://schemas.openxmlformats.org/drawingml/2006/main">
            <a:off x="6153150" y="1790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SOURCE SET + EXAMPLE</a:t>
            </a:r>
          </a:p>
        </p:txBody>
      </p:sp>
      <p:sp>
        <p:nvSpPr>
          <p:cNvPr id="8" name="">
            <a:extLst xmlns:a="http://schemas.openxmlformats.org/drawingml/2006/main">
              <a:ext uri="{FF2B5EF4-FFF2-40B4-BE49-F238E27FC236}">
                <a16:creationId xmlns:a16="http://schemas.microsoft.com/office/drawing/2014/main" id="{2460EBCD-2B12-498B-A7E2-F834E6B853B8}"/>
              </a:ext>
            </a:extLst>
          </p:cNvPr>
          <p:cNvSpPr>
            <a:spLocks xmlns:a="http://schemas.openxmlformats.org/drawingml/2006/main" noGrp="1"/>
          </p:cNvSpPr>
          <p:nvPr/>
        </p:nvSpPr>
        <p:spPr>
          <a:xfrm xmlns:a="http://schemas.openxmlformats.org/drawingml/2006/main">
            <a:off x="10763250" y="1790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ICONS</a:t>
            </a:r>
          </a:p>
        </p:txBody>
      </p:sp>
      <p:sp>
        <p:nvSpPr>
          <p:cNvPr id="9" name="">
            <a:extLst xmlns:a="http://schemas.openxmlformats.org/drawingml/2006/main">
              <a:ext uri="{FF2B5EF4-FFF2-40B4-BE49-F238E27FC236}">
                <a16:creationId xmlns:a16="http://schemas.microsoft.com/office/drawing/2014/main" id="{9B784AB3-209C-4A0D-B05C-FE0C43ECFA8A}"/>
              </a:ext>
            </a:extLst>
          </p:cNvPr>
          <p:cNvSpPr>
            <a:spLocks xmlns:a="http://schemas.openxmlformats.org/drawingml/2006/main" noGrp="1"/>
          </p:cNvSpPr>
          <p:nvPr/>
        </p:nvSpPr>
        <p:spPr>
          <a:xfrm xmlns:a="http://schemas.openxmlformats.org/drawingml/2006/main">
            <a:off x="400050" y="20574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aa913ed4c33b4871"/>
          <a:stretch xmlns:a="http://schemas.openxmlformats.org/drawingml/2006/main"/>
        </p:blipFill>
        <p:spPr>
          <a:xfrm xmlns:a="http://schemas.openxmlformats.org/drawingml/2006/main">
            <a:off x="438150" y="2095500"/>
            <a:ext cx="342900" cy="342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87874FC-BF66-4899-B91F-6FB00E4B275E}"/>
              </a:ext>
            </a:extLst>
          </p:cNvPr>
          <p:cNvSpPr>
            <a:spLocks xmlns:a="http://schemas.openxmlformats.org/drawingml/2006/main" noGrp="1"/>
          </p:cNvSpPr>
          <p:nvPr/>
        </p:nvSpPr>
        <p:spPr>
          <a:xfrm xmlns:a="http://schemas.openxmlformats.org/drawingml/2006/main">
            <a:off x="952500" y="2152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ARASAAC pictograms</a:t>
            </a:r>
          </a:p>
        </p:txBody>
      </p:sp>
      <p:sp>
        <p:nvSpPr>
          <p:cNvPr id="12" name="">
            <a:extLst xmlns:a="http://schemas.openxmlformats.org/drawingml/2006/main">
              <a:ext uri="{FF2B5EF4-FFF2-40B4-BE49-F238E27FC236}">
                <a16:creationId xmlns:a16="http://schemas.microsoft.com/office/drawing/2014/main" id="{3C95A858-982A-44E9-B3AE-95CAD5F4F8B6}"/>
              </a:ext>
            </a:extLst>
          </p:cNvPr>
          <p:cNvSpPr>
            <a:spLocks xmlns:a="http://schemas.openxmlformats.org/drawingml/2006/main" noGrp="1"/>
          </p:cNvSpPr>
          <p:nvPr/>
        </p:nvSpPr>
        <p:spPr>
          <a:xfrm xmlns:a="http://schemas.openxmlformats.org/drawingml/2006/main">
            <a:off x="4914900" y="21526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13,798</a:t>
            </a:r>
          </a:p>
        </p:txBody>
      </p:sp>
      <p:sp>
        <p:nvSpPr>
          <p:cNvPr id="13" name="">
            <a:extLst xmlns:a="http://schemas.openxmlformats.org/drawingml/2006/main">
              <a:ext uri="{FF2B5EF4-FFF2-40B4-BE49-F238E27FC236}">
                <a16:creationId xmlns:a16="http://schemas.microsoft.com/office/drawing/2014/main" id="{2569C4BC-F6B5-47FA-834A-C62BD0025876}"/>
              </a:ext>
            </a:extLst>
          </p:cNvPr>
          <p:cNvSpPr>
            <a:spLocks xmlns:a="http://schemas.openxmlformats.org/drawingml/2006/main" noGrp="1"/>
          </p:cNvSpPr>
          <p:nvPr/>
        </p:nvSpPr>
        <p:spPr>
          <a:xfrm xmlns:a="http://schemas.openxmlformats.org/drawingml/2006/main">
            <a:off x="952500" y="25050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7E20E28-14E6-4AC2-87E1-C1572B8AFE54}"/>
              </a:ext>
            </a:extLst>
          </p:cNvPr>
          <p:cNvSpPr>
            <a:spLocks xmlns:a="http://schemas.openxmlformats.org/drawingml/2006/main" noGrp="1"/>
          </p:cNvSpPr>
          <p:nvPr/>
        </p:nvSpPr>
        <p:spPr>
          <a:xfrm xmlns:a="http://schemas.openxmlformats.org/drawingml/2006/main">
            <a:off x="400050" y="25908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414b13dc4b7d4026"/>
          <a:stretch xmlns:a="http://schemas.openxmlformats.org/drawingml/2006/main"/>
        </p:blipFill>
        <p:spPr>
          <a:xfrm xmlns:a="http://schemas.openxmlformats.org/drawingml/2006/main">
            <a:off x="438150" y="2628900"/>
            <a:ext cx="342900" cy="34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23DC020-C75E-4DF8-93E1-2C8DA48469FB}"/>
              </a:ext>
            </a:extLst>
          </p:cNvPr>
          <p:cNvSpPr>
            <a:spLocks xmlns:a="http://schemas.openxmlformats.org/drawingml/2006/main" noGrp="1"/>
          </p:cNvSpPr>
          <p:nvPr/>
        </p:nvSpPr>
        <p:spPr>
          <a:xfrm xmlns:a="http://schemas.openxmlformats.org/drawingml/2006/main">
            <a:off x="952500" y="26860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Blissymbolics</a:t>
            </a:r>
          </a:p>
        </p:txBody>
      </p:sp>
      <p:sp>
        <p:nvSpPr>
          <p:cNvPr id="17" name="">
            <a:extLst xmlns:a="http://schemas.openxmlformats.org/drawingml/2006/main">
              <a:ext uri="{FF2B5EF4-FFF2-40B4-BE49-F238E27FC236}">
                <a16:creationId xmlns:a16="http://schemas.microsoft.com/office/drawing/2014/main" id="{7FF2F293-857C-4C1D-8444-577E5C26ADE3}"/>
              </a:ext>
            </a:extLst>
          </p:cNvPr>
          <p:cNvSpPr>
            <a:spLocks xmlns:a="http://schemas.openxmlformats.org/drawingml/2006/main" noGrp="1"/>
          </p:cNvSpPr>
          <p:nvPr/>
        </p:nvSpPr>
        <p:spPr>
          <a:xfrm xmlns:a="http://schemas.openxmlformats.org/drawingml/2006/main">
            <a:off x="4914900" y="26860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5,825</a:t>
            </a:r>
          </a:p>
        </p:txBody>
      </p:sp>
      <p:sp>
        <p:nvSpPr>
          <p:cNvPr id="18" name="">
            <a:extLst xmlns:a="http://schemas.openxmlformats.org/drawingml/2006/main">
              <a:ext uri="{FF2B5EF4-FFF2-40B4-BE49-F238E27FC236}">
                <a16:creationId xmlns:a16="http://schemas.microsoft.com/office/drawing/2014/main" id="{0385A62D-1BE8-42E5-95BA-30C288906D34}"/>
              </a:ext>
            </a:extLst>
          </p:cNvPr>
          <p:cNvSpPr>
            <a:spLocks xmlns:a="http://schemas.openxmlformats.org/drawingml/2006/main" noGrp="1"/>
          </p:cNvSpPr>
          <p:nvPr/>
        </p:nvSpPr>
        <p:spPr>
          <a:xfrm xmlns:a="http://schemas.openxmlformats.org/drawingml/2006/main">
            <a:off x="952500" y="30384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869DC15-53B9-4117-9BD8-E8DB80A44588}"/>
              </a:ext>
            </a:extLst>
          </p:cNvPr>
          <p:cNvSpPr>
            <a:spLocks xmlns:a="http://schemas.openxmlformats.org/drawingml/2006/main" noGrp="1"/>
          </p:cNvSpPr>
          <p:nvPr/>
        </p:nvSpPr>
        <p:spPr>
          <a:xfrm xmlns:a="http://schemas.openxmlformats.org/drawingml/2006/main">
            <a:off x="400050" y="31242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7a036109e8e94dc4"/>
          <a:stretch xmlns:a="http://schemas.openxmlformats.org/drawingml/2006/main"/>
        </p:blipFill>
        <p:spPr>
          <a:xfrm xmlns:a="http://schemas.openxmlformats.org/drawingml/2006/main">
            <a:off x="438150" y="3162300"/>
            <a:ext cx="342900" cy="3429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BA842C4-D717-4E9A-981C-EFFAEE0C94AC}"/>
              </a:ext>
            </a:extLst>
          </p:cNvPr>
          <p:cNvSpPr>
            <a:spLocks xmlns:a="http://schemas.openxmlformats.org/drawingml/2006/main" noGrp="1"/>
          </p:cNvSpPr>
          <p:nvPr/>
        </p:nvSpPr>
        <p:spPr>
          <a:xfrm xmlns:a="http://schemas.openxmlformats.org/drawingml/2006/main">
            <a:off x="952500" y="32194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OpenMoji</a:t>
            </a:r>
          </a:p>
        </p:txBody>
      </p:sp>
      <p:sp>
        <p:nvSpPr>
          <p:cNvPr id="22" name="">
            <a:extLst xmlns:a="http://schemas.openxmlformats.org/drawingml/2006/main">
              <a:ext uri="{FF2B5EF4-FFF2-40B4-BE49-F238E27FC236}">
                <a16:creationId xmlns:a16="http://schemas.microsoft.com/office/drawing/2014/main" id="{41CF6FFA-1DED-4E27-9C7B-77F619511973}"/>
              </a:ext>
            </a:extLst>
          </p:cNvPr>
          <p:cNvSpPr>
            <a:spLocks xmlns:a="http://schemas.openxmlformats.org/drawingml/2006/main" noGrp="1"/>
          </p:cNvSpPr>
          <p:nvPr/>
        </p:nvSpPr>
        <p:spPr>
          <a:xfrm xmlns:a="http://schemas.openxmlformats.org/drawingml/2006/main">
            <a:off x="4914900" y="32194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4,495</a:t>
            </a:r>
          </a:p>
        </p:txBody>
      </p:sp>
      <p:sp>
        <p:nvSpPr>
          <p:cNvPr id="23" name="">
            <a:extLst xmlns:a="http://schemas.openxmlformats.org/drawingml/2006/main">
              <a:ext uri="{FF2B5EF4-FFF2-40B4-BE49-F238E27FC236}">
                <a16:creationId xmlns:a16="http://schemas.microsoft.com/office/drawing/2014/main" id="{A39E3D1A-0C0C-4826-9B68-F1393FDE4305}"/>
              </a:ext>
            </a:extLst>
          </p:cNvPr>
          <p:cNvSpPr>
            <a:spLocks xmlns:a="http://schemas.openxmlformats.org/drawingml/2006/main" noGrp="1"/>
          </p:cNvSpPr>
          <p:nvPr/>
        </p:nvSpPr>
        <p:spPr>
          <a:xfrm xmlns:a="http://schemas.openxmlformats.org/drawingml/2006/main">
            <a:off x="952500" y="35718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0781383-AB54-417F-B6E6-42F7B0C67261}"/>
              </a:ext>
            </a:extLst>
          </p:cNvPr>
          <p:cNvSpPr>
            <a:spLocks xmlns:a="http://schemas.openxmlformats.org/drawingml/2006/main" noGrp="1"/>
          </p:cNvSpPr>
          <p:nvPr/>
        </p:nvSpPr>
        <p:spPr>
          <a:xfrm xmlns:a="http://schemas.openxmlformats.org/drawingml/2006/main">
            <a:off x="400050" y="36576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ae78fc40fd5d4981"/>
          <a:stretch xmlns:a="http://schemas.openxmlformats.org/drawingml/2006/main"/>
        </p:blipFill>
        <p:spPr>
          <a:xfrm xmlns:a="http://schemas.openxmlformats.org/drawingml/2006/main">
            <a:off x="438150" y="3695700"/>
            <a:ext cx="342900" cy="3429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55368F40-092C-4C19-B727-01C59F6508A8}"/>
              </a:ext>
            </a:extLst>
          </p:cNvPr>
          <p:cNvSpPr>
            <a:spLocks xmlns:a="http://schemas.openxmlformats.org/drawingml/2006/main" noGrp="1"/>
          </p:cNvSpPr>
          <p:nvPr/>
        </p:nvSpPr>
        <p:spPr>
          <a:xfrm xmlns:a="http://schemas.openxmlformats.org/drawingml/2006/main">
            <a:off x="952500" y="37528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Mulberry symbols</a:t>
            </a:r>
          </a:p>
        </p:txBody>
      </p:sp>
      <p:sp>
        <p:nvSpPr>
          <p:cNvPr id="27" name="">
            <a:extLst xmlns:a="http://schemas.openxmlformats.org/drawingml/2006/main">
              <a:ext uri="{FF2B5EF4-FFF2-40B4-BE49-F238E27FC236}">
                <a16:creationId xmlns:a16="http://schemas.microsoft.com/office/drawing/2014/main" id="{F027A31A-25A4-4CCA-B9D4-BD38F3D2C658}"/>
              </a:ext>
            </a:extLst>
          </p:cNvPr>
          <p:cNvSpPr>
            <a:spLocks xmlns:a="http://schemas.openxmlformats.org/drawingml/2006/main" noGrp="1"/>
          </p:cNvSpPr>
          <p:nvPr/>
        </p:nvSpPr>
        <p:spPr>
          <a:xfrm xmlns:a="http://schemas.openxmlformats.org/drawingml/2006/main">
            <a:off x="4914900" y="37528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3,436</a:t>
            </a:r>
          </a:p>
        </p:txBody>
      </p:sp>
      <p:sp>
        <p:nvSpPr>
          <p:cNvPr id="28" name="">
            <a:extLst xmlns:a="http://schemas.openxmlformats.org/drawingml/2006/main">
              <a:ext uri="{FF2B5EF4-FFF2-40B4-BE49-F238E27FC236}">
                <a16:creationId xmlns:a16="http://schemas.microsoft.com/office/drawing/2014/main" id="{3807410C-C2CB-40D7-9619-D93B55823745}"/>
              </a:ext>
            </a:extLst>
          </p:cNvPr>
          <p:cNvSpPr>
            <a:spLocks xmlns:a="http://schemas.openxmlformats.org/drawingml/2006/main" noGrp="1"/>
          </p:cNvSpPr>
          <p:nvPr/>
        </p:nvSpPr>
        <p:spPr>
          <a:xfrm xmlns:a="http://schemas.openxmlformats.org/drawingml/2006/main">
            <a:off x="952500" y="41052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F2D5339-5523-4A55-A28A-DEDEBF822C52}"/>
              </a:ext>
            </a:extLst>
          </p:cNvPr>
          <p:cNvSpPr>
            <a:spLocks xmlns:a="http://schemas.openxmlformats.org/drawingml/2006/main" noGrp="1"/>
          </p:cNvSpPr>
          <p:nvPr/>
        </p:nvSpPr>
        <p:spPr>
          <a:xfrm xmlns:a="http://schemas.openxmlformats.org/drawingml/2006/main">
            <a:off x="400050" y="41910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584b1e3a478c4826"/>
          <a:stretch xmlns:a="http://schemas.openxmlformats.org/drawingml/2006/main"/>
        </p:blipFill>
        <p:spPr>
          <a:xfrm xmlns:a="http://schemas.openxmlformats.org/drawingml/2006/main">
            <a:off x="438150" y="4229100"/>
            <a:ext cx="342900" cy="34290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9E8C53C9-A6F9-4538-99EE-3D1B189C691C}"/>
              </a:ext>
            </a:extLst>
          </p:cNvPr>
          <p:cNvSpPr>
            <a:spLocks xmlns:a="http://schemas.openxmlformats.org/drawingml/2006/main" noGrp="1"/>
          </p:cNvSpPr>
          <p:nvPr/>
        </p:nvSpPr>
        <p:spPr>
          <a:xfrm xmlns:a="http://schemas.openxmlformats.org/drawingml/2006/main">
            <a:off x="952500" y="42862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OCHA humanitarian icons</a:t>
            </a:r>
          </a:p>
        </p:txBody>
      </p:sp>
      <p:sp>
        <p:nvSpPr>
          <p:cNvPr id="32" name="">
            <a:extLst xmlns:a="http://schemas.openxmlformats.org/drawingml/2006/main">
              <a:ext uri="{FF2B5EF4-FFF2-40B4-BE49-F238E27FC236}">
                <a16:creationId xmlns:a16="http://schemas.microsoft.com/office/drawing/2014/main" id="{3702935B-4EAB-4543-9305-158954ABC92E}"/>
              </a:ext>
            </a:extLst>
          </p:cNvPr>
          <p:cNvSpPr>
            <a:spLocks xmlns:a="http://schemas.openxmlformats.org/drawingml/2006/main" noGrp="1"/>
          </p:cNvSpPr>
          <p:nvPr/>
        </p:nvSpPr>
        <p:spPr>
          <a:xfrm xmlns:a="http://schemas.openxmlformats.org/drawingml/2006/main">
            <a:off x="4914900" y="42862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359</a:t>
            </a:r>
          </a:p>
        </p:txBody>
      </p:sp>
      <p:sp>
        <p:nvSpPr>
          <p:cNvPr id="33" name="">
            <a:extLst xmlns:a="http://schemas.openxmlformats.org/drawingml/2006/main">
              <a:ext uri="{FF2B5EF4-FFF2-40B4-BE49-F238E27FC236}">
                <a16:creationId xmlns:a16="http://schemas.microsoft.com/office/drawing/2014/main" id="{B643A5B9-CA36-4E86-BE81-FBF06AB03186}"/>
              </a:ext>
            </a:extLst>
          </p:cNvPr>
          <p:cNvSpPr>
            <a:spLocks xmlns:a="http://schemas.openxmlformats.org/drawingml/2006/main" noGrp="1"/>
          </p:cNvSpPr>
          <p:nvPr/>
        </p:nvSpPr>
        <p:spPr>
          <a:xfrm xmlns:a="http://schemas.openxmlformats.org/drawingml/2006/main">
            <a:off x="952500" y="46386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3CD765F-07B9-4807-90AC-4DDE5210E9EA}"/>
              </a:ext>
            </a:extLst>
          </p:cNvPr>
          <p:cNvSpPr>
            <a:spLocks xmlns:a="http://schemas.openxmlformats.org/drawingml/2006/main" noGrp="1"/>
          </p:cNvSpPr>
          <p:nvPr/>
        </p:nvSpPr>
        <p:spPr>
          <a:xfrm xmlns:a="http://schemas.openxmlformats.org/drawingml/2006/main">
            <a:off x="400050" y="47244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cfbda383f0fb43f6"/>
          <a:stretch xmlns:a="http://schemas.openxmlformats.org/drawingml/2006/main"/>
        </p:blipFill>
        <p:spPr>
          <a:xfrm xmlns:a="http://schemas.openxmlformats.org/drawingml/2006/main">
            <a:off x="438150" y="4762500"/>
            <a:ext cx="342900" cy="342900"/>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13831D72-DE59-4458-A1BB-EA0D56A9FB54}"/>
              </a:ext>
            </a:extLst>
          </p:cNvPr>
          <p:cNvSpPr>
            <a:spLocks xmlns:a="http://schemas.openxmlformats.org/drawingml/2006/main" noGrp="1"/>
          </p:cNvSpPr>
          <p:nvPr/>
        </p:nvSpPr>
        <p:spPr>
          <a:xfrm xmlns:a="http://schemas.openxmlformats.org/drawingml/2006/main">
            <a:off x="952500" y="4819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McDougall symbols</a:t>
            </a:r>
          </a:p>
        </p:txBody>
      </p:sp>
      <p:sp>
        <p:nvSpPr>
          <p:cNvPr id="37" name="">
            <a:extLst xmlns:a="http://schemas.openxmlformats.org/drawingml/2006/main">
              <a:ext uri="{FF2B5EF4-FFF2-40B4-BE49-F238E27FC236}">
                <a16:creationId xmlns:a16="http://schemas.microsoft.com/office/drawing/2014/main" id="{D404BB5E-4A8A-4815-B8C6-ECBC6223BE57}"/>
              </a:ext>
            </a:extLst>
          </p:cNvPr>
          <p:cNvSpPr>
            <a:spLocks xmlns:a="http://schemas.openxmlformats.org/drawingml/2006/main" noGrp="1"/>
          </p:cNvSpPr>
          <p:nvPr/>
        </p:nvSpPr>
        <p:spPr>
          <a:xfrm xmlns:a="http://schemas.openxmlformats.org/drawingml/2006/main">
            <a:off x="4914900" y="48196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239</a:t>
            </a:r>
          </a:p>
        </p:txBody>
      </p:sp>
      <p:sp>
        <p:nvSpPr>
          <p:cNvPr id="38" name="">
            <a:extLst xmlns:a="http://schemas.openxmlformats.org/drawingml/2006/main">
              <a:ext uri="{FF2B5EF4-FFF2-40B4-BE49-F238E27FC236}">
                <a16:creationId xmlns:a16="http://schemas.microsoft.com/office/drawing/2014/main" id="{F9F7E4BA-6B1D-40F6-AB5E-82C0F3BC1108}"/>
              </a:ext>
            </a:extLst>
          </p:cNvPr>
          <p:cNvSpPr>
            <a:spLocks xmlns:a="http://schemas.openxmlformats.org/drawingml/2006/main" noGrp="1"/>
          </p:cNvSpPr>
          <p:nvPr/>
        </p:nvSpPr>
        <p:spPr>
          <a:xfrm xmlns:a="http://schemas.openxmlformats.org/drawingml/2006/main">
            <a:off x="952500" y="51720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96A27DF-4A6C-4D62-B1DC-065236EF6919}"/>
              </a:ext>
            </a:extLst>
          </p:cNvPr>
          <p:cNvSpPr>
            <a:spLocks xmlns:a="http://schemas.openxmlformats.org/drawingml/2006/main" noGrp="1"/>
          </p:cNvSpPr>
          <p:nvPr/>
        </p:nvSpPr>
        <p:spPr>
          <a:xfrm xmlns:a="http://schemas.openxmlformats.org/drawingml/2006/main">
            <a:off x="400050" y="52578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84829274f7774553"/>
          <a:stretch xmlns:a="http://schemas.openxmlformats.org/drawingml/2006/main"/>
        </p:blipFill>
        <p:spPr>
          <a:xfrm xmlns:a="http://schemas.openxmlformats.org/drawingml/2006/main">
            <a:off x="438150" y="5295900"/>
            <a:ext cx="342900" cy="34290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DF1E501F-85FE-4843-9719-5B28D23F3E5F}"/>
              </a:ext>
            </a:extLst>
          </p:cNvPr>
          <p:cNvSpPr>
            <a:spLocks xmlns:a="http://schemas.openxmlformats.org/drawingml/2006/main" noGrp="1"/>
          </p:cNvSpPr>
          <p:nvPr/>
        </p:nvSpPr>
        <p:spPr>
          <a:xfrm xmlns:a="http://schemas.openxmlformats.org/drawingml/2006/main">
            <a:off x="952500" y="53530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Mapbox Maki</a:t>
            </a:r>
          </a:p>
        </p:txBody>
      </p:sp>
      <p:sp>
        <p:nvSpPr>
          <p:cNvPr id="42" name="">
            <a:extLst xmlns:a="http://schemas.openxmlformats.org/drawingml/2006/main">
              <a:ext uri="{FF2B5EF4-FFF2-40B4-BE49-F238E27FC236}">
                <a16:creationId xmlns:a16="http://schemas.microsoft.com/office/drawing/2014/main" id="{02360696-EAA4-4508-97D8-ED38075019BF}"/>
              </a:ext>
            </a:extLst>
          </p:cNvPr>
          <p:cNvSpPr>
            <a:spLocks xmlns:a="http://schemas.openxmlformats.org/drawingml/2006/main" noGrp="1"/>
          </p:cNvSpPr>
          <p:nvPr/>
        </p:nvSpPr>
        <p:spPr>
          <a:xfrm xmlns:a="http://schemas.openxmlformats.org/drawingml/2006/main">
            <a:off x="4914900" y="53530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215</a:t>
            </a:r>
          </a:p>
        </p:txBody>
      </p:sp>
      <p:sp>
        <p:nvSpPr>
          <p:cNvPr id="43" name="">
            <a:extLst xmlns:a="http://schemas.openxmlformats.org/drawingml/2006/main">
              <a:ext uri="{FF2B5EF4-FFF2-40B4-BE49-F238E27FC236}">
                <a16:creationId xmlns:a16="http://schemas.microsoft.com/office/drawing/2014/main" id="{62FED53D-0178-49DE-B863-82B50B812ED5}"/>
              </a:ext>
            </a:extLst>
          </p:cNvPr>
          <p:cNvSpPr>
            <a:spLocks xmlns:a="http://schemas.openxmlformats.org/drawingml/2006/main" noGrp="1"/>
          </p:cNvSpPr>
          <p:nvPr/>
        </p:nvSpPr>
        <p:spPr>
          <a:xfrm xmlns:a="http://schemas.openxmlformats.org/drawingml/2006/main">
            <a:off x="952500" y="57054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9476432-7037-431B-9500-E5B201F472CA}"/>
              </a:ext>
            </a:extLst>
          </p:cNvPr>
          <p:cNvSpPr>
            <a:spLocks xmlns:a="http://schemas.openxmlformats.org/drawingml/2006/main" noGrp="1"/>
          </p:cNvSpPr>
          <p:nvPr/>
        </p:nvSpPr>
        <p:spPr>
          <a:xfrm xmlns:a="http://schemas.openxmlformats.org/drawingml/2006/main">
            <a:off x="6153150" y="20574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234576a186924ea5"/>
          <a:stretch xmlns:a="http://schemas.openxmlformats.org/drawingml/2006/main"/>
        </p:blipFill>
        <p:spPr>
          <a:xfrm xmlns:a="http://schemas.openxmlformats.org/drawingml/2006/main">
            <a:off x="6191250" y="2095500"/>
            <a:ext cx="342900" cy="34290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B905D128-176F-4277-AEA6-A517965E688A}"/>
              </a:ext>
            </a:extLst>
          </p:cNvPr>
          <p:cNvSpPr>
            <a:spLocks xmlns:a="http://schemas.openxmlformats.org/drawingml/2006/main" noGrp="1"/>
          </p:cNvSpPr>
          <p:nvPr/>
        </p:nvSpPr>
        <p:spPr>
          <a:xfrm xmlns:a="http://schemas.openxmlformats.org/drawingml/2006/main">
            <a:off x="6705600" y="2152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Healthcare webfont</a:t>
            </a:r>
          </a:p>
        </p:txBody>
      </p:sp>
      <p:sp>
        <p:nvSpPr>
          <p:cNvPr id="47" name="">
            <a:extLst xmlns:a="http://schemas.openxmlformats.org/drawingml/2006/main">
              <a:ext uri="{FF2B5EF4-FFF2-40B4-BE49-F238E27FC236}">
                <a16:creationId xmlns:a16="http://schemas.microsoft.com/office/drawing/2014/main" id="{2DB8C6BB-6F76-467B-8CC4-B70F8A847D3F}"/>
              </a:ext>
            </a:extLst>
          </p:cNvPr>
          <p:cNvSpPr>
            <a:spLocks xmlns:a="http://schemas.openxmlformats.org/drawingml/2006/main" noGrp="1"/>
          </p:cNvSpPr>
          <p:nvPr/>
        </p:nvSpPr>
        <p:spPr>
          <a:xfrm xmlns:a="http://schemas.openxmlformats.org/drawingml/2006/main">
            <a:off x="10668000" y="21526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144</a:t>
            </a:r>
          </a:p>
        </p:txBody>
      </p:sp>
      <p:sp>
        <p:nvSpPr>
          <p:cNvPr id="48" name="">
            <a:extLst xmlns:a="http://schemas.openxmlformats.org/drawingml/2006/main">
              <a:ext uri="{FF2B5EF4-FFF2-40B4-BE49-F238E27FC236}">
                <a16:creationId xmlns:a16="http://schemas.microsoft.com/office/drawing/2014/main" id="{EDE54DF6-F961-456A-9E4A-BD7C63B17B86}"/>
              </a:ext>
            </a:extLst>
          </p:cNvPr>
          <p:cNvSpPr>
            <a:spLocks xmlns:a="http://schemas.openxmlformats.org/drawingml/2006/main" noGrp="1"/>
          </p:cNvSpPr>
          <p:nvPr/>
        </p:nvSpPr>
        <p:spPr>
          <a:xfrm xmlns:a="http://schemas.openxmlformats.org/drawingml/2006/main">
            <a:off x="6705600" y="25050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19D36EC-4087-4E7B-9173-48B6788B9150}"/>
              </a:ext>
            </a:extLst>
          </p:cNvPr>
          <p:cNvSpPr>
            <a:spLocks xmlns:a="http://schemas.openxmlformats.org/drawingml/2006/main" noGrp="1"/>
          </p:cNvSpPr>
          <p:nvPr/>
        </p:nvSpPr>
        <p:spPr>
          <a:xfrm xmlns:a="http://schemas.openxmlformats.org/drawingml/2006/main">
            <a:off x="6153150" y="25908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077e7a42a82a425d"/>
          <a:stretch xmlns:a="http://schemas.openxmlformats.org/drawingml/2006/main"/>
        </p:blipFill>
        <p:spPr>
          <a:xfrm xmlns:a="http://schemas.openxmlformats.org/drawingml/2006/main">
            <a:off x="6191250" y="2628900"/>
            <a:ext cx="342900" cy="3429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DF74CAF5-4ECC-4F00-B84D-2E1F3788B097}"/>
              </a:ext>
            </a:extLst>
          </p:cNvPr>
          <p:cNvSpPr>
            <a:spLocks xmlns:a="http://schemas.openxmlformats.org/drawingml/2006/main" noGrp="1"/>
          </p:cNvSpPr>
          <p:nvPr/>
        </p:nvSpPr>
        <p:spPr>
          <a:xfrm xmlns:a="http://schemas.openxmlformats.org/drawingml/2006/main">
            <a:off x="6705600" y="26860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USP medication pictograms</a:t>
            </a:r>
          </a:p>
        </p:txBody>
      </p:sp>
      <p:sp>
        <p:nvSpPr>
          <p:cNvPr id="52" name="">
            <a:extLst xmlns:a="http://schemas.openxmlformats.org/drawingml/2006/main">
              <a:ext uri="{FF2B5EF4-FFF2-40B4-BE49-F238E27FC236}">
                <a16:creationId xmlns:a16="http://schemas.microsoft.com/office/drawing/2014/main" id="{5B6BB4B0-9260-4851-B3EB-D1A0D57C9258}"/>
              </a:ext>
            </a:extLst>
          </p:cNvPr>
          <p:cNvSpPr>
            <a:spLocks xmlns:a="http://schemas.openxmlformats.org/drawingml/2006/main" noGrp="1"/>
          </p:cNvSpPr>
          <p:nvPr/>
        </p:nvSpPr>
        <p:spPr>
          <a:xfrm xmlns:a="http://schemas.openxmlformats.org/drawingml/2006/main">
            <a:off x="10668000" y="26860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83</a:t>
            </a:r>
          </a:p>
        </p:txBody>
      </p:sp>
      <p:sp>
        <p:nvSpPr>
          <p:cNvPr id="53" name="">
            <a:extLst xmlns:a="http://schemas.openxmlformats.org/drawingml/2006/main">
              <a:ext uri="{FF2B5EF4-FFF2-40B4-BE49-F238E27FC236}">
                <a16:creationId xmlns:a16="http://schemas.microsoft.com/office/drawing/2014/main" id="{B2F646C6-B6D5-4537-93BD-4F461AF5C5AB}"/>
              </a:ext>
            </a:extLst>
          </p:cNvPr>
          <p:cNvSpPr>
            <a:spLocks xmlns:a="http://schemas.openxmlformats.org/drawingml/2006/main" noGrp="1"/>
          </p:cNvSpPr>
          <p:nvPr/>
        </p:nvSpPr>
        <p:spPr>
          <a:xfrm xmlns:a="http://schemas.openxmlformats.org/drawingml/2006/main">
            <a:off x="6705600" y="30384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25460B1-D330-4BAE-BDE7-CEB43BB559B6}"/>
              </a:ext>
            </a:extLst>
          </p:cNvPr>
          <p:cNvSpPr>
            <a:spLocks xmlns:a="http://schemas.openxmlformats.org/drawingml/2006/main" noGrp="1"/>
          </p:cNvSpPr>
          <p:nvPr/>
        </p:nvSpPr>
        <p:spPr>
          <a:xfrm xmlns:a="http://schemas.openxmlformats.org/drawingml/2006/main">
            <a:off x="6153150" y="31242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959d76ca3a0f49be"/>
          <a:stretch xmlns:a="http://schemas.openxmlformats.org/drawingml/2006/main"/>
        </p:blipFill>
        <p:spPr>
          <a:xfrm xmlns:a="http://schemas.openxmlformats.org/drawingml/2006/main">
            <a:off x="6191250" y="3162300"/>
            <a:ext cx="342900" cy="34290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9E0CAAF1-1337-46E1-BC55-DB077D30CB77}"/>
              </a:ext>
            </a:extLst>
          </p:cNvPr>
          <p:cNvSpPr>
            <a:spLocks xmlns:a="http://schemas.openxmlformats.org/drawingml/2006/main" noGrp="1"/>
          </p:cNvSpPr>
          <p:nvPr/>
        </p:nvSpPr>
        <p:spPr>
          <a:xfrm xmlns:a="http://schemas.openxmlformats.org/drawingml/2006/main">
            <a:off x="6705600" y="32194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AIGA / DOT signs</a:t>
            </a:r>
          </a:p>
        </p:txBody>
      </p:sp>
      <p:sp>
        <p:nvSpPr>
          <p:cNvPr id="57" name="">
            <a:extLst xmlns:a="http://schemas.openxmlformats.org/drawingml/2006/main">
              <a:ext uri="{FF2B5EF4-FFF2-40B4-BE49-F238E27FC236}">
                <a16:creationId xmlns:a16="http://schemas.microsoft.com/office/drawing/2014/main" id="{31F80E8C-BFE0-4B95-8BA0-081DC70A6C57}"/>
              </a:ext>
            </a:extLst>
          </p:cNvPr>
          <p:cNvSpPr>
            <a:spLocks xmlns:a="http://schemas.openxmlformats.org/drawingml/2006/main" noGrp="1"/>
          </p:cNvSpPr>
          <p:nvPr/>
        </p:nvSpPr>
        <p:spPr>
          <a:xfrm xmlns:a="http://schemas.openxmlformats.org/drawingml/2006/main">
            <a:off x="10668000" y="32194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80</a:t>
            </a:r>
          </a:p>
        </p:txBody>
      </p:sp>
      <p:sp>
        <p:nvSpPr>
          <p:cNvPr id="58" name="">
            <a:extLst xmlns:a="http://schemas.openxmlformats.org/drawingml/2006/main">
              <a:ext uri="{FF2B5EF4-FFF2-40B4-BE49-F238E27FC236}">
                <a16:creationId xmlns:a16="http://schemas.microsoft.com/office/drawing/2014/main" id="{917048A1-C20A-45E7-BEFC-3E88745B3D3E}"/>
              </a:ext>
            </a:extLst>
          </p:cNvPr>
          <p:cNvSpPr>
            <a:spLocks xmlns:a="http://schemas.openxmlformats.org/drawingml/2006/main" noGrp="1"/>
          </p:cNvSpPr>
          <p:nvPr/>
        </p:nvSpPr>
        <p:spPr>
          <a:xfrm xmlns:a="http://schemas.openxmlformats.org/drawingml/2006/main">
            <a:off x="6705600" y="35718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80FBAA8-3654-42C1-9BEE-01F9C6AA7BF8}"/>
              </a:ext>
            </a:extLst>
          </p:cNvPr>
          <p:cNvSpPr>
            <a:spLocks xmlns:a="http://schemas.openxmlformats.org/drawingml/2006/main" noGrp="1"/>
          </p:cNvSpPr>
          <p:nvPr/>
        </p:nvSpPr>
        <p:spPr>
          <a:xfrm xmlns:a="http://schemas.openxmlformats.org/drawingml/2006/main">
            <a:off x="6153150" y="36576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d321325722264cc9"/>
          <a:stretch xmlns:a="http://schemas.openxmlformats.org/drawingml/2006/main"/>
        </p:blipFill>
        <p:spPr>
          <a:xfrm xmlns:a="http://schemas.openxmlformats.org/drawingml/2006/main">
            <a:off x="6191250" y="3695700"/>
            <a:ext cx="342900" cy="342900"/>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AA25DC1D-43C5-440A-AF18-31AD11E86C5F}"/>
              </a:ext>
            </a:extLst>
          </p:cNvPr>
          <p:cNvSpPr>
            <a:spLocks xmlns:a="http://schemas.openxmlformats.org/drawingml/2006/main" noGrp="1"/>
          </p:cNvSpPr>
          <p:nvPr/>
        </p:nvSpPr>
        <p:spPr>
          <a:xfrm xmlns:a="http://schemas.openxmlformats.org/drawingml/2006/main">
            <a:off x="6705600" y="37528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ISO 7010 safety signs</a:t>
            </a:r>
          </a:p>
        </p:txBody>
      </p:sp>
      <p:sp>
        <p:nvSpPr>
          <p:cNvPr id="62" name="">
            <a:extLst xmlns:a="http://schemas.openxmlformats.org/drawingml/2006/main">
              <a:ext uri="{FF2B5EF4-FFF2-40B4-BE49-F238E27FC236}">
                <a16:creationId xmlns:a16="http://schemas.microsoft.com/office/drawing/2014/main" id="{AF1B3A5A-5C04-4765-8E53-5A86D005EC3E}"/>
              </a:ext>
            </a:extLst>
          </p:cNvPr>
          <p:cNvSpPr>
            <a:spLocks xmlns:a="http://schemas.openxmlformats.org/drawingml/2006/main" noGrp="1"/>
          </p:cNvSpPr>
          <p:nvPr/>
        </p:nvSpPr>
        <p:spPr>
          <a:xfrm xmlns:a="http://schemas.openxmlformats.org/drawingml/2006/main">
            <a:off x="10668000" y="37528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37</a:t>
            </a:r>
          </a:p>
        </p:txBody>
      </p:sp>
      <p:sp>
        <p:nvSpPr>
          <p:cNvPr id="63" name="">
            <a:extLst xmlns:a="http://schemas.openxmlformats.org/drawingml/2006/main">
              <a:ext uri="{FF2B5EF4-FFF2-40B4-BE49-F238E27FC236}">
                <a16:creationId xmlns:a16="http://schemas.microsoft.com/office/drawing/2014/main" id="{E82348DB-7B89-4B03-BAC3-AA430E6F4DF6}"/>
              </a:ext>
            </a:extLst>
          </p:cNvPr>
          <p:cNvSpPr>
            <a:spLocks xmlns:a="http://schemas.openxmlformats.org/drawingml/2006/main" noGrp="1"/>
          </p:cNvSpPr>
          <p:nvPr/>
        </p:nvSpPr>
        <p:spPr>
          <a:xfrm xmlns:a="http://schemas.openxmlformats.org/drawingml/2006/main">
            <a:off x="6705600" y="41052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8E27713-5244-492F-BA47-7E84255E33E8}"/>
              </a:ext>
            </a:extLst>
          </p:cNvPr>
          <p:cNvSpPr>
            <a:spLocks xmlns:a="http://schemas.openxmlformats.org/drawingml/2006/main" noGrp="1"/>
          </p:cNvSpPr>
          <p:nvPr/>
        </p:nvSpPr>
        <p:spPr>
          <a:xfrm xmlns:a="http://schemas.openxmlformats.org/drawingml/2006/main">
            <a:off x="6153150" y="41910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99c450e705d04f5b"/>
          <a:stretch xmlns:a="http://schemas.openxmlformats.org/drawingml/2006/main"/>
        </p:blipFill>
        <p:spPr>
          <a:xfrm xmlns:a="http://schemas.openxmlformats.org/drawingml/2006/main">
            <a:off x="6191250" y="4229100"/>
            <a:ext cx="342900" cy="342900"/>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7D43A779-4412-455F-A29C-75F2A2530FC7}"/>
              </a:ext>
            </a:extLst>
          </p:cNvPr>
          <p:cNvSpPr>
            <a:spLocks xmlns:a="http://schemas.openxmlformats.org/drawingml/2006/main" noGrp="1"/>
          </p:cNvSpPr>
          <p:nvPr/>
        </p:nvSpPr>
        <p:spPr>
          <a:xfrm xmlns:a="http://schemas.openxmlformats.org/drawingml/2006/main">
            <a:off x="6705600" y="42862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ISO 15223 medical devices</a:t>
            </a:r>
          </a:p>
        </p:txBody>
      </p:sp>
      <p:sp>
        <p:nvSpPr>
          <p:cNvPr id="67" name="">
            <a:extLst xmlns:a="http://schemas.openxmlformats.org/drawingml/2006/main">
              <a:ext uri="{FF2B5EF4-FFF2-40B4-BE49-F238E27FC236}">
                <a16:creationId xmlns:a16="http://schemas.microsoft.com/office/drawing/2014/main" id="{BDA727E1-879A-4D31-827F-FC011195F795}"/>
              </a:ext>
            </a:extLst>
          </p:cNvPr>
          <p:cNvSpPr>
            <a:spLocks xmlns:a="http://schemas.openxmlformats.org/drawingml/2006/main" noGrp="1"/>
          </p:cNvSpPr>
          <p:nvPr/>
        </p:nvSpPr>
        <p:spPr>
          <a:xfrm xmlns:a="http://schemas.openxmlformats.org/drawingml/2006/main">
            <a:off x="10668000" y="42862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29</a:t>
            </a:r>
          </a:p>
        </p:txBody>
      </p:sp>
      <p:sp>
        <p:nvSpPr>
          <p:cNvPr id="68" name="">
            <a:extLst xmlns:a="http://schemas.openxmlformats.org/drawingml/2006/main">
              <a:ext uri="{FF2B5EF4-FFF2-40B4-BE49-F238E27FC236}">
                <a16:creationId xmlns:a16="http://schemas.microsoft.com/office/drawing/2014/main" id="{B52277BA-63C4-46A4-941A-C9B19025D737}"/>
              </a:ext>
            </a:extLst>
          </p:cNvPr>
          <p:cNvSpPr>
            <a:spLocks xmlns:a="http://schemas.openxmlformats.org/drawingml/2006/main" noGrp="1"/>
          </p:cNvSpPr>
          <p:nvPr/>
        </p:nvSpPr>
        <p:spPr>
          <a:xfrm xmlns:a="http://schemas.openxmlformats.org/drawingml/2006/main">
            <a:off x="6705600" y="46386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8422BB30-E026-4333-88CD-D719FE758052}"/>
              </a:ext>
            </a:extLst>
          </p:cNvPr>
          <p:cNvSpPr>
            <a:spLocks xmlns:a="http://schemas.openxmlformats.org/drawingml/2006/main" noGrp="1"/>
          </p:cNvSpPr>
          <p:nvPr/>
        </p:nvSpPr>
        <p:spPr>
          <a:xfrm xmlns:a="http://schemas.openxmlformats.org/drawingml/2006/main">
            <a:off x="6153150" y="4724400"/>
            <a:ext cx="419100" cy="419100"/>
          </a:xfrm>
          <a:prstGeom xmlns:a="http://schemas.openxmlformats.org/drawingml/2006/main" prst="rect">
            <a:avLst/>
          </a:prstGeom>
          <a:solidFill xmlns:a="http://schemas.openxmlformats.org/drawingml/2006/main">
            <a:srgbClr val="F1F2F3"/>
          </a:solidFill>
          <a:ln xmlns:a="http://schemas.openxmlformats.org/drawingml/2006/main" w="0">
            <a:noFill/>
            <a:prstDash val="solid"/>
          </a:ln>
        </p:spPr>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c47e1d8c1a774482"/>
          <a:stretch xmlns:a="http://schemas.openxmlformats.org/drawingml/2006/main"/>
        </p:blipFill>
        <p:spPr>
          <a:xfrm xmlns:a="http://schemas.openxmlformats.org/drawingml/2006/main">
            <a:off x="6191250" y="4762500"/>
            <a:ext cx="342900" cy="342900"/>
          </a:xfrm>
          <a:prstGeom xmlns:a="http://schemas.openxmlformats.org/drawingml/2006/main" prst="rect">
            <a:avLst/>
          </a:prstGeom>
        </p:spPr>
      </p:pic>
      <p:sp>
        <p:nvSpPr>
          <p:cNvPr id="71" name="">
            <a:extLst xmlns:a="http://schemas.openxmlformats.org/drawingml/2006/main">
              <a:ext uri="{FF2B5EF4-FFF2-40B4-BE49-F238E27FC236}">
                <a16:creationId xmlns:a16="http://schemas.microsoft.com/office/drawing/2014/main" id="{887F0287-128C-4F73-A6CE-C5BA1A07CADB}"/>
              </a:ext>
            </a:extLst>
          </p:cNvPr>
          <p:cNvSpPr>
            <a:spLocks xmlns:a="http://schemas.openxmlformats.org/drawingml/2006/main" noGrp="1"/>
          </p:cNvSpPr>
          <p:nvPr/>
        </p:nvSpPr>
        <p:spPr>
          <a:xfrm xmlns:a="http://schemas.openxmlformats.org/drawingml/2006/main">
            <a:off x="6705600" y="48196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GHS hazard pictograms</a:t>
            </a:r>
          </a:p>
        </p:txBody>
      </p:sp>
      <p:sp>
        <p:nvSpPr>
          <p:cNvPr id="72" name="">
            <a:extLst xmlns:a="http://schemas.openxmlformats.org/drawingml/2006/main">
              <a:ext uri="{FF2B5EF4-FFF2-40B4-BE49-F238E27FC236}">
                <a16:creationId xmlns:a16="http://schemas.microsoft.com/office/drawing/2014/main" id="{BD3E2272-9C4A-4AF5-8266-3D763182CCC7}"/>
              </a:ext>
            </a:extLst>
          </p:cNvPr>
          <p:cNvSpPr>
            <a:spLocks xmlns:a="http://schemas.openxmlformats.org/drawingml/2006/main" noGrp="1"/>
          </p:cNvSpPr>
          <p:nvPr/>
        </p:nvSpPr>
        <p:spPr>
          <a:xfrm xmlns:a="http://schemas.openxmlformats.org/drawingml/2006/main">
            <a:off x="10668000" y="48196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9</a:t>
            </a:r>
          </a:p>
        </p:txBody>
      </p:sp>
      <p:sp>
        <p:nvSpPr>
          <p:cNvPr id="73" name="">
            <a:extLst xmlns:a="http://schemas.openxmlformats.org/drawingml/2006/main">
              <a:ext uri="{FF2B5EF4-FFF2-40B4-BE49-F238E27FC236}">
                <a16:creationId xmlns:a16="http://schemas.microsoft.com/office/drawing/2014/main" id="{F9DDBD7B-DCDC-4399-9793-3DD9D4F2E516}"/>
              </a:ext>
            </a:extLst>
          </p:cNvPr>
          <p:cNvSpPr>
            <a:spLocks xmlns:a="http://schemas.openxmlformats.org/drawingml/2006/main" noGrp="1"/>
          </p:cNvSpPr>
          <p:nvPr/>
        </p:nvSpPr>
        <p:spPr>
          <a:xfrm xmlns:a="http://schemas.openxmlformats.org/drawingml/2006/main">
            <a:off x="6705600" y="5172075"/>
            <a:ext cx="4914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158FA0A-9B42-44A0-AA5C-5A60927EA85A}"/>
              </a:ext>
            </a:extLst>
          </p:cNvPr>
          <p:cNvSpPr>
            <a:spLocks xmlns:a="http://schemas.openxmlformats.org/drawingml/2006/main" noGrp="1"/>
          </p:cNvSpPr>
          <p:nvPr/>
        </p:nvSpPr>
        <p:spPr>
          <a:xfrm xmlns:a="http://schemas.openxmlformats.org/drawingml/2006/main">
            <a:off x="400050" y="5924550"/>
            <a:ext cx="11391900" cy="3524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F0E4B0B9-7A11-4C48-8E9F-EB45182F9D32}"/>
              </a:ext>
            </a:extLst>
          </p:cNvPr>
          <p:cNvSpPr>
            <a:spLocks xmlns:a="http://schemas.openxmlformats.org/drawingml/2006/main" noGrp="1"/>
          </p:cNvSpPr>
          <p:nvPr/>
        </p:nvSpPr>
        <p:spPr>
          <a:xfrm xmlns:a="http://schemas.openxmlformats.org/drawingml/2006/main">
            <a:off x="609600" y="600075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Stable ID  →  256 × 256 normalized image  →  seven feature measurements  →  interactive review</a:t>
            </a:r>
          </a:p>
        </p:txBody>
      </p:sp>
    </p:spTree>
    <p:extLst>
      <p:ext uri="{BB962C8B-B14F-4D97-AF65-F5344CB8AC3E}">
        <p14:creationId xmlns:p14="http://schemas.microsoft.com/office/powerpoint/2010/main" val="13486808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D300B62-7325-4BF6-9BEE-205E745A9AF4}"/>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06 · IMPLEMENTATION</a:t>
            </a:r>
          </a:p>
        </p:txBody>
      </p:sp>
      <p:sp>
        <p:nvSpPr>
          <p:cNvPr id="2" name="">
            <a:extLst xmlns:a="http://schemas.openxmlformats.org/drawingml/2006/main">
              <a:ext uri="{FF2B5EF4-FFF2-40B4-BE49-F238E27FC236}">
                <a16:creationId xmlns:a16="http://schemas.microsoft.com/office/drawing/2014/main" id="{72A09CD1-E9E8-4D33-A453-8E6EFF94225F}"/>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730FE216-390D-4682-9878-A32F42100394}"/>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75" b="1">
                <a:solidFill>
                  <a:srgbClr val="111111"/>
                </a:solidFill>
                <a:latin typeface="Helvetica Neue"/>
                <a:ea typeface="Helvetica Neue"/>
                <a:cs typeface="Helvetica Neue"/>
              </a:defRPr>
            </a:pPr>
            <a:r>
              <a:rPr sz="3075" b="1">
                <a:solidFill>
                  <a:srgbClr val="111111"/>
                </a:solidFill>
                <a:latin typeface="Helvetica Neue"/>
                <a:ea typeface="Helvetica Neue"/>
                <a:cs typeface="Helvetica Neue"/>
              </a:rPr>
              <a:t>Seven families describe what may survive at small sizes</a:t>
            </a:r>
          </a:p>
        </p:txBody>
      </p:sp>
      <p:sp>
        <p:nvSpPr>
          <p:cNvPr id="4" name="">
            <a:extLst xmlns:a="http://schemas.openxmlformats.org/drawingml/2006/main">
              <a:ext uri="{FF2B5EF4-FFF2-40B4-BE49-F238E27FC236}">
                <a16:creationId xmlns:a16="http://schemas.microsoft.com/office/drawing/2014/main" id="{EC487C93-4B83-4F6D-99F1-A3E08A4821FD}"/>
              </a:ext>
            </a:extLst>
          </p:cNvPr>
          <p:cNvSpPr>
            <a:spLocks xmlns:a="http://schemas.openxmlformats.org/drawingml/2006/main" noGrp="1"/>
          </p:cNvSpPr>
          <p:nvPr/>
        </p:nvSpPr>
        <p:spPr>
          <a:xfrm xmlns:a="http://schemas.openxmlformats.org/drawingml/2006/main">
            <a:off x="400050" y="1504950"/>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672"/>
                </a:solidFill>
                <a:latin typeface="Helvetica Neue"/>
                <a:ea typeface="Helvetica Neue"/>
                <a:cs typeface="Helvetica Neue"/>
              </a:defRPr>
            </a:pPr>
            <a:r>
              <a:rPr sz="1500" b="0">
                <a:solidFill>
                  <a:srgbClr val="5E6672"/>
                </a:solidFill>
                <a:latin typeface="Helvetica Neue"/>
                <a:ea typeface="Helvetica Neue"/>
                <a:cs typeface="Helvetica Neue"/>
              </a:rPr>
              <a:t>Candidate predictors of persistence—or confusion—at reduced sizes</a:t>
            </a:r>
          </a:p>
        </p:txBody>
      </p:sp>
      <p:sp>
        <p:nvSpPr>
          <p:cNvPr id="5" name="">
            <a:extLst xmlns:a="http://schemas.openxmlformats.org/drawingml/2006/main">
              <a:ext uri="{FF2B5EF4-FFF2-40B4-BE49-F238E27FC236}">
                <a16:creationId xmlns:a16="http://schemas.microsoft.com/office/drawing/2014/main" id="{42011E75-8042-46A9-A3DF-DBFE0B78BBF6}"/>
              </a:ext>
            </a:extLst>
          </p:cNvPr>
          <p:cNvSpPr>
            <a:spLocks xmlns:a="http://schemas.openxmlformats.org/drawingml/2006/main" noGrp="1"/>
          </p:cNvSpPr>
          <p:nvPr/>
        </p:nvSpPr>
        <p:spPr>
          <a:xfrm xmlns:a="http://schemas.openxmlformats.org/drawingml/2006/main">
            <a:off x="400050" y="2438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COMPLEXITY</a:t>
            </a:r>
          </a:p>
        </p:txBody>
      </p:sp>
      <p:sp>
        <p:nvSpPr>
          <p:cNvPr id="6" name="">
            <a:extLst xmlns:a="http://schemas.openxmlformats.org/drawingml/2006/main">
              <a:ext uri="{FF2B5EF4-FFF2-40B4-BE49-F238E27FC236}">
                <a16:creationId xmlns:a16="http://schemas.microsoft.com/office/drawing/2014/main" id="{B48D749C-5103-4E51-A857-091A717F6DA3}"/>
              </a:ext>
            </a:extLst>
          </p:cNvPr>
          <p:cNvSpPr>
            <a:spLocks xmlns:a="http://schemas.openxmlformats.org/drawingml/2006/main" noGrp="1"/>
          </p:cNvSpPr>
          <p:nvPr/>
        </p:nvSpPr>
        <p:spPr>
          <a:xfrm xmlns:a="http://schemas.openxmlformats.org/drawingml/2006/main">
            <a:off x="2400300" y="24193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Canny edge density</a:t>
            </a:r>
          </a:p>
        </p:txBody>
      </p:sp>
      <p:sp>
        <p:nvSpPr>
          <p:cNvPr id="7" name="">
            <a:extLst xmlns:a="http://schemas.openxmlformats.org/drawingml/2006/main">
              <a:ext uri="{FF2B5EF4-FFF2-40B4-BE49-F238E27FC236}">
                <a16:creationId xmlns:a16="http://schemas.microsoft.com/office/drawing/2014/main" id="{8DF74759-0852-4AA7-BA23-53BB822DFDF2}"/>
              </a:ext>
            </a:extLst>
          </p:cNvPr>
          <p:cNvSpPr>
            <a:spLocks xmlns:a="http://schemas.openxmlformats.org/drawingml/2006/main" noGrp="1"/>
          </p:cNvSpPr>
          <p:nvPr/>
        </p:nvSpPr>
        <p:spPr>
          <a:xfrm xmlns:a="http://schemas.openxmlformats.org/drawingml/2006/main">
            <a:off x="400050" y="28956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022F127-EFB2-40B1-81A0-715ACAF4922D}"/>
              </a:ext>
            </a:extLst>
          </p:cNvPr>
          <p:cNvSpPr>
            <a:spLocks xmlns:a="http://schemas.openxmlformats.org/drawingml/2006/main" noGrp="1"/>
          </p:cNvSpPr>
          <p:nvPr/>
        </p:nvSpPr>
        <p:spPr>
          <a:xfrm xmlns:a="http://schemas.openxmlformats.org/drawingml/2006/main">
            <a:off x="400050" y="3276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SHAPE</a:t>
            </a:r>
          </a:p>
        </p:txBody>
      </p:sp>
      <p:sp>
        <p:nvSpPr>
          <p:cNvPr id="9" name="">
            <a:extLst xmlns:a="http://schemas.openxmlformats.org/drawingml/2006/main">
              <a:ext uri="{FF2B5EF4-FFF2-40B4-BE49-F238E27FC236}">
                <a16:creationId xmlns:a16="http://schemas.microsoft.com/office/drawing/2014/main" id="{05B2863A-A583-4469-A4EA-C67A9E57E9E5}"/>
              </a:ext>
            </a:extLst>
          </p:cNvPr>
          <p:cNvSpPr>
            <a:spLocks xmlns:a="http://schemas.openxmlformats.org/drawingml/2006/main" noGrp="1"/>
          </p:cNvSpPr>
          <p:nvPr/>
        </p:nvSpPr>
        <p:spPr>
          <a:xfrm xmlns:a="http://schemas.openxmlformats.org/drawingml/2006/main">
            <a:off x="2400300" y="32575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Enclosure score v2</a:t>
            </a:r>
          </a:p>
        </p:txBody>
      </p:sp>
      <p:sp>
        <p:nvSpPr>
          <p:cNvPr id="10" name="">
            <a:extLst xmlns:a="http://schemas.openxmlformats.org/drawingml/2006/main">
              <a:ext uri="{FF2B5EF4-FFF2-40B4-BE49-F238E27FC236}">
                <a16:creationId xmlns:a16="http://schemas.microsoft.com/office/drawing/2014/main" id="{A9580037-CBEB-468D-BA58-4EA939737760}"/>
              </a:ext>
            </a:extLst>
          </p:cNvPr>
          <p:cNvSpPr>
            <a:spLocks xmlns:a="http://schemas.openxmlformats.org/drawingml/2006/main" noGrp="1"/>
          </p:cNvSpPr>
          <p:nvPr/>
        </p:nvSpPr>
        <p:spPr>
          <a:xfrm xmlns:a="http://schemas.openxmlformats.org/drawingml/2006/main">
            <a:off x="400050" y="37338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C7F8559-2293-44A0-A5A2-C737C8617E24}"/>
              </a:ext>
            </a:extLst>
          </p:cNvPr>
          <p:cNvSpPr>
            <a:spLocks xmlns:a="http://schemas.openxmlformats.org/drawingml/2006/main" noGrp="1"/>
          </p:cNvSpPr>
          <p:nvPr/>
        </p:nvSpPr>
        <p:spPr>
          <a:xfrm xmlns:a="http://schemas.openxmlformats.org/drawingml/2006/main">
            <a:off x="400050" y="41148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STROKE</a:t>
            </a:r>
          </a:p>
        </p:txBody>
      </p:sp>
      <p:sp>
        <p:nvSpPr>
          <p:cNvPr id="12" name="">
            <a:extLst xmlns:a="http://schemas.openxmlformats.org/drawingml/2006/main">
              <a:ext uri="{FF2B5EF4-FFF2-40B4-BE49-F238E27FC236}">
                <a16:creationId xmlns:a16="http://schemas.microsoft.com/office/drawing/2014/main" id="{FAC70379-F29D-4E84-8DD8-8DD85E63A653}"/>
              </a:ext>
            </a:extLst>
          </p:cNvPr>
          <p:cNvSpPr>
            <a:spLocks xmlns:a="http://schemas.openxmlformats.org/drawingml/2006/main" noGrp="1"/>
          </p:cNvSpPr>
          <p:nvPr/>
        </p:nvSpPr>
        <p:spPr>
          <a:xfrm xmlns:a="http://schemas.openxmlformats.org/drawingml/2006/main">
            <a:off x="2400300" y="4095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Principal-axis orientation v2</a:t>
            </a:r>
          </a:p>
        </p:txBody>
      </p:sp>
      <p:sp>
        <p:nvSpPr>
          <p:cNvPr id="13" name="">
            <a:extLst xmlns:a="http://schemas.openxmlformats.org/drawingml/2006/main">
              <a:ext uri="{FF2B5EF4-FFF2-40B4-BE49-F238E27FC236}">
                <a16:creationId xmlns:a16="http://schemas.microsoft.com/office/drawing/2014/main" id="{14782A5E-0294-4B2C-AA31-056B2C517206}"/>
              </a:ext>
            </a:extLst>
          </p:cNvPr>
          <p:cNvSpPr>
            <a:spLocks xmlns:a="http://schemas.openxmlformats.org/drawingml/2006/main" noGrp="1"/>
          </p:cNvSpPr>
          <p:nvPr/>
        </p:nvSpPr>
        <p:spPr>
          <a:xfrm xmlns:a="http://schemas.openxmlformats.org/drawingml/2006/main">
            <a:off x="400050" y="45720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5344BE-7355-481D-8343-AE3B63F60BBF}"/>
              </a:ext>
            </a:extLst>
          </p:cNvPr>
          <p:cNvSpPr>
            <a:spLocks xmlns:a="http://schemas.openxmlformats.org/drawingml/2006/main" noGrp="1"/>
          </p:cNvSpPr>
          <p:nvPr/>
        </p:nvSpPr>
        <p:spPr>
          <a:xfrm xmlns:a="http://schemas.openxmlformats.org/drawingml/2006/main">
            <a:off x="400050" y="4953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DENSITY / FILL</a:t>
            </a:r>
          </a:p>
        </p:txBody>
      </p:sp>
      <p:sp>
        <p:nvSpPr>
          <p:cNvPr id="15" name="">
            <a:extLst xmlns:a="http://schemas.openxmlformats.org/drawingml/2006/main">
              <a:ext uri="{FF2B5EF4-FFF2-40B4-BE49-F238E27FC236}">
                <a16:creationId xmlns:a16="http://schemas.microsoft.com/office/drawing/2014/main" id="{18A49C62-49D5-4A46-859B-3E6F92203035}"/>
              </a:ext>
            </a:extLst>
          </p:cNvPr>
          <p:cNvSpPr>
            <a:spLocks xmlns:a="http://schemas.openxmlformats.org/drawingml/2006/main" noGrp="1"/>
          </p:cNvSpPr>
          <p:nvPr/>
        </p:nvSpPr>
        <p:spPr>
          <a:xfrm xmlns:a="http://schemas.openxmlformats.org/drawingml/2006/main">
            <a:off x="2400300" y="4933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Solid fill ratio v2</a:t>
            </a:r>
          </a:p>
        </p:txBody>
      </p:sp>
      <p:sp>
        <p:nvSpPr>
          <p:cNvPr id="16" name="">
            <a:extLst xmlns:a="http://schemas.openxmlformats.org/drawingml/2006/main">
              <a:ext uri="{FF2B5EF4-FFF2-40B4-BE49-F238E27FC236}">
                <a16:creationId xmlns:a16="http://schemas.microsoft.com/office/drawing/2014/main" id="{9F6B46B2-7BFB-4892-AFA5-423E54A262B7}"/>
              </a:ext>
            </a:extLst>
          </p:cNvPr>
          <p:cNvSpPr>
            <a:spLocks xmlns:a="http://schemas.openxmlformats.org/drawingml/2006/main" noGrp="1"/>
          </p:cNvSpPr>
          <p:nvPr/>
        </p:nvSpPr>
        <p:spPr>
          <a:xfrm xmlns:a="http://schemas.openxmlformats.org/drawingml/2006/main">
            <a:off x="400050" y="54102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3271FB-158A-452D-9AAF-5B321947B876}"/>
              </a:ext>
            </a:extLst>
          </p:cNvPr>
          <p:cNvSpPr>
            <a:spLocks xmlns:a="http://schemas.openxmlformats.org/drawingml/2006/main" noGrp="1"/>
          </p:cNvSpPr>
          <p:nvPr/>
        </p:nvSpPr>
        <p:spPr>
          <a:xfrm xmlns:a="http://schemas.openxmlformats.org/drawingml/2006/main">
            <a:off x="6076950" y="2438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BALANCE</a:t>
            </a:r>
          </a:p>
        </p:txBody>
      </p:sp>
      <p:sp>
        <p:nvSpPr>
          <p:cNvPr id="18" name="">
            <a:extLst xmlns:a="http://schemas.openxmlformats.org/drawingml/2006/main">
              <a:ext uri="{FF2B5EF4-FFF2-40B4-BE49-F238E27FC236}">
                <a16:creationId xmlns:a16="http://schemas.microsoft.com/office/drawing/2014/main" id="{75207F6E-858C-4A4E-B745-87B978D32171}"/>
              </a:ext>
            </a:extLst>
          </p:cNvPr>
          <p:cNvSpPr>
            <a:spLocks xmlns:a="http://schemas.openxmlformats.org/drawingml/2006/main" noGrp="1"/>
          </p:cNvSpPr>
          <p:nvPr/>
        </p:nvSpPr>
        <p:spPr>
          <a:xfrm xmlns:a="http://schemas.openxmlformats.org/drawingml/2006/main">
            <a:off x="8077200" y="24193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Horizontal symmetry v2</a:t>
            </a:r>
          </a:p>
        </p:txBody>
      </p:sp>
      <p:sp>
        <p:nvSpPr>
          <p:cNvPr id="19" name="">
            <a:extLst xmlns:a="http://schemas.openxmlformats.org/drawingml/2006/main">
              <a:ext uri="{FF2B5EF4-FFF2-40B4-BE49-F238E27FC236}">
                <a16:creationId xmlns:a16="http://schemas.microsoft.com/office/drawing/2014/main" id="{EA486295-8EDB-4C3B-8736-89AF081C65A3}"/>
              </a:ext>
            </a:extLst>
          </p:cNvPr>
          <p:cNvSpPr>
            <a:spLocks xmlns:a="http://schemas.openxmlformats.org/drawingml/2006/main" noGrp="1"/>
          </p:cNvSpPr>
          <p:nvPr/>
        </p:nvSpPr>
        <p:spPr>
          <a:xfrm xmlns:a="http://schemas.openxmlformats.org/drawingml/2006/main">
            <a:off x="6076950" y="28956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178983D-9808-4CEE-9110-9B81603B52F8}"/>
              </a:ext>
            </a:extLst>
          </p:cNvPr>
          <p:cNvSpPr>
            <a:spLocks xmlns:a="http://schemas.openxmlformats.org/drawingml/2006/main" noGrp="1"/>
          </p:cNvSpPr>
          <p:nvPr/>
        </p:nvSpPr>
        <p:spPr>
          <a:xfrm xmlns:a="http://schemas.openxmlformats.org/drawingml/2006/main">
            <a:off x="6076950" y="3276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COLOR</a:t>
            </a:r>
          </a:p>
        </p:txBody>
      </p:sp>
      <p:sp>
        <p:nvSpPr>
          <p:cNvPr id="21" name="">
            <a:extLst xmlns:a="http://schemas.openxmlformats.org/drawingml/2006/main">
              <a:ext uri="{FF2B5EF4-FFF2-40B4-BE49-F238E27FC236}">
                <a16:creationId xmlns:a16="http://schemas.microsoft.com/office/drawing/2014/main" id="{7051D5A6-D2E4-45DA-BAC7-3C53193544A0}"/>
              </a:ext>
            </a:extLst>
          </p:cNvPr>
          <p:cNvSpPr>
            <a:spLocks xmlns:a="http://schemas.openxmlformats.org/drawingml/2006/main" noGrp="1"/>
          </p:cNvSpPr>
          <p:nvPr/>
        </p:nvSpPr>
        <p:spPr>
          <a:xfrm xmlns:a="http://schemas.openxmlformats.org/drawingml/2006/main">
            <a:off x="8077200" y="32575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Mean saturation v2</a:t>
            </a:r>
          </a:p>
        </p:txBody>
      </p:sp>
      <p:sp>
        <p:nvSpPr>
          <p:cNvPr id="22" name="">
            <a:extLst xmlns:a="http://schemas.openxmlformats.org/drawingml/2006/main">
              <a:ext uri="{FF2B5EF4-FFF2-40B4-BE49-F238E27FC236}">
                <a16:creationId xmlns:a16="http://schemas.microsoft.com/office/drawing/2014/main" id="{EF495FDA-42C3-46CF-B911-6F4E2BD72FF6}"/>
              </a:ext>
            </a:extLst>
          </p:cNvPr>
          <p:cNvSpPr>
            <a:spLocks xmlns:a="http://schemas.openxmlformats.org/drawingml/2006/main" noGrp="1"/>
          </p:cNvSpPr>
          <p:nvPr/>
        </p:nvSpPr>
        <p:spPr>
          <a:xfrm xmlns:a="http://schemas.openxmlformats.org/drawingml/2006/main">
            <a:off x="6076950" y="37338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D515E94-DC4C-42BD-911B-154D7FE66890}"/>
              </a:ext>
            </a:extLst>
          </p:cNvPr>
          <p:cNvSpPr>
            <a:spLocks xmlns:a="http://schemas.openxmlformats.org/drawingml/2006/main" noGrp="1"/>
          </p:cNvSpPr>
          <p:nvPr/>
        </p:nvSpPr>
        <p:spPr>
          <a:xfrm xmlns:a="http://schemas.openxmlformats.org/drawingml/2006/main">
            <a:off x="6076950" y="41148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TEXTURE</a:t>
            </a:r>
          </a:p>
        </p:txBody>
      </p:sp>
      <p:sp>
        <p:nvSpPr>
          <p:cNvPr id="24" name="">
            <a:extLst xmlns:a="http://schemas.openxmlformats.org/drawingml/2006/main">
              <a:ext uri="{FF2B5EF4-FFF2-40B4-BE49-F238E27FC236}">
                <a16:creationId xmlns:a16="http://schemas.microsoft.com/office/drawing/2014/main" id="{70A81BDD-F468-4665-9275-C300021E0711}"/>
              </a:ext>
            </a:extLst>
          </p:cNvPr>
          <p:cNvSpPr>
            <a:spLocks xmlns:a="http://schemas.openxmlformats.org/drawingml/2006/main" noGrp="1"/>
          </p:cNvSpPr>
          <p:nvPr/>
        </p:nvSpPr>
        <p:spPr>
          <a:xfrm xmlns:a="http://schemas.openxmlformats.org/drawingml/2006/main">
            <a:off x="8077200" y="4095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Local texture variation v2</a:t>
            </a:r>
          </a:p>
        </p:txBody>
      </p:sp>
      <p:sp>
        <p:nvSpPr>
          <p:cNvPr id="25" name="">
            <a:extLst xmlns:a="http://schemas.openxmlformats.org/drawingml/2006/main">
              <a:ext uri="{FF2B5EF4-FFF2-40B4-BE49-F238E27FC236}">
                <a16:creationId xmlns:a16="http://schemas.microsoft.com/office/drawing/2014/main" id="{01AE8DEF-FC3C-4071-8D8B-28ABEA582D62}"/>
              </a:ext>
            </a:extLst>
          </p:cNvPr>
          <p:cNvSpPr>
            <a:spLocks xmlns:a="http://schemas.openxmlformats.org/drawingml/2006/main" noGrp="1"/>
          </p:cNvSpPr>
          <p:nvPr/>
        </p:nvSpPr>
        <p:spPr>
          <a:xfrm xmlns:a="http://schemas.openxmlformats.org/drawingml/2006/main">
            <a:off x="6076950" y="45720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AA620C0-5D91-4967-B87F-CBCBAA73623B}"/>
              </a:ext>
            </a:extLst>
          </p:cNvPr>
          <p:cNvSpPr>
            <a:spLocks xmlns:a="http://schemas.openxmlformats.org/drawingml/2006/main" noGrp="1"/>
          </p:cNvSpPr>
          <p:nvPr/>
        </p:nvSpPr>
        <p:spPr>
          <a:xfrm xmlns:a="http://schemas.openxmlformats.org/drawingml/2006/main">
            <a:off x="6076950" y="4857750"/>
            <a:ext cx="5286375" cy="10668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112D3C1-714C-4F0A-9EFF-3B0071FD706C}"/>
              </a:ext>
            </a:extLst>
          </p:cNvPr>
          <p:cNvSpPr>
            <a:spLocks xmlns:a="http://schemas.openxmlformats.org/drawingml/2006/main" noGrp="1"/>
          </p:cNvSpPr>
          <p:nvPr/>
        </p:nvSpPr>
        <p:spPr>
          <a:xfrm xmlns:a="http://schemas.openxmlformats.org/drawingml/2006/main">
            <a:off x="6267450" y="50196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Important boundary</a:t>
            </a:r>
          </a:p>
        </p:txBody>
      </p:sp>
      <p:sp>
        <p:nvSpPr>
          <p:cNvPr id="28" name="">
            <a:extLst xmlns:a="http://schemas.openxmlformats.org/drawingml/2006/main">
              <a:ext uri="{FF2B5EF4-FFF2-40B4-BE49-F238E27FC236}">
                <a16:creationId xmlns:a16="http://schemas.microsoft.com/office/drawing/2014/main" id="{6F7EBE71-9923-46BC-B9E5-CA951AFD9B0F}"/>
              </a:ext>
            </a:extLst>
          </p:cNvPr>
          <p:cNvSpPr>
            <a:spLocks xmlns:a="http://schemas.openxmlformats.org/drawingml/2006/main" noGrp="1"/>
          </p:cNvSpPr>
          <p:nvPr/>
        </p:nvSpPr>
        <p:spPr>
          <a:xfrm xmlns:a="http://schemas.openxmlformats.org/drawingml/2006/main">
            <a:off x="6267450" y="5314950"/>
            <a:ext cx="4810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Candidate predictors only</a:t>
            </a:r>
          </a:p>
          <a:p xmlns:a="http://schemas.openxmlformats.org/drawingml/2006/main">
            <a:pPr algn="l">
              <a:buNone/>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Discernibility requires participant evidence</a:t>
            </a:r>
          </a:p>
        </p:txBody>
      </p:sp>
    </p:spTree>
    <p:extLst>
      <p:ext uri="{BB962C8B-B14F-4D97-AF65-F5344CB8AC3E}">
        <p14:creationId xmlns:p14="http://schemas.microsoft.com/office/powerpoint/2010/main" val="16096083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7A2B5D-E6A4-4EE7-9E0C-83A5AF352159}"/>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07 · CURRENT SYSTEM</a:t>
            </a:r>
          </a:p>
        </p:txBody>
      </p:sp>
      <p:sp>
        <p:nvSpPr>
          <p:cNvPr id="2" name="">
            <a:extLst xmlns:a="http://schemas.openxmlformats.org/drawingml/2006/main">
              <a:ext uri="{FF2B5EF4-FFF2-40B4-BE49-F238E27FC236}">
                <a16:creationId xmlns:a16="http://schemas.microsoft.com/office/drawing/2014/main" id="{DD91090A-18F5-4EB1-AB21-C1E9B4059B45}"/>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57B86CC7-4461-4813-A09C-B1E88B444090}"/>
              </a:ext>
            </a:extLst>
          </p:cNvPr>
          <p:cNvSpPr>
            <a:spLocks xmlns:a="http://schemas.openxmlformats.org/drawingml/2006/main" noGrp="1"/>
          </p:cNvSpPr>
          <p:nvPr/>
        </p:nvSpPr>
        <p:spPr>
          <a:xfrm xmlns:a="http://schemas.openxmlformats.org/drawingml/2006/main">
            <a:off x="400050" y="74295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Demo 1: inspect the seven feature families</a:t>
            </a:r>
          </a:p>
        </p:txBody>
      </p:sp>
      <p:sp>
        <p:nvSpPr>
          <p:cNvPr id="4" name="">
            <a:extLst xmlns:a="http://schemas.openxmlformats.org/drawingml/2006/main">
              <a:ext uri="{FF2B5EF4-FFF2-40B4-BE49-F238E27FC236}">
                <a16:creationId xmlns:a16="http://schemas.microsoft.com/office/drawing/2014/main" id="{FA7620A4-6B69-4DDC-8813-10F24C84CC16}"/>
              </a:ext>
            </a:extLst>
          </p:cNvPr>
          <p:cNvSpPr>
            <a:spLocks xmlns:a="http://schemas.openxmlformats.org/drawingml/2006/main" noGrp="1"/>
          </p:cNvSpPr>
          <p:nvPr/>
        </p:nvSpPr>
        <p:spPr>
          <a:xfrm xmlns:a="http://schemas.openxmlformats.org/drawingml/2006/main">
            <a:off x="400050" y="14382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Seven measurements · value-stratified examples</a:t>
            </a:r>
          </a:p>
        </p:txBody>
      </p:sp>
      <p:sp>
        <p:nvSpPr>
          <p:cNvPr id="5" name="">
            <a:extLst xmlns:a="http://schemas.openxmlformats.org/drawingml/2006/main">
              <a:ext uri="{FF2B5EF4-FFF2-40B4-BE49-F238E27FC236}">
                <a16:creationId xmlns:a16="http://schemas.microsoft.com/office/drawing/2014/main" id="{A7893CBE-5544-4F2D-B050-E20FC836B712}"/>
              </a:ext>
            </a:extLst>
          </p:cNvPr>
          <p:cNvSpPr>
            <a:spLocks xmlns:a="http://schemas.openxmlformats.org/drawingml/2006/main" noGrp="1"/>
          </p:cNvSpPr>
          <p:nvPr/>
        </p:nvSpPr>
        <p:spPr>
          <a:xfrm xmlns:a="http://schemas.openxmlformats.org/drawingml/2006/main">
            <a:off x="400050" y="1971675"/>
            <a:ext cx="1139190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ecaec74b6a34d54"/>
          <a:stretch xmlns:a="http://schemas.openxmlformats.org/drawingml/2006/main"/>
        </p:blipFill>
        <p:spPr>
          <a:xfrm xmlns:a="http://schemas.openxmlformats.org/drawingml/2006/main">
            <a:off x="601894" y="2085975"/>
            <a:ext cx="10988211" cy="3943350"/>
          </a:xfrm>
          <a:prstGeom xmlns:a="http://schemas.openxmlformats.org/drawingml/2006/main" prst="rect">
            <a:avLst/>
          </a:prstGeom>
        </p:spPr>
      </p:pic>
    </p:spTree>
    <p:extLst>
      <p:ext uri="{BB962C8B-B14F-4D97-AF65-F5344CB8AC3E}">
        <p14:creationId xmlns:p14="http://schemas.microsoft.com/office/powerpoint/2010/main" val="2771630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10D940-336D-4263-ACAC-4493EEC5D679}"/>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07 · CURRENT SYSTEM</a:t>
            </a:r>
          </a:p>
        </p:txBody>
      </p:sp>
      <p:sp>
        <p:nvSpPr>
          <p:cNvPr id="2" name="">
            <a:extLst xmlns:a="http://schemas.openxmlformats.org/drawingml/2006/main">
              <a:ext uri="{FF2B5EF4-FFF2-40B4-BE49-F238E27FC236}">
                <a16:creationId xmlns:a16="http://schemas.microsoft.com/office/drawing/2014/main" id="{84A29E1F-080D-4F54-883D-B0BF9DE78768}"/>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4892A936-E9A5-4FBB-805C-FB885A51B8BB}"/>
              </a:ext>
            </a:extLst>
          </p:cNvPr>
          <p:cNvSpPr>
            <a:spLocks xmlns:a="http://schemas.openxmlformats.org/drawingml/2006/main" noGrp="1"/>
          </p:cNvSpPr>
          <p:nvPr/>
        </p:nvSpPr>
        <p:spPr>
          <a:xfrm xmlns:a="http://schemas.openxmlformats.org/drawingml/2006/main">
            <a:off x="400050" y="742950"/>
            <a:ext cx="1139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Demo 2: inspect clustering</a:t>
            </a:r>
          </a:p>
        </p:txBody>
      </p:sp>
      <p:sp>
        <p:nvSpPr>
          <p:cNvPr id="4" name="">
            <a:extLst xmlns:a="http://schemas.openxmlformats.org/drawingml/2006/main">
              <a:ext uri="{FF2B5EF4-FFF2-40B4-BE49-F238E27FC236}">
                <a16:creationId xmlns:a16="http://schemas.microsoft.com/office/drawing/2014/main" id="{E45FE98A-02CC-48EF-BA63-ACA5E05F4A82}"/>
              </a:ext>
            </a:extLst>
          </p:cNvPr>
          <p:cNvSpPr>
            <a:spLocks xmlns:a="http://schemas.openxmlformats.org/drawingml/2006/main" noGrp="1"/>
          </p:cNvSpPr>
          <p:nvPr/>
        </p:nvSpPr>
        <p:spPr>
          <a:xfrm xmlns:a="http://schemas.openxmlformats.org/drawingml/2006/main">
            <a:off x="400050" y="14382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Lasso selection · cluster summaries · candidate contrasts</a:t>
            </a:r>
          </a:p>
        </p:txBody>
      </p:sp>
      <p:sp>
        <p:nvSpPr>
          <p:cNvPr id="5" name="">
            <a:extLst xmlns:a="http://schemas.openxmlformats.org/drawingml/2006/main">
              <a:ext uri="{FF2B5EF4-FFF2-40B4-BE49-F238E27FC236}">
                <a16:creationId xmlns:a16="http://schemas.microsoft.com/office/drawing/2014/main" id="{8E06A488-7F57-496E-9CAB-5B56F69E604F}"/>
              </a:ext>
            </a:extLst>
          </p:cNvPr>
          <p:cNvSpPr>
            <a:spLocks xmlns:a="http://schemas.openxmlformats.org/drawingml/2006/main" noGrp="1"/>
          </p:cNvSpPr>
          <p:nvPr/>
        </p:nvSpPr>
        <p:spPr>
          <a:xfrm xmlns:a="http://schemas.openxmlformats.org/drawingml/2006/main">
            <a:off x="400050" y="1924050"/>
            <a:ext cx="11391900" cy="43434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da6099d49734bb9"/>
          <a:stretch xmlns:a="http://schemas.openxmlformats.org/drawingml/2006/main"/>
        </p:blipFill>
        <p:spPr>
          <a:xfrm xmlns:a="http://schemas.openxmlformats.org/drawingml/2006/main">
            <a:off x="517187" y="1981200"/>
            <a:ext cx="11157626" cy="4229100"/>
          </a:xfrm>
          <a:prstGeom xmlns:a="http://schemas.openxmlformats.org/drawingml/2006/main" prst="rect">
            <a:avLst/>
          </a:prstGeom>
        </p:spPr>
      </p:pic>
    </p:spTree>
    <p:extLst>
      <p:ext uri="{BB962C8B-B14F-4D97-AF65-F5344CB8AC3E}">
        <p14:creationId xmlns:p14="http://schemas.microsoft.com/office/powerpoint/2010/main" val="21313844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55E0CB-B5B7-442A-AAE6-4EC7173575F6}"/>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07 · CURRENT SYSTEM</a:t>
            </a:r>
          </a:p>
        </p:txBody>
      </p:sp>
      <p:sp>
        <p:nvSpPr>
          <p:cNvPr id="2" name="">
            <a:extLst xmlns:a="http://schemas.openxmlformats.org/drawingml/2006/main">
              <a:ext uri="{FF2B5EF4-FFF2-40B4-BE49-F238E27FC236}">
                <a16:creationId xmlns:a16="http://schemas.microsoft.com/office/drawing/2014/main" id="{36D311DE-97AD-4895-AC70-7B546293B308}"/>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6319F472-E95D-41B2-BA20-0A9A289EF942}"/>
              </a:ext>
            </a:extLst>
          </p:cNvPr>
          <p:cNvSpPr>
            <a:spLocks xmlns:a="http://schemas.openxmlformats.org/drawingml/2006/main" noGrp="1"/>
          </p:cNvSpPr>
          <p:nvPr/>
        </p:nvSpPr>
        <p:spPr>
          <a:xfrm xmlns:a="http://schemas.openxmlformats.org/drawingml/2006/main">
            <a:off x="400050" y="74295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Demo 3: compare feature and AI groupings</a:t>
            </a:r>
          </a:p>
        </p:txBody>
      </p:sp>
      <p:sp>
        <p:nvSpPr>
          <p:cNvPr id="4" name="">
            <a:extLst xmlns:a="http://schemas.openxmlformats.org/drawingml/2006/main">
              <a:ext uri="{FF2B5EF4-FFF2-40B4-BE49-F238E27FC236}">
                <a16:creationId xmlns:a16="http://schemas.microsoft.com/office/drawing/2014/main" id="{608FDD67-5A67-481A-A9BC-4D3DB9A189F4}"/>
              </a:ext>
            </a:extLst>
          </p:cNvPr>
          <p:cNvSpPr>
            <a:spLocks xmlns:a="http://schemas.openxmlformats.org/drawingml/2006/main" noGrp="1"/>
          </p:cNvSpPr>
          <p:nvPr/>
        </p:nvSpPr>
        <p:spPr>
          <a:xfrm xmlns:a="http://schemas.openxmlformats.org/drawingml/2006/main">
            <a:off x="400050" y="14382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Pairwise agreement · 0.783     Partition similarity—not accuracy</a:t>
            </a:r>
          </a:p>
        </p:txBody>
      </p:sp>
      <p:sp>
        <p:nvSpPr>
          <p:cNvPr id="5" name="">
            <a:extLst xmlns:a="http://schemas.openxmlformats.org/drawingml/2006/main">
              <a:ext uri="{FF2B5EF4-FFF2-40B4-BE49-F238E27FC236}">
                <a16:creationId xmlns:a16="http://schemas.microsoft.com/office/drawing/2014/main" id="{EED33E35-3A91-4F24-8FB7-8237026848DB}"/>
              </a:ext>
            </a:extLst>
          </p:cNvPr>
          <p:cNvSpPr>
            <a:spLocks xmlns:a="http://schemas.openxmlformats.org/drawingml/2006/main" noGrp="1"/>
          </p:cNvSpPr>
          <p:nvPr/>
        </p:nvSpPr>
        <p:spPr>
          <a:xfrm xmlns:a="http://schemas.openxmlformats.org/drawingml/2006/main">
            <a:off x="600075" y="1914525"/>
            <a:ext cx="10991850" cy="43434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2cd945363514d9a"/>
          <a:stretch xmlns:a="http://schemas.openxmlformats.org/drawingml/2006/main"/>
        </p:blipFill>
        <p:spPr>
          <a:xfrm xmlns:a="http://schemas.openxmlformats.org/drawingml/2006/main">
            <a:off x="889518" y="2028825"/>
            <a:ext cx="10412963" cy="4114800"/>
          </a:xfrm>
          <a:prstGeom xmlns:a="http://schemas.openxmlformats.org/drawingml/2006/main" prst="rect">
            <a:avLst/>
          </a:prstGeom>
        </p:spPr>
      </p:pic>
    </p:spTree>
    <p:extLst>
      <p:ext uri="{BB962C8B-B14F-4D97-AF65-F5344CB8AC3E}">
        <p14:creationId xmlns:p14="http://schemas.microsoft.com/office/powerpoint/2010/main" val="11574347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53A118B-1807-4F0F-A656-A507ECE289A1}"/>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08 · CURRENT PROGRESS</a:t>
            </a:r>
          </a:p>
        </p:txBody>
      </p:sp>
      <p:sp>
        <p:nvSpPr>
          <p:cNvPr id="2" name="">
            <a:extLst xmlns:a="http://schemas.openxmlformats.org/drawingml/2006/main">
              <a:ext uri="{FF2B5EF4-FFF2-40B4-BE49-F238E27FC236}">
                <a16:creationId xmlns:a16="http://schemas.microsoft.com/office/drawing/2014/main" id="{CA2147BA-803A-44BB-ABA9-F1A3417EF240}"/>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7B69244F-E6C1-496F-8F0C-30D5CF08FD36}"/>
              </a:ext>
            </a:extLst>
          </p:cNvPr>
          <p:cNvSpPr>
            <a:spLocks xmlns:a="http://schemas.openxmlformats.org/drawingml/2006/main" noGrp="1"/>
          </p:cNvSpPr>
          <p:nvPr/>
        </p:nvSpPr>
        <p:spPr>
          <a:xfrm xmlns:a="http://schemas.openxmlformats.org/drawingml/2006/main">
            <a:off x="400050" y="838200"/>
            <a:ext cx="11391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The current system is ready for glyph selection</a:t>
            </a:r>
          </a:p>
        </p:txBody>
      </p:sp>
      <p:sp>
        <p:nvSpPr>
          <p:cNvPr id="4" name="">
            <a:extLst xmlns:a="http://schemas.openxmlformats.org/drawingml/2006/main">
              <a:ext uri="{FF2B5EF4-FFF2-40B4-BE49-F238E27FC236}">
                <a16:creationId xmlns:a16="http://schemas.microsoft.com/office/drawing/2014/main" id="{BF318EE5-C99D-4B68-B238-14751234433A}"/>
              </a:ext>
            </a:extLst>
          </p:cNvPr>
          <p:cNvSpPr>
            <a:spLocks xmlns:a="http://schemas.openxmlformats.org/drawingml/2006/main" noGrp="1"/>
          </p:cNvSpPr>
          <p:nvPr/>
        </p:nvSpPr>
        <p:spPr>
          <a:xfrm xmlns:a="http://schemas.openxmlformats.org/drawingml/2006/main">
            <a:off x="400050" y="18383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BUILT AND WORKING</a:t>
            </a:r>
          </a:p>
        </p:txBody>
      </p:sp>
      <p:sp>
        <p:nvSpPr>
          <p:cNvPr id="5" name="">
            <a:extLst xmlns:a="http://schemas.openxmlformats.org/drawingml/2006/main">
              <a:ext uri="{FF2B5EF4-FFF2-40B4-BE49-F238E27FC236}">
                <a16:creationId xmlns:a16="http://schemas.microsoft.com/office/drawing/2014/main" id="{08BA2B85-74C6-4E64-9642-41CD0F643C3D}"/>
              </a:ext>
            </a:extLst>
          </p:cNvPr>
          <p:cNvSpPr>
            <a:spLocks xmlns:a="http://schemas.openxmlformats.org/drawingml/2006/main" noGrp="1"/>
          </p:cNvSpPr>
          <p:nvPr/>
        </p:nvSpPr>
        <p:spPr>
          <a:xfrm xmlns:a="http://schemas.openxmlformats.org/drawingml/2006/main">
            <a:off x="6334125" y="18383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NEXT WORK</a:t>
            </a:r>
          </a:p>
        </p:txBody>
      </p:sp>
      <p:sp>
        <p:nvSpPr>
          <p:cNvPr id="6" name="">
            <a:extLst xmlns:a="http://schemas.openxmlformats.org/drawingml/2006/main">
              <a:ext uri="{FF2B5EF4-FFF2-40B4-BE49-F238E27FC236}">
                <a16:creationId xmlns:a16="http://schemas.microsoft.com/office/drawing/2014/main" id="{ABD8088F-8318-4229-BEF4-B0946578D798}"/>
              </a:ext>
            </a:extLst>
          </p:cNvPr>
          <p:cNvSpPr>
            <a:spLocks xmlns:a="http://schemas.openxmlformats.org/drawingml/2006/main" noGrp="1"/>
          </p:cNvSpPr>
          <p:nvPr/>
        </p:nvSpPr>
        <p:spPr>
          <a:xfrm xmlns:a="http://schemas.openxmlformats.org/drawingml/2006/main">
            <a:off x="5962650" y="1762125"/>
            <a:ext cx="19050" cy="37814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5FD925-59FF-43BB-B0E0-167105CA5398}"/>
              </a:ext>
            </a:extLst>
          </p:cNvPr>
          <p:cNvSpPr>
            <a:spLocks xmlns:a="http://schemas.openxmlformats.org/drawingml/2006/main" noGrp="1"/>
          </p:cNvSpPr>
          <p:nvPr/>
        </p:nvSpPr>
        <p:spPr>
          <a:xfrm xmlns:a="http://schemas.openxmlformats.org/drawingml/2006/main">
            <a:off x="400050" y="23907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25A27B4B-327A-43E7-A38A-15FB9EED8692}"/>
              </a:ext>
            </a:extLst>
          </p:cNvPr>
          <p:cNvSpPr>
            <a:spLocks xmlns:a="http://schemas.openxmlformats.org/drawingml/2006/main" noGrp="1"/>
          </p:cNvSpPr>
          <p:nvPr/>
        </p:nvSpPr>
        <p:spPr>
          <a:xfrm xmlns:a="http://schemas.openxmlformats.org/drawingml/2006/main">
            <a:off x="876300" y="24003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Icon corpus and normalization</a:t>
            </a:r>
          </a:p>
        </p:txBody>
      </p:sp>
      <p:sp>
        <p:nvSpPr>
          <p:cNvPr id="9" name="">
            <a:extLst xmlns:a="http://schemas.openxmlformats.org/drawingml/2006/main">
              <a:ext uri="{FF2B5EF4-FFF2-40B4-BE49-F238E27FC236}">
                <a16:creationId xmlns:a16="http://schemas.microsoft.com/office/drawing/2014/main" id="{54CDF4F9-EE04-4442-972C-67C656035439}"/>
              </a:ext>
            </a:extLst>
          </p:cNvPr>
          <p:cNvSpPr>
            <a:spLocks xmlns:a="http://schemas.openxmlformats.org/drawingml/2006/main" noGrp="1"/>
          </p:cNvSpPr>
          <p:nvPr/>
        </p:nvSpPr>
        <p:spPr>
          <a:xfrm xmlns:a="http://schemas.openxmlformats.org/drawingml/2006/main">
            <a:off x="400050" y="31432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D5691E8A-289C-4CA0-966B-58CF04BFAF4B}"/>
              </a:ext>
            </a:extLst>
          </p:cNvPr>
          <p:cNvSpPr>
            <a:spLocks xmlns:a="http://schemas.openxmlformats.org/drawingml/2006/main" noGrp="1"/>
          </p:cNvSpPr>
          <p:nvPr/>
        </p:nvSpPr>
        <p:spPr>
          <a:xfrm xmlns:a="http://schemas.openxmlformats.org/drawingml/2006/main">
            <a:off x="876300" y="31527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Seven feature families</a:t>
            </a:r>
          </a:p>
        </p:txBody>
      </p:sp>
      <p:sp>
        <p:nvSpPr>
          <p:cNvPr id="11" name="">
            <a:extLst xmlns:a="http://schemas.openxmlformats.org/drawingml/2006/main">
              <a:ext uri="{FF2B5EF4-FFF2-40B4-BE49-F238E27FC236}">
                <a16:creationId xmlns:a16="http://schemas.microsoft.com/office/drawing/2014/main" id="{97BB4E4A-88F2-4585-B89E-1ED2A5CF72AA}"/>
              </a:ext>
            </a:extLst>
          </p:cNvPr>
          <p:cNvSpPr>
            <a:spLocks xmlns:a="http://schemas.openxmlformats.org/drawingml/2006/main" noGrp="1"/>
          </p:cNvSpPr>
          <p:nvPr/>
        </p:nvSpPr>
        <p:spPr>
          <a:xfrm xmlns:a="http://schemas.openxmlformats.org/drawingml/2006/main">
            <a:off x="400050" y="389572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23186580-E70E-4A7C-B8BC-DD02EF25C4CF}"/>
              </a:ext>
            </a:extLst>
          </p:cNvPr>
          <p:cNvSpPr>
            <a:spLocks xmlns:a="http://schemas.openxmlformats.org/drawingml/2006/main" noGrp="1"/>
          </p:cNvSpPr>
          <p:nvPr/>
        </p:nvSpPr>
        <p:spPr>
          <a:xfrm xmlns:a="http://schemas.openxmlformats.org/drawingml/2006/main">
            <a:off x="876300" y="39052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Interactive UI and lasso inspection</a:t>
            </a:r>
          </a:p>
        </p:txBody>
      </p:sp>
      <p:sp>
        <p:nvSpPr>
          <p:cNvPr id="13" name="">
            <a:extLst xmlns:a="http://schemas.openxmlformats.org/drawingml/2006/main">
              <a:ext uri="{FF2B5EF4-FFF2-40B4-BE49-F238E27FC236}">
                <a16:creationId xmlns:a16="http://schemas.microsoft.com/office/drawing/2014/main" id="{82480220-5AE7-41FC-863E-340236D7D5E0}"/>
              </a:ext>
            </a:extLst>
          </p:cNvPr>
          <p:cNvSpPr>
            <a:spLocks xmlns:a="http://schemas.openxmlformats.org/drawingml/2006/main" noGrp="1"/>
          </p:cNvSpPr>
          <p:nvPr/>
        </p:nvSpPr>
        <p:spPr>
          <a:xfrm xmlns:a="http://schemas.openxmlformats.org/drawingml/2006/main">
            <a:off x="400050" y="464820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6A9443B5-BE6B-49D6-9656-E835E0451991}"/>
              </a:ext>
            </a:extLst>
          </p:cNvPr>
          <p:cNvSpPr>
            <a:spLocks xmlns:a="http://schemas.openxmlformats.org/drawingml/2006/main" noGrp="1"/>
          </p:cNvSpPr>
          <p:nvPr/>
        </p:nvSpPr>
        <p:spPr>
          <a:xfrm xmlns:a="http://schemas.openxmlformats.org/drawingml/2006/main">
            <a:off x="876300" y="465772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Clustering and cluster summaries</a:t>
            </a:r>
          </a:p>
        </p:txBody>
      </p:sp>
      <p:sp>
        <p:nvSpPr>
          <p:cNvPr id="15" name="">
            <a:extLst xmlns:a="http://schemas.openxmlformats.org/drawingml/2006/main">
              <a:ext uri="{FF2B5EF4-FFF2-40B4-BE49-F238E27FC236}">
                <a16:creationId xmlns:a16="http://schemas.microsoft.com/office/drawing/2014/main" id="{BD8D542B-E704-4DDA-9016-847252323815}"/>
              </a:ext>
            </a:extLst>
          </p:cNvPr>
          <p:cNvSpPr>
            <a:spLocks xmlns:a="http://schemas.openxmlformats.org/drawingml/2006/main" noGrp="1"/>
          </p:cNvSpPr>
          <p:nvPr/>
        </p:nvSpPr>
        <p:spPr>
          <a:xfrm xmlns:a="http://schemas.openxmlformats.org/drawingml/2006/main">
            <a:off x="6334125" y="25622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01</a:t>
            </a:r>
          </a:p>
        </p:txBody>
      </p:sp>
      <p:sp>
        <p:nvSpPr>
          <p:cNvPr id="16" name="">
            <a:extLst xmlns:a="http://schemas.openxmlformats.org/drawingml/2006/main">
              <a:ext uri="{FF2B5EF4-FFF2-40B4-BE49-F238E27FC236}">
                <a16:creationId xmlns:a16="http://schemas.microsoft.com/office/drawing/2014/main" id="{EB0D2577-2701-416B-BDD0-1BCBA21990C1}"/>
              </a:ext>
            </a:extLst>
          </p:cNvPr>
          <p:cNvSpPr>
            <a:spLocks xmlns:a="http://schemas.openxmlformats.org/drawingml/2006/main" noGrp="1"/>
          </p:cNvSpPr>
          <p:nvPr/>
        </p:nvSpPr>
        <p:spPr>
          <a:xfrm xmlns:a="http://schemas.openxmlformats.org/drawingml/2006/main">
            <a:off x="6943725" y="25431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Select glyphs</a:t>
            </a:r>
          </a:p>
        </p:txBody>
      </p:sp>
      <p:sp>
        <p:nvSpPr>
          <p:cNvPr id="17" name="">
            <a:extLst xmlns:a="http://schemas.openxmlformats.org/drawingml/2006/main">
              <a:ext uri="{FF2B5EF4-FFF2-40B4-BE49-F238E27FC236}">
                <a16:creationId xmlns:a16="http://schemas.microsoft.com/office/drawing/2014/main" id="{B73EB2D6-789B-469D-B059-A40C25141A81}"/>
              </a:ext>
            </a:extLst>
          </p:cNvPr>
          <p:cNvSpPr>
            <a:spLocks xmlns:a="http://schemas.openxmlformats.org/drawingml/2006/main" noGrp="1"/>
          </p:cNvSpPr>
          <p:nvPr/>
        </p:nvSpPr>
        <p:spPr>
          <a:xfrm xmlns:a="http://schemas.openxmlformats.org/drawingml/2006/main">
            <a:off x="6943725" y="2952750"/>
            <a:ext cx="4267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Feature values · clusters · summaries</a:t>
            </a:r>
          </a:p>
        </p:txBody>
      </p:sp>
      <p:sp>
        <p:nvSpPr>
          <p:cNvPr id="18" name="">
            <a:extLst xmlns:a="http://schemas.openxmlformats.org/drawingml/2006/main">
              <a:ext uri="{FF2B5EF4-FFF2-40B4-BE49-F238E27FC236}">
                <a16:creationId xmlns:a16="http://schemas.microsoft.com/office/drawing/2014/main" id="{C42F70BB-E2B0-46CF-B2A2-F24F81E969BA}"/>
              </a:ext>
            </a:extLst>
          </p:cNvPr>
          <p:cNvSpPr>
            <a:spLocks xmlns:a="http://schemas.openxmlformats.org/drawingml/2006/main" noGrp="1"/>
          </p:cNvSpPr>
          <p:nvPr/>
        </p:nvSpPr>
        <p:spPr>
          <a:xfrm xmlns:a="http://schemas.openxmlformats.org/drawingml/2006/main">
            <a:off x="6334125" y="40005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02</a:t>
            </a:r>
          </a:p>
        </p:txBody>
      </p:sp>
      <p:sp>
        <p:nvSpPr>
          <p:cNvPr id="19" name="">
            <a:extLst xmlns:a="http://schemas.openxmlformats.org/drawingml/2006/main">
              <a:ext uri="{FF2B5EF4-FFF2-40B4-BE49-F238E27FC236}">
                <a16:creationId xmlns:a16="http://schemas.microsoft.com/office/drawing/2014/main" id="{E41C8D9F-5836-4D6B-9B71-98DFD2D9BA74}"/>
              </a:ext>
            </a:extLst>
          </p:cNvPr>
          <p:cNvSpPr>
            <a:spLocks xmlns:a="http://schemas.openxmlformats.org/drawingml/2006/main" noGrp="1"/>
          </p:cNvSpPr>
          <p:nvPr/>
        </p:nvSpPr>
        <p:spPr>
          <a:xfrm xmlns:a="http://schemas.openxmlformats.org/drawingml/2006/main">
            <a:off x="6943725" y="3981450"/>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Design the study</a:t>
            </a:r>
          </a:p>
        </p:txBody>
      </p:sp>
      <p:sp>
        <p:nvSpPr>
          <p:cNvPr id="20" name="">
            <a:extLst xmlns:a="http://schemas.openxmlformats.org/drawingml/2006/main">
              <a:ext uri="{FF2B5EF4-FFF2-40B4-BE49-F238E27FC236}">
                <a16:creationId xmlns:a16="http://schemas.microsoft.com/office/drawing/2014/main" id="{81FDDB70-BF34-4946-A360-69D8BB14E63F}"/>
              </a:ext>
            </a:extLst>
          </p:cNvPr>
          <p:cNvSpPr>
            <a:spLocks xmlns:a="http://schemas.openxmlformats.org/drawingml/2006/main" noGrp="1"/>
          </p:cNvSpPr>
          <p:nvPr/>
        </p:nvSpPr>
        <p:spPr>
          <a:xfrm xmlns:a="http://schemas.openxmlformats.org/drawingml/2006/main">
            <a:off x="6943725" y="4391025"/>
            <a:ext cx="4267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Only after glyph selection</a:t>
            </a:r>
          </a:p>
        </p:txBody>
      </p:sp>
      <p:sp>
        <p:nvSpPr>
          <p:cNvPr id="21" name="">
            <a:extLst xmlns:a="http://schemas.openxmlformats.org/drawingml/2006/main">
              <a:ext uri="{FF2B5EF4-FFF2-40B4-BE49-F238E27FC236}">
                <a16:creationId xmlns:a16="http://schemas.microsoft.com/office/drawing/2014/main" id="{66AB501A-CDE5-4623-90F7-224B01914A9D}"/>
              </a:ext>
            </a:extLst>
          </p:cNvPr>
          <p:cNvSpPr>
            <a:spLocks xmlns:a="http://schemas.openxmlformats.org/drawingml/2006/main" noGrp="1"/>
          </p:cNvSpPr>
          <p:nvPr/>
        </p:nvSpPr>
        <p:spPr>
          <a:xfrm xmlns:a="http://schemas.openxmlformats.org/drawingml/2006/main">
            <a:off x="400050" y="5819775"/>
            <a:ext cx="1139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Not yet defined · participant protocol · task · measurements</a:t>
            </a:r>
          </a:p>
        </p:txBody>
      </p:sp>
    </p:spTree>
    <p:extLst>
      <p:ext uri="{BB962C8B-B14F-4D97-AF65-F5344CB8AC3E}">
        <p14:creationId xmlns:p14="http://schemas.microsoft.com/office/powerpoint/2010/main" val="15095356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DC9EDD-9CC8-40A1-898C-283E758D3D59}"/>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09 · NEXT PHASE</a:t>
            </a:r>
          </a:p>
        </p:txBody>
      </p:sp>
      <p:sp>
        <p:nvSpPr>
          <p:cNvPr id="2" name="">
            <a:extLst xmlns:a="http://schemas.openxmlformats.org/drawingml/2006/main">
              <a:ext uri="{FF2B5EF4-FFF2-40B4-BE49-F238E27FC236}">
                <a16:creationId xmlns:a16="http://schemas.microsoft.com/office/drawing/2014/main" id="{B8263400-28CB-47E2-BF9E-786F2E6903E3}"/>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61F16EED-482D-41AD-98A1-0359D42B00A3}"/>
              </a:ext>
            </a:extLst>
          </p:cNvPr>
          <p:cNvSpPr>
            <a:spLocks xmlns:a="http://schemas.openxmlformats.org/drawingml/2006/main" noGrp="1"/>
          </p:cNvSpPr>
          <p:nvPr/>
        </p:nvSpPr>
        <p:spPr>
          <a:xfrm xmlns:a="http://schemas.openxmlformats.org/drawingml/2006/main">
            <a:off x="400050" y="7429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Next: select glyphs, then design the study</a:t>
            </a:r>
          </a:p>
        </p:txBody>
      </p:sp>
      <p:sp>
        <p:nvSpPr>
          <p:cNvPr id="4" name="">
            <a:extLst xmlns:a="http://schemas.openxmlformats.org/drawingml/2006/main">
              <a:ext uri="{FF2B5EF4-FFF2-40B4-BE49-F238E27FC236}">
                <a16:creationId xmlns:a16="http://schemas.microsoft.com/office/drawing/2014/main" id="{0AC93832-F3D3-4D6E-A211-4B66A2F314BF}"/>
              </a:ext>
            </a:extLst>
          </p:cNvPr>
          <p:cNvSpPr>
            <a:spLocks xmlns:a="http://schemas.openxmlformats.org/drawingml/2006/main" noGrp="1"/>
          </p:cNvSpPr>
          <p:nvPr/>
        </p:nvSpPr>
        <p:spPr>
          <a:xfrm xmlns:a="http://schemas.openxmlformats.org/drawingml/2006/main">
            <a:off x="400050" y="156210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Immediate milestone · reviewed, defensible glyph selection</a:t>
            </a:r>
          </a:p>
        </p:txBody>
      </p:sp>
      <p:sp>
        <p:nvSpPr>
          <p:cNvPr id="5" name="">
            <a:extLst xmlns:a="http://schemas.openxmlformats.org/drawingml/2006/main">
              <a:ext uri="{FF2B5EF4-FFF2-40B4-BE49-F238E27FC236}">
                <a16:creationId xmlns:a16="http://schemas.microsoft.com/office/drawing/2014/main" id="{A7532AE3-5628-4263-B0C6-B09E664E55BA}"/>
              </a:ext>
            </a:extLst>
          </p:cNvPr>
          <p:cNvSpPr>
            <a:spLocks xmlns:a="http://schemas.openxmlformats.org/drawingml/2006/main" noGrp="1"/>
          </p:cNvSpPr>
          <p:nvPr/>
        </p:nvSpPr>
        <p:spPr>
          <a:xfrm xmlns:a="http://schemas.openxmlformats.org/drawingml/2006/main">
            <a:off x="400050" y="2581275"/>
            <a:ext cx="5095875" cy="2619375"/>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582E520-AF41-4D35-9BD8-E5456EF32646}"/>
              </a:ext>
            </a:extLst>
          </p:cNvPr>
          <p:cNvSpPr>
            <a:spLocks xmlns:a="http://schemas.openxmlformats.org/drawingml/2006/main" noGrp="1"/>
          </p:cNvSpPr>
          <p:nvPr/>
        </p:nvSpPr>
        <p:spPr>
          <a:xfrm xmlns:a="http://schemas.openxmlformats.org/drawingml/2006/main">
            <a:off x="6296025" y="2581275"/>
            <a:ext cx="5095875" cy="2619375"/>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BB9FF60-F0D7-476E-8532-9128FB83637F}"/>
              </a:ext>
            </a:extLst>
          </p:cNvPr>
          <p:cNvSpPr>
            <a:spLocks xmlns:a="http://schemas.openxmlformats.org/drawingml/2006/main" noGrp="1"/>
          </p:cNvSpPr>
          <p:nvPr/>
        </p:nvSpPr>
        <p:spPr>
          <a:xfrm xmlns:a="http://schemas.openxmlformats.org/drawingml/2006/main">
            <a:off x="723900" y="2905125"/>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233F4B93-28C8-4DCF-BE14-AF55D6916CC8}"/>
              </a:ext>
            </a:extLst>
          </p:cNvPr>
          <p:cNvSpPr>
            <a:spLocks xmlns:a="http://schemas.openxmlformats.org/drawingml/2006/main" noGrp="1"/>
          </p:cNvSpPr>
          <p:nvPr/>
        </p:nvSpPr>
        <p:spPr>
          <a:xfrm xmlns:a="http://schemas.openxmlformats.org/drawingml/2006/main">
            <a:off x="723900" y="33623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Select candidate glyphs</a:t>
            </a:r>
          </a:p>
        </p:txBody>
      </p:sp>
      <p:sp>
        <p:nvSpPr>
          <p:cNvPr id="9" name="">
            <a:extLst xmlns:a="http://schemas.openxmlformats.org/drawingml/2006/main">
              <a:ext uri="{FF2B5EF4-FFF2-40B4-BE49-F238E27FC236}">
                <a16:creationId xmlns:a16="http://schemas.microsoft.com/office/drawing/2014/main" id="{9C36DD1B-B72D-418A-97BC-AE34514C6375}"/>
              </a:ext>
            </a:extLst>
          </p:cNvPr>
          <p:cNvSpPr>
            <a:spLocks xmlns:a="http://schemas.openxmlformats.org/drawingml/2006/main" noGrp="1"/>
          </p:cNvSpPr>
          <p:nvPr/>
        </p:nvSpPr>
        <p:spPr>
          <a:xfrm xmlns:a="http://schemas.openxmlformats.org/drawingml/2006/main">
            <a:off x="723900" y="3971925"/>
            <a:ext cx="42481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Dashboard review</a:t>
            </a:r>
          </a:p>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Seven feature values</a:t>
            </a:r>
          </a:p>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Clustering + lasso</a:t>
            </a:r>
          </a:p>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Cluster summaries</a:t>
            </a:r>
          </a:p>
        </p:txBody>
      </p:sp>
      <p:sp>
        <p:nvSpPr>
          <p:cNvPr id="10" name="">
            <a:extLst xmlns:a="http://schemas.openxmlformats.org/drawingml/2006/main">
              <a:ext uri="{FF2B5EF4-FFF2-40B4-BE49-F238E27FC236}">
                <a16:creationId xmlns:a16="http://schemas.microsoft.com/office/drawing/2014/main" id="{20572A32-DCFB-4408-8577-A4D2BA53DC12}"/>
              </a:ext>
            </a:extLst>
          </p:cNvPr>
          <p:cNvSpPr>
            <a:spLocks xmlns:a="http://schemas.openxmlformats.org/drawingml/2006/main" noGrp="1"/>
          </p:cNvSpPr>
          <p:nvPr/>
        </p:nvSpPr>
        <p:spPr>
          <a:xfrm xmlns:a="http://schemas.openxmlformats.org/drawingml/2006/main">
            <a:off x="6619875" y="2905125"/>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EAE8BEDF-75D0-44E0-AB0C-F170D58C65C3}"/>
              </a:ext>
            </a:extLst>
          </p:cNvPr>
          <p:cNvSpPr>
            <a:spLocks xmlns:a="http://schemas.openxmlformats.org/drawingml/2006/main" noGrp="1"/>
          </p:cNvSpPr>
          <p:nvPr/>
        </p:nvSpPr>
        <p:spPr>
          <a:xfrm xmlns:a="http://schemas.openxmlformats.org/drawingml/2006/main">
            <a:off x="6619875" y="33623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Design the user study</a:t>
            </a:r>
          </a:p>
        </p:txBody>
      </p:sp>
      <p:sp>
        <p:nvSpPr>
          <p:cNvPr id="12" name="">
            <a:extLst xmlns:a="http://schemas.openxmlformats.org/drawingml/2006/main">
              <a:ext uri="{FF2B5EF4-FFF2-40B4-BE49-F238E27FC236}">
                <a16:creationId xmlns:a16="http://schemas.microsoft.com/office/drawing/2014/main" id="{D5E5B8AC-B630-41B7-815A-CEF7A04F8A08}"/>
              </a:ext>
            </a:extLst>
          </p:cNvPr>
          <p:cNvSpPr>
            <a:spLocks xmlns:a="http://schemas.openxmlformats.org/drawingml/2006/main" noGrp="1"/>
          </p:cNvSpPr>
          <p:nvPr/>
        </p:nvSpPr>
        <p:spPr>
          <a:xfrm xmlns:a="http://schemas.openxmlformats.org/drawingml/2006/main">
            <a:off x="6619875" y="3971925"/>
            <a:ext cx="42481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Research questions</a:t>
            </a:r>
          </a:p>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Task + conditions</a:t>
            </a:r>
          </a:p>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Participant plan</a:t>
            </a:r>
          </a:p>
          <a:p xmlns:a="http://schemas.openxmlformats.org/drawingml/2006/main">
            <a:pPr algn="l">
              <a:buNone/>
              <a:defRPr sz="1425" b="0">
                <a:solidFill>
                  <a:srgbClr val="5E6672"/>
                </a:solidFill>
                <a:latin typeface="Helvetica Neue"/>
                <a:ea typeface="Helvetica Neue"/>
                <a:cs typeface="Helvetica Neue"/>
              </a:defRPr>
            </a:pPr>
            <a:r>
              <a:rPr sz="1425" b="0">
                <a:solidFill>
                  <a:srgbClr val="5E6672"/>
                </a:solidFill>
                <a:latin typeface="Helvetica Neue"/>
                <a:ea typeface="Helvetica Neue"/>
                <a:cs typeface="Helvetica Neue"/>
              </a:rPr>
              <a:t>Measurements</a:t>
            </a:r>
          </a:p>
        </p:txBody>
      </p:sp>
      <p:sp>
        <p:nvSpPr>
          <p:cNvPr id="13" name="">
            <a:extLst xmlns:a="http://schemas.openxmlformats.org/drawingml/2006/main">
              <a:ext uri="{FF2B5EF4-FFF2-40B4-BE49-F238E27FC236}">
                <a16:creationId xmlns:a16="http://schemas.microsoft.com/office/drawing/2014/main" id="{94880FE9-E6D8-4452-9A3A-BD8D58ED92EB}"/>
              </a:ext>
            </a:extLst>
          </p:cNvPr>
          <p:cNvSpPr>
            <a:spLocks xmlns:a="http://schemas.openxmlformats.org/drawingml/2006/main" noGrp="1"/>
          </p:cNvSpPr>
          <p:nvPr/>
        </p:nvSpPr>
        <p:spPr>
          <a:xfrm xmlns:a="http://schemas.openxmlformats.org/drawingml/2006/main">
            <a:off x="5610225" y="35242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BD84BDC8-AE08-4C5F-84B2-17BF910F0CB6}"/>
              </a:ext>
            </a:extLst>
          </p:cNvPr>
          <p:cNvSpPr>
            <a:spLocks xmlns:a="http://schemas.openxmlformats.org/drawingml/2006/main" noGrp="1"/>
          </p:cNvSpPr>
          <p:nvPr/>
        </p:nvSpPr>
        <p:spPr>
          <a:xfrm xmlns:a="http://schemas.openxmlformats.org/drawingml/2006/main">
            <a:off x="1514475" y="5638800"/>
            <a:ext cx="9163050"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0D123E6-DF94-4C33-A57A-009B0413A85E}"/>
              </a:ext>
            </a:extLst>
          </p:cNvPr>
          <p:cNvSpPr>
            <a:spLocks xmlns:a="http://schemas.openxmlformats.org/drawingml/2006/main" noGrp="1"/>
          </p:cNvSpPr>
          <p:nvPr/>
        </p:nvSpPr>
        <p:spPr>
          <a:xfrm xmlns:a="http://schemas.openxmlformats.org/drawingml/2006/main">
            <a:off x="1704975" y="5791200"/>
            <a:ext cx="8782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Current boundary · user-study design remains open</a:t>
            </a:r>
          </a:p>
        </p:txBody>
      </p:sp>
    </p:spTree>
    <p:extLst>
      <p:ext uri="{BB962C8B-B14F-4D97-AF65-F5344CB8AC3E}">
        <p14:creationId xmlns:p14="http://schemas.microsoft.com/office/powerpoint/2010/main" val="15507746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0753632-8543-4769-B45E-CAD74FBDFFCF}"/>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09 · NEXT PHASE</a:t>
            </a:r>
          </a:p>
        </p:txBody>
      </p:sp>
      <p:sp>
        <p:nvSpPr>
          <p:cNvPr id="2" name="">
            <a:extLst xmlns:a="http://schemas.openxmlformats.org/drawingml/2006/main">
              <a:ext uri="{FF2B5EF4-FFF2-40B4-BE49-F238E27FC236}">
                <a16:creationId xmlns:a16="http://schemas.microsoft.com/office/drawing/2014/main" id="{7AD9DA1F-910A-4D28-830D-D743EE3D8357}"/>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37DDBD21-A987-4703-8B34-F7872BD56FBC}"/>
              </a:ext>
            </a:extLst>
          </p:cNvPr>
          <p:cNvSpPr>
            <a:spLocks xmlns:a="http://schemas.openxmlformats.org/drawingml/2006/main" noGrp="1"/>
          </p:cNvSpPr>
          <p:nvPr/>
        </p:nvSpPr>
        <p:spPr>
          <a:xfrm xmlns:a="http://schemas.openxmlformats.org/drawingml/2006/main">
            <a:off x="400050" y="74295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Existing user studies measure different outcomes</a:t>
            </a:r>
          </a:p>
        </p:txBody>
      </p:sp>
      <p:sp>
        <p:nvSpPr>
          <p:cNvPr id="4" name="">
            <a:extLst xmlns:a="http://schemas.openxmlformats.org/drawingml/2006/main">
              <a:ext uri="{FF2B5EF4-FFF2-40B4-BE49-F238E27FC236}">
                <a16:creationId xmlns:a16="http://schemas.microsoft.com/office/drawing/2014/main" id="{35F717DB-C93B-4EF7-AD84-32DA500D00A1}"/>
              </a:ext>
            </a:extLst>
          </p:cNvPr>
          <p:cNvSpPr>
            <a:spLocks xmlns:a="http://schemas.openxmlformats.org/drawingml/2006/main" noGrp="1"/>
          </p:cNvSpPr>
          <p:nvPr/>
        </p:nvSpPr>
        <p:spPr>
          <a:xfrm xmlns:a="http://schemas.openxmlformats.org/drawingml/2006/main">
            <a:off x="400050" y="14668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E6672"/>
                </a:solidFill>
                <a:latin typeface="Helvetica Neue"/>
                <a:ea typeface="Helvetica Neue"/>
                <a:cs typeface="Helvetica Neue"/>
              </a:defRPr>
            </a:pPr>
            <a:r>
              <a:rPr sz="1500" b="0">
                <a:solidFill>
                  <a:srgbClr val="5E6672"/>
                </a:solidFill>
                <a:latin typeface="Helvetica Neue"/>
                <a:ea typeface="Helvetica Neue"/>
                <a:cs typeface="Helvetica Neue"/>
              </a:rPr>
              <a:t>Similarity choice, pairwise differentiation, and task performance answer different questions</a:t>
            </a:r>
          </a:p>
        </p:txBody>
      </p:sp>
      <p:sp>
        <p:nvSpPr>
          <p:cNvPr id="5" name="">
            <a:extLst xmlns:a="http://schemas.openxmlformats.org/drawingml/2006/main">
              <a:ext uri="{FF2B5EF4-FFF2-40B4-BE49-F238E27FC236}">
                <a16:creationId xmlns:a16="http://schemas.microsoft.com/office/drawing/2014/main" id="{963A8F57-5192-4D85-890D-9217BB03FC89}"/>
              </a:ext>
            </a:extLst>
          </p:cNvPr>
          <p:cNvSpPr>
            <a:spLocks xmlns:a="http://schemas.openxmlformats.org/drawingml/2006/main" noGrp="1"/>
          </p:cNvSpPr>
          <p:nvPr/>
        </p:nvSpPr>
        <p:spPr>
          <a:xfrm xmlns:a="http://schemas.openxmlformats.org/drawingml/2006/main">
            <a:off x="4057650" y="2105025"/>
            <a:ext cx="9525" cy="32670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6A990F-5B37-4701-BB6C-2CD4776A8F5E}"/>
              </a:ext>
            </a:extLst>
          </p:cNvPr>
          <p:cNvSpPr>
            <a:spLocks xmlns:a="http://schemas.openxmlformats.org/drawingml/2006/main" noGrp="1"/>
          </p:cNvSpPr>
          <p:nvPr/>
        </p:nvSpPr>
        <p:spPr>
          <a:xfrm xmlns:a="http://schemas.openxmlformats.org/drawingml/2006/main">
            <a:off x="8115300" y="2105025"/>
            <a:ext cx="9525" cy="32670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13384B-B2A1-46C9-9FF0-10CAC2B7C477}"/>
              </a:ext>
            </a:extLst>
          </p:cNvPr>
          <p:cNvSpPr>
            <a:spLocks xmlns:a="http://schemas.openxmlformats.org/drawingml/2006/main" noGrp="1"/>
          </p:cNvSpPr>
          <p:nvPr/>
        </p:nvSpPr>
        <p:spPr>
          <a:xfrm xmlns:a="http://schemas.openxmlformats.org/drawingml/2006/main">
            <a:off x="400050" y="21812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FUCHS ET AL. · 2014</a:t>
            </a:r>
          </a:p>
        </p:txBody>
      </p:sp>
      <p:sp>
        <p:nvSpPr>
          <p:cNvPr id="8" name="">
            <a:extLst xmlns:a="http://schemas.openxmlformats.org/drawingml/2006/main">
              <a:ext uri="{FF2B5EF4-FFF2-40B4-BE49-F238E27FC236}">
                <a16:creationId xmlns:a16="http://schemas.microsoft.com/office/drawing/2014/main" id="{5FAD444E-FE7B-43CA-84D5-0FDE85E562E8}"/>
              </a:ext>
            </a:extLst>
          </p:cNvPr>
          <p:cNvSpPr>
            <a:spLocks xmlns:a="http://schemas.openxmlformats.org/drawingml/2006/main" noGrp="1"/>
          </p:cNvSpPr>
          <p:nvPr/>
        </p:nvSpPr>
        <p:spPr>
          <a:xfrm xmlns:a="http://schemas.openxmlformats.org/drawingml/2006/main">
            <a:off x="400050" y="2628900"/>
            <a:ext cx="3257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SIMILARITY CHOICE</a:t>
            </a:r>
          </a:p>
        </p:txBody>
      </p:sp>
      <p:sp>
        <p:nvSpPr>
          <p:cNvPr id="9" name="">
            <a:extLst xmlns:a="http://schemas.openxmlformats.org/drawingml/2006/main">
              <a:ext uri="{FF2B5EF4-FFF2-40B4-BE49-F238E27FC236}">
                <a16:creationId xmlns:a16="http://schemas.microsoft.com/office/drawing/2014/main" id="{0435F4F4-D1BE-4C5B-AF6A-AD7974158618}"/>
              </a:ext>
            </a:extLst>
          </p:cNvPr>
          <p:cNvSpPr>
            <a:spLocks xmlns:a="http://schemas.openxmlformats.org/drawingml/2006/main" noGrp="1"/>
          </p:cNvSpPr>
          <p:nvPr/>
        </p:nvSpPr>
        <p:spPr>
          <a:xfrm xmlns:a="http://schemas.openxmlformats.org/drawingml/2006/main">
            <a:off x="400050" y="3238500"/>
            <a:ext cx="3257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SAMPLE &amp; TRIALS</a:t>
            </a:r>
          </a:p>
        </p:txBody>
      </p:sp>
      <p:sp>
        <p:nvSpPr>
          <p:cNvPr id="10" name="">
            <a:extLst xmlns:a="http://schemas.openxmlformats.org/drawingml/2006/main">
              <a:ext uri="{FF2B5EF4-FFF2-40B4-BE49-F238E27FC236}">
                <a16:creationId xmlns:a16="http://schemas.microsoft.com/office/drawing/2014/main" id="{35B6A82C-A0B3-4720-AD91-91DA818653FB}"/>
              </a:ext>
            </a:extLst>
          </p:cNvPr>
          <p:cNvSpPr>
            <a:spLocks xmlns:a="http://schemas.openxmlformats.org/drawingml/2006/main" noGrp="1"/>
          </p:cNvSpPr>
          <p:nvPr/>
        </p:nvSpPr>
        <p:spPr>
          <a:xfrm xmlns:a="http://schemas.openxmlformats.org/drawingml/2006/main">
            <a:off x="400050" y="3543300"/>
            <a:ext cx="3257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62 accepted · 36 retained</a:t>
            </a:r>
          </a:p>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48 trials per participant</a:t>
            </a:r>
          </a:p>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Target + eight alternatives</a:t>
            </a:r>
          </a:p>
        </p:txBody>
      </p:sp>
      <p:sp>
        <p:nvSpPr>
          <p:cNvPr id="11" name="">
            <a:extLst xmlns:a="http://schemas.openxmlformats.org/drawingml/2006/main">
              <a:ext uri="{FF2B5EF4-FFF2-40B4-BE49-F238E27FC236}">
                <a16:creationId xmlns:a16="http://schemas.microsoft.com/office/drawing/2014/main" id="{851D060C-F634-4849-BD04-53975C5DD656}"/>
              </a:ext>
            </a:extLst>
          </p:cNvPr>
          <p:cNvSpPr>
            <a:spLocks xmlns:a="http://schemas.openxmlformats.org/drawingml/2006/main" noGrp="1"/>
          </p:cNvSpPr>
          <p:nvPr/>
        </p:nvSpPr>
        <p:spPr>
          <a:xfrm xmlns:a="http://schemas.openxmlformats.org/drawingml/2006/main">
            <a:off x="400050" y="4591050"/>
            <a:ext cx="3257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Task · choose the most similar</a:t>
            </a:r>
          </a:p>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Outcome · one categorical choice</a:t>
            </a:r>
          </a:p>
        </p:txBody>
      </p:sp>
      <p:sp>
        <p:nvSpPr>
          <p:cNvPr id="12" name="">
            <a:extLst xmlns:a="http://schemas.openxmlformats.org/drawingml/2006/main">
              <a:ext uri="{FF2B5EF4-FFF2-40B4-BE49-F238E27FC236}">
                <a16:creationId xmlns:a16="http://schemas.microsoft.com/office/drawing/2014/main" id="{26AF48FE-ABDB-413A-B524-8CA12EE84198}"/>
              </a:ext>
            </a:extLst>
          </p:cNvPr>
          <p:cNvSpPr>
            <a:spLocks xmlns:a="http://schemas.openxmlformats.org/drawingml/2006/main" noGrp="1"/>
          </p:cNvSpPr>
          <p:nvPr/>
        </p:nvSpPr>
        <p:spPr>
          <a:xfrm xmlns:a="http://schemas.openxmlformats.org/drawingml/2006/main">
            <a:off x="4457700" y="21812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LEGG ET AL. · 2017</a:t>
            </a:r>
          </a:p>
        </p:txBody>
      </p:sp>
      <p:sp>
        <p:nvSpPr>
          <p:cNvPr id="13" name="">
            <a:extLst xmlns:a="http://schemas.openxmlformats.org/drawingml/2006/main">
              <a:ext uri="{FF2B5EF4-FFF2-40B4-BE49-F238E27FC236}">
                <a16:creationId xmlns:a16="http://schemas.microsoft.com/office/drawing/2014/main" id="{136A80AC-A279-4BD2-9344-54C34CF19054}"/>
              </a:ext>
            </a:extLst>
          </p:cNvPr>
          <p:cNvSpPr>
            <a:spLocks xmlns:a="http://schemas.openxmlformats.org/drawingml/2006/main" noGrp="1"/>
          </p:cNvSpPr>
          <p:nvPr/>
        </p:nvSpPr>
        <p:spPr>
          <a:xfrm xmlns:a="http://schemas.openxmlformats.org/drawingml/2006/main">
            <a:off x="4457700" y="2628900"/>
            <a:ext cx="3257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PAIRWISE DIFFERENTIATION</a:t>
            </a:r>
          </a:p>
        </p:txBody>
      </p:sp>
      <p:sp>
        <p:nvSpPr>
          <p:cNvPr id="14" name="">
            <a:extLst xmlns:a="http://schemas.openxmlformats.org/drawingml/2006/main">
              <a:ext uri="{FF2B5EF4-FFF2-40B4-BE49-F238E27FC236}">
                <a16:creationId xmlns:a16="http://schemas.microsoft.com/office/drawing/2014/main" id="{B63BED10-E95A-42B1-B039-090A37A86E66}"/>
              </a:ext>
            </a:extLst>
          </p:cNvPr>
          <p:cNvSpPr>
            <a:spLocks xmlns:a="http://schemas.openxmlformats.org/drawingml/2006/main" noGrp="1"/>
          </p:cNvSpPr>
          <p:nvPr/>
        </p:nvSpPr>
        <p:spPr>
          <a:xfrm xmlns:a="http://schemas.openxmlformats.org/drawingml/2006/main">
            <a:off x="4457700" y="3238500"/>
            <a:ext cx="3257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SAMPLE &amp; PROCEDURE</a:t>
            </a:r>
          </a:p>
        </p:txBody>
      </p:sp>
      <p:sp>
        <p:nvSpPr>
          <p:cNvPr id="15" name="">
            <a:extLst xmlns:a="http://schemas.openxmlformats.org/drawingml/2006/main">
              <a:ext uri="{FF2B5EF4-FFF2-40B4-BE49-F238E27FC236}">
                <a16:creationId xmlns:a16="http://schemas.microsoft.com/office/drawing/2014/main" id="{A4809A88-125C-4754-B11D-63852D2A16B7}"/>
              </a:ext>
            </a:extLst>
          </p:cNvPr>
          <p:cNvSpPr>
            <a:spLocks xmlns:a="http://schemas.openxmlformats.org/drawingml/2006/main" noGrp="1"/>
          </p:cNvSpPr>
          <p:nvPr/>
        </p:nvSpPr>
        <p:spPr>
          <a:xfrm xmlns:a="http://schemas.openxmlformats.org/drawingml/2006/main">
            <a:off x="4457700" y="3543300"/>
            <a:ext cx="3257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20 recruited · 19 analysed</a:t>
            </a:r>
          </a:p>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104 ratings · 96 randomized</a:t>
            </a:r>
          </a:p>
        </p:txBody>
      </p:sp>
      <p:sp>
        <p:nvSpPr>
          <p:cNvPr id="16" name="">
            <a:extLst xmlns:a="http://schemas.openxmlformats.org/drawingml/2006/main">
              <a:ext uri="{FF2B5EF4-FFF2-40B4-BE49-F238E27FC236}">
                <a16:creationId xmlns:a16="http://schemas.microsoft.com/office/drawing/2014/main" id="{AD944F8B-D6CF-4757-BAE2-851E2AD21395}"/>
              </a:ext>
            </a:extLst>
          </p:cNvPr>
          <p:cNvSpPr>
            <a:spLocks xmlns:a="http://schemas.openxmlformats.org/drawingml/2006/main" noGrp="1"/>
          </p:cNvSpPr>
          <p:nvPr/>
        </p:nvSpPr>
        <p:spPr>
          <a:xfrm xmlns:a="http://schemas.openxmlformats.org/drawingml/2006/main">
            <a:off x="4457700" y="4591050"/>
            <a:ext cx="3257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Task · rate differentiation, 0–10</a:t>
            </a:r>
          </a:p>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Outcome · perceived distance</a:t>
            </a:r>
          </a:p>
        </p:txBody>
      </p:sp>
      <p:sp>
        <p:nvSpPr>
          <p:cNvPr id="17" name="">
            <a:extLst xmlns:a="http://schemas.openxmlformats.org/drawingml/2006/main">
              <a:ext uri="{FF2B5EF4-FFF2-40B4-BE49-F238E27FC236}">
                <a16:creationId xmlns:a16="http://schemas.microsoft.com/office/drawing/2014/main" id="{E5750DA7-CA41-405E-ADA8-6EC91737BF83}"/>
              </a:ext>
            </a:extLst>
          </p:cNvPr>
          <p:cNvSpPr>
            <a:spLocks xmlns:a="http://schemas.openxmlformats.org/drawingml/2006/main" noGrp="1"/>
          </p:cNvSpPr>
          <p:nvPr/>
        </p:nvSpPr>
        <p:spPr>
          <a:xfrm xmlns:a="http://schemas.openxmlformats.org/drawingml/2006/main">
            <a:off x="8515350" y="2181225"/>
            <a:ext cx="3257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FUCHS ET AL. · 2017</a:t>
            </a:r>
          </a:p>
        </p:txBody>
      </p:sp>
      <p:sp>
        <p:nvSpPr>
          <p:cNvPr id="18" name="">
            <a:extLst xmlns:a="http://schemas.openxmlformats.org/drawingml/2006/main">
              <a:ext uri="{FF2B5EF4-FFF2-40B4-BE49-F238E27FC236}">
                <a16:creationId xmlns:a16="http://schemas.microsoft.com/office/drawing/2014/main" id="{4963BE42-C55F-4072-8ED1-D614C4E8033A}"/>
              </a:ext>
            </a:extLst>
          </p:cNvPr>
          <p:cNvSpPr>
            <a:spLocks xmlns:a="http://schemas.openxmlformats.org/drawingml/2006/main" noGrp="1"/>
          </p:cNvSpPr>
          <p:nvPr/>
        </p:nvSpPr>
        <p:spPr>
          <a:xfrm xmlns:a="http://schemas.openxmlformats.org/drawingml/2006/main">
            <a:off x="8515350" y="2628900"/>
            <a:ext cx="3257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SYSTEMATIC REVIEW</a:t>
            </a:r>
          </a:p>
        </p:txBody>
      </p:sp>
      <p:sp>
        <p:nvSpPr>
          <p:cNvPr id="19" name="">
            <a:extLst xmlns:a="http://schemas.openxmlformats.org/drawingml/2006/main">
              <a:ext uri="{FF2B5EF4-FFF2-40B4-BE49-F238E27FC236}">
                <a16:creationId xmlns:a16="http://schemas.microsoft.com/office/drawing/2014/main" id="{43B2DDA6-FE10-4DC7-BE96-2E4E2296131A}"/>
              </a:ext>
            </a:extLst>
          </p:cNvPr>
          <p:cNvSpPr>
            <a:spLocks xmlns:a="http://schemas.openxmlformats.org/drawingml/2006/main" noGrp="1"/>
          </p:cNvSpPr>
          <p:nvPr/>
        </p:nvSpPr>
        <p:spPr>
          <a:xfrm xmlns:a="http://schemas.openxmlformats.org/drawingml/2006/main">
            <a:off x="8515350" y="3238500"/>
            <a:ext cx="3257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REVIEW SCOPE</a:t>
            </a:r>
          </a:p>
        </p:txBody>
      </p:sp>
      <p:sp>
        <p:nvSpPr>
          <p:cNvPr id="20" name="">
            <a:extLst xmlns:a="http://schemas.openxmlformats.org/drawingml/2006/main">
              <a:ext uri="{FF2B5EF4-FFF2-40B4-BE49-F238E27FC236}">
                <a16:creationId xmlns:a16="http://schemas.microsoft.com/office/drawing/2014/main" id="{6ECD76F9-6615-41B4-AD61-3AE959C4F912}"/>
              </a:ext>
            </a:extLst>
          </p:cNvPr>
          <p:cNvSpPr>
            <a:spLocks xmlns:a="http://schemas.openxmlformats.org/drawingml/2006/main" noGrp="1"/>
          </p:cNvSpPr>
          <p:nvPr/>
        </p:nvSpPr>
        <p:spPr>
          <a:xfrm xmlns:a="http://schemas.openxmlformats.org/drawingml/2006/main">
            <a:off x="8515350" y="3543300"/>
            <a:ext cx="3257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64 controlled-study papers</a:t>
            </a:r>
          </a:p>
          <a:p xmlns:a="http://schemas.openxmlformats.org/drawingml/2006/main">
            <a:pPr algn="l">
              <a:buNone/>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Accuracy in 63 · time in 42</a:t>
            </a:r>
          </a:p>
        </p:txBody>
      </p:sp>
      <p:sp>
        <p:nvSpPr>
          <p:cNvPr id="21" name="">
            <a:extLst xmlns:a="http://schemas.openxmlformats.org/drawingml/2006/main">
              <a:ext uri="{FF2B5EF4-FFF2-40B4-BE49-F238E27FC236}">
                <a16:creationId xmlns:a16="http://schemas.microsoft.com/office/drawing/2014/main" id="{387812AE-46EF-421E-A98C-9EA067991811}"/>
              </a:ext>
            </a:extLst>
          </p:cNvPr>
          <p:cNvSpPr>
            <a:spLocks xmlns:a="http://schemas.openxmlformats.org/drawingml/2006/main" noGrp="1"/>
          </p:cNvSpPr>
          <p:nvPr/>
        </p:nvSpPr>
        <p:spPr>
          <a:xfrm xmlns:a="http://schemas.openxmlformats.org/drawingml/2006/main">
            <a:off x="8515350" y="4591050"/>
            <a:ext cx="3257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Output · tasks, measures, results</a:t>
            </a:r>
          </a:p>
          <a:p xmlns:a="http://schemas.openxmlformats.org/drawingml/2006/main">
            <a:pPr algn="l">
              <a:buNone/>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Finding · preference sometimes differed</a:t>
            </a:r>
          </a:p>
        </p:txBody>
      </p:sp>
    </p:spTree>
    <p:extLst>
      <p:ext uri="{BB962C8B-B14F-4D97-AF65-F5344CB8AC3E}">
        <p14:creationId xmlns:p14="http://schemas.microsoft.com/office/powerpoint/2010/main" val="136477866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F087AF-DE52-462A-8F50-AA4784F50A7F}"/>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09 · NEXT PHASE</a:t>
            </a:r>
          </a:p>
        </p:txBody>
      </p:sp>
      <p:sp>
        <p:nvSpPr>
          <p:cNvPr id="2" name="">
            <a:extLst xmlns:a="http://schemas.openxmlformats.org/drawingml/2006/main">
              <a:ext uri="{FF2B5EF4-FFF2-40B4-BE49-F238E27FC236}">
                <a16:creationId xmlns:a16="http://schemas.microsoft.com/office/drawing/2014/main" id="{49DD3038-E99A-4D1F-94C6-01A9DC432B2B}"/>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BA51DFDF-8CD2-47AA-B2A6-60E7AE38E76C}"/>
              </a:ext>
            </a:extLst>
          </p:cNvPr>
          <p:cNvSpPr>
            <a:spLocks xmlns:a="http://schemas.openxmlformats.org/drawingml/2006/main" noGrp="1"/>
          </p:cNvSpPr>
          <p:nvPr/>
        </p:nvSpPr>
        <p:spPr>
          <a:xfrm xmlns:a="http://schemas.openxmlformats.org/drawingml/2006/main">
            <a:off x="400050" y="876300"/>
            <a:ext cx="11391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Possible direction for the thesis study</a:t>
            </a:r>
          </a:p>
        </p:txBody>
      </p:sp>
      <p:sp>
        <p:nvSpPr>
          <p:cNvPr id="4" name="">
            <a:extLst xmlns:a="http://schemas.openxmlformats.org/drawingml/2006/main">
              <a:ext uri="{FF2B5EF4-FFF2-40B4-BE49-F238E27FC236}">
                <a16:creationId xmlns:a16="http://schemas.microsoft.com/office/drawing/2014/main" id="{3A46D512-38B1-440D-B9BB-FDCA36321B46}"/>
              </a:ext>
            </a:extLst>
          </p:cNvPr>
          <p:cNvSpPr>
            <a:spLocks xmlns:a="http://schemas.openxmlformats.org/drawingml/2006/main" noGrp="1"/>
          </p:cNvSpPr>
          <p:nvPr/>
        </p:nvSpPr>
        <p:spPr>
          <a:xfrm xmlns:a="http://schemas.openxmlformats.org/drawingml/2006/main">
            <a:off x="400050" y="2466975"/>
            <a:ext cx="17907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AB7B8B-AE4F-4A06-B740-82CB312AD909}"/>
              </a:ext>
            </a:extLst>
          </p:cNvPr>
          <p:cNvSpPr>
            <a:spLocks xmlns:a="http://schemas.openxmlformats.org/drawingml/2006/main" noGrp="1"/>
          </p:cNvSpPr>
          <p:nvPr/>
        </p:nvSpPr>
        <p:spPr>
          <a:xfrm xmlns:a="http://schemas.openxmlformats.org/drawingml/2006/main">
            <a:off x="400050" y="30861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E4C18D43-5B98-44BD-9D5A-9B9F9C9AB5F5}"/>
              </a:ext>
            </a:extLst>
          </p:cNvPr>
          <p:cNvSpPr>
            <a:spLocks xmlns:a="http://schemas.openxmlformats.org/drawingml/2006/main" noGrp="1"/>
          </p:cNvSpPr>
          <p:nvPr/>
        </p:nvSpPr>
        <p:spPr>
          <a:xfrm xmlns:a="http://schemas.openxmlformats.org/drawingml/2006/main">
            <a:off x="1219200" y="306705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Control display size</a:t>
            </a:r>
          </a:p>
        </p:txBody>
      </p:sp>
      <p:sp>
        <p:nvSpPr>
          <p:cNvPr id="7" name="">
            <a:extLst xmlns:a="http://schemas.openxmlformats.org/drawingml/2006/main">
              <a:ext uri="{FF2B5EF4-FFF2-40B4-BE49-F238E27FC236}">
                <a16:creationId xmlns:a16="http://schemas.microsoft.com/office/drawing/2014/main" id="{B8DBC6DA-440F-483A-84AB-805BDA3BAAD4}"/>
              </a:ext>
            </a:extLst>
          </p:cNvPr>
          <p:cNvSpPr>
            <a:spLocks xmlns:a="http://schemas.openxmlformats.org/drawingml/2006/main" noGrp="1"/>
          </p:cNvSpPr>
          <p:nvPr/>
        </p:nvSpPr>
        <p:spPr>
          <a:xfrm xmlns:a="http://schemas.openxmlformats.org/drawingml/2006/main">
            <a:off x="400050" y="39052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493BA205-16EA-4AA1-8CE6-BD6F560158ED}"/>
              </a:ext>
            </a:extLst>
          </p:cNvPr>
          <p:cNvSpPr>
            <a:spLocks xmlns:a="http://schemas.openxmlformats.org/drawingml/2006/main" noGrp="1"/>
          </p:cNvSpPr>
          <p:nvPr/>
        </p:nvSpPr>
        <p:spPr>
          <a:xfrm xmlns:a="http://schemas.openxmlformats.org/drawingml/2006/main">
            <a:off x="1219200" y="388620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Record accuracy and confusion</a:t>
            </a:r>
          </a:p>
        </p:txBody>
      </p:sp>
      <p:sp>
        <p:nvSpPr>
          <p:cNvPr id="9" name="">
            <a:extLst xmlns:a="http://schemas.openxmlformats.org/drawingml/2006/main">
              <a:ext uri="{FF2B5EF4-FFF2-40B4-BE49-F238E27FC236}">
                <a16:creationId xmlns:a16="http://schemas.microsoft.com/office/drawing/2014/main" id="{9A61E86F-22C8-4454-96FE-CE93B38B5D41}"/>
              </a:ext>
            </a:extLst>
          </p:cNvPr>
          <p:cNvSpPr>
            <a:spLocks xmlns:a="http://schemas.openxmlformats.org/drawingml/2006/main" noGrp="1"/>
          </p:cNvSpPr>
          <p:nvPr/>
        </p:nvSpPr>
        <p:spPr>
          <a:xfrm xmlns:a="http://schemas.openxmlformats.org/drawingml/2006/main">
            <a:off x="400050" y="47244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45711E31-1FF0-4044-B641-54EC05D4C746}"/>
              </a:ext>
            </a:extLst>
          </p:cNvPr>
          <p:cNvSpPr>
            <a:spLocks xmlns:a="http://schemas.openxmlformats.org/drawingml/2006/main" noGrp="1"/>
          </p:cNvSpPr>
          <p:nvPr/>
        </p:nvSpPr>
        <p:spPr>
          <a:xfrm xmlns:a="http://schemas.openxmlformats.org/drawingml/2006/main">
            <a:off x="1219200" y="470535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Ask which visual cues participants used</a:t>
            </a:r>
          </a:p>
        </p:txBody>
      </p:sp>
      <p:sp>
        <p:nvSpPr>
          <p:cNvPr id="11" name="">
            <a:extLst xmlns:a="http://schemas.openxmlformats.org/drawingml/2006/main">
              <a:ext uri="{FF2B5EF4-FFF2-40B4-BE49-F238E27FC236}">
                <a16:creationId xmlns:a16="http://schemas.microsoft.com/office/drawing/2014/main" id="{410F6678-69EC-477F-858D-00A9DCEEB2B2}"/>
              </a:ext>
            </a:extLst>
          </p:cNvPr>
          <p:cNvSpPr>
            <a:spLocks xmlns:a="http://schemas.openxmlformats.org/drawingml/2006/main" noGrp="1"/>
          </p:cNvSpPr>
          <p:nvPr/>
        </p:nvSpPr>
        <p:spPr>
          <a:xfrm xmlns:a="http://schemas.openxmlformats.org/drawingml/2006/main">
            <a:off x="400050" y="5905500"/>
            <a:ext cx="857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Finalize after glyph selection + supervisor discussion</a:t>
            </a:r>
          </a:p>
        </p:txBody>
      </p:sp>
    </p:spTree>
    <p:extLst>
      <p:ext uri="{BB962C8B-B14F-4D97-AF65-F5344CB8AC3E}">
        <p14:creationId xmlns:p14="http://schemas.microsoft.com/office/powerpoint/2010/main" val="4259515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25DFB7-0012-47E6-AF05-14ADCE3A8AD4}"/>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10 · CONCLUSION</a:t>
            </a:r>
          </a:p>
        </p:txBody>
      </p:sp>
      <p:sp>
        <p:nvSpPr>
          <p:cNvPr id="2" name="">
            <a:extLst xmlns:a="http://schemas.openxmlformats.org/drawingml/2006/main">
              <a:ext uri="{FF2B5EF4-FFF2-40B4-BE49-F238E27FC236}">
                <a16:creationId xmlns:a16="http://schemas.microsoft.com/office/drawing/2014/main" id="{90950B38-06B8-44E8-998A-A8266676850E}"/>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6FA5143A-4353-486B-BF89-379CF61DF769}"/>
              </a:ext>
            </a:extLst>
          </p:cNvPr>
          <p:cNvSpPr>
            <a:spLocks xmlns:a="http://schemas.openxmlformats.org/drawingml/2006/main" noGrp="1"/>
          </p:cNvSpPr>
          <p:nvPr/>
        </p:nvSpPr>
        <p:spPr>
          <a:xfrm xmlns:a="http://schemas.openxmlformats.org/drawingml/2006/main">
            <a:off x="400050" y="876300"/>
            <a:ext cx="11391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A clear basis for the next research phase</a:t>
            </a:r>
          </a:p>
        </p:txBody>
      </p:sp>
      <p:sp>
        <p:nvSpPr>
          <p:cNvPr id="4" name="">
            <a:extLst xmlns:a="http://schemas.openxmlformats.org/drawingml/2006/main">
              <a:ext uri="{FF2B5EF4-FFF2-40B4-BE49-F238E27FC236}">
                <a16:creationId xmlns:a16="http://schemas.microsoft.com/office/drawing/2014/main" id="{DD80D052-D49C-4FA7-AC5E-40B0987587E6}"/>
              </a:ext>
            </a:extLst>
          </p:cNvPr>
          <p:cNvSpPr>
            <a:spLocks xmlns:a="http://schemas.openxmlformats.org/drawingml/2006/main" noGrp="1"/>
          </p:cNvSpPr>
          <p:nvPr/>
        </p:nvSpPr>
        <p:spPr>
          <a:xfrm xmlns:a="http://schemas.openxmlformats.org/drawingml/2006/main">
            <a:off x="400050" y="2466975"/>
            <a:ext cx="17907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719AE5-7EFF-4EFE-B82D-14B23656D2DE}"/>
              </a:ext>
            </a:extLst>
          </p:cNvPr>
          <p:cNvSpPr>
            <a:spLocks xmlns:a="http://schemas.openxmlformats.org/drawingml/2006/main" noGrp="1"/>
          </p:cNvSpPr>
          <p:nvPr/>
        </p:nvSpPr>
        <p:spPr>
          <a:xfrm xmlns:a="http://schemas.openxmlformats.org/drawingml/2006/main">
            <a:off x="400050" y="30861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5A95F2D4-1370-4A5C-8092-E90850087964}"/>
              </a:ext>
            </a:extLst>
          </p:cNvPr>
          <p:cNvSpPr>
            <a:spLocks xmlns:a="http://schemas.openxmlformats.org/drawingml/2006/main" noGrp="1"/>
          </p:cNvSpPr>
          <p:nvPr/>
        </p:nvSpPr>
        <p:spPr>
          <a:xfrm xmlns:a="http://schemas.openxmlformats.org/drawingml/2006/main">
            <a:off x="1219200" y="306705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Icon corpus + seven feature families implemented</a:t>
            </a:r>
          </a:p>
        </p:txBody>
      </p:sp>
      <p:sp>
        <p:nvSpPr>
          <p:cNvPr id="7" name="">
            <a:extLst xmlns:a="http://schemas.openxmlformats.org/drawingml/2006/main">
              <a:ext uri="{FF2B5EF4-FFF2-40B4-BE49-F238E27FC236}">
                <a16:creationId xmlns:a16="http://schemas.microsoft.com/office/drawing/2014/main" id="{7270C661-9789-4FFF-B89D-82EE0D753A81}"/>
              </a:ext>
            </a:extLst>
          </p:cNvPr>
          <p:cNvSpPr>
            <a:spLocks xmlns:a="http://schemas.openxmlformats.org/drawingml/2006/main" noGrp="1"/>
          </p:cNvSpPr>
          <p:nvPr/>
        </p:nvSpPr>
        <p:spPr>
          <a:xfrm xmlns:a="http://schemas.openxmlformats.org/drawingml/2006/main">
            <a:off x="400050" y="39052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71C25439-4FF6-418C-A12C-E72F6DBF1B08}"/>
              </a:ext>
            </a:extLst>
          </p:cNvPr>
          <p:cNvSpPr>
            <a:spLocks xmlns:a="http://schemas.openxmlformats.org/drawingml/2006/main" noGrp="1"/>
          </p:cNvSpPr>
          <p:nvPr/>
        </p:nvSpPr>
        <p:spPr>
          <a:xfrm xmlns:a="http://schemas.openxmlformats.org/drawingml/2006/main">
            <a:off x="1219200" y="388620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UI + clustering + summaries ready for glyph review</a:t>
            </a:r>
          </a:p>
        </p:txBody>
      </p:sp>
      <p:sp>
        <p:nvSpPr>
          <p:cNvPr id="9" name="">
            <a:extLst xmlns:a="http://schemas.openxmlformats.org/drawingml/2006/main">
              <a:ext uri="{FF2B5EF4-FFF2-40B4-BE49-F238E27FC236}">
                <a16:creationId xmlns:a16="http://schemas.microsoft.com/office/drawing/2014/main" id="{78F2D8C4-82F6-4BFD-A5C6-305BAB48D46B}"/>
              </a:ext>
            </a:extLst>
          </p:cNvPr>
          <p:cNvSpPr>
            <a:spLocks xmlns:a="http://schemas.openxmlformats.org/drawingml/2006/main" noGrp="1"/>
          </p:cNvSpPr>
          <p:nvPr/>
        </p:nvSpPr>
        <p:spPr>
          <a:xfrm xmlns:a="http://schemas.openxmlformats.org/drawingml/2006/main">
            <a:off x="400050" y="47244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E83B83DE-FC52-4DF7-A7C1-17DDED90F2BC}"/>
              </a:ext>
            </a:extLst>
          </p:cNvPr>
          <p:cNvSpPr>
            <a:spLocks xmlns:a="http://schemas.openxmlformats.org/drawingml/2006/main" noGrp="1"/>
          </p:cNvSpPr>
          <p:nvPr/>
        </p:nvSpPr>
        <p:spPr>
          <a:xfrm xmlns:a="http://schemas.openxmlformats.org/drawingml/2006/main">
            <a:off x="1219200" y="470535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Next: glyph selection → user-study design</a:t>
            </a:r>
          </a:p>
        </p:txBody>
      </p:sp>
      <p:sp>
        <p:nvSpPr>
          <p:cNvPr id="11" name="">
            <a:extLst xmlns:a="http://schemas.openxmlformats.org/drawingml/2006/main">
              <a:ext uri="{FF2B5EF4-FFF2-40B4-BE49-F238E27FC236}">
                <a16:creationId xmlns:a16="http://schemas.microsoft.com/office/drawing/2014/main" id="{CF5976B8-1E7B-4393-991A-180A21108723}"/>
              </a:ext>
            </a:extLst>
          </p:cNvPr>
          <p:cNvSpPr>
            <a:spLocks xmlns:a="http://schemas.openxmlformats.org/drawingml/2006/main" noGrp="1"/>
          </p:cNvSpPr>
          <p:nvPr/>
        </p:nvSpPr>
        <p:spPr>
          <a:xfrm xmlns:a="http://schemas.openxmlformats.org/drawingml/2006/main">
            <a:off x="400050" y="5905500"/>
            <a:ext cx="723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Next milestone · a reviewed selection of candidate glyphs</a:t>
            </a:r>
          </a:p>
        </p:txBody>
      </p:sp>
    </p:spTree>
    <p:extLst>
      <p:ext uri="{BB962C8B-B14F-4D97-AF65-F5344CB8AC3E}">
        <p14:creationId xmlns:p14="http://schemas.microsoft.com/office/powerpoint/2010/main" val="1332405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2026-08-17T09:41:24.4850000Z</dcterms:created>
  <dcterms:modified xsi:type="dcterms:W3CDTF">2026-08-17T09:41:24.4850000Z</dcterms:modified>
</coreProperties>
</file>