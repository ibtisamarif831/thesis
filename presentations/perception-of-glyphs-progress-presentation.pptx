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653d453724812" /><Relationship Type="http://schemas.openxmlformats.org/officeDocument/2006/relationships/extended-properties" Target="/docProps/app.xml" Id="R6522acc2ed934054" /><Relationship Type="http://schemas.openxmlformats.org/officeDocument/2006/relationships/officeDocument" Target="/ppt/presentation.xml" Id="R11368f576b4f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5bff7ef13e44ec"/>
  </p:sldMasterIdLst>
  <p:notesMasterIdLst>
    <p:notesMasterId xmlns:r="http://schemas.openxmlformats.org/officeDocument/2006/relationships" r:id="Rfa192cbb5cde4198"/>
  </p:notesMasterIdLst>
  <p:sldIdLst>
    <p:sldId xmlns:r="http://schemas.openxmlformats.org/officeDocument/2006/relationships" id="256" r:id="R177fdcb8b9734215"/>
    <p:sldId xmlns:r="http://schemas.openxmlformats.org/officeDocument/2006/relationships" id="257" r:id="Rcfffa4300c484645"/>
    <p:sldId xmlns:r="http://schemas.openxmlformats.org/officeDocument/2006/relationships" id="258" r:id="R1b2bd044e77247a2"/>
    <p:sldId xmlns:r="http://schemas.openxmlformats.org/officeDocument/2006/relationships" id="259" r:id="R99a775259bdd459f"/>
    <p:sldId xmlns:r="http://schemas.openxmlformats.org/officeDocument/2006/relationships" id="260" r:id="R1754aaa7ca844f7c"/>
    <p:sldId xmlns:r="http://schemas.openxmlformats.org/officeDocument/2006/relationships" id="261" r:id="Rc8428e06c0d04a55"/>
    <p:sldId xmlns:r="http://schemas.openxmlformats.org/officeDocument/2006/relationships" id="262" r:id="R732da66d23204e45"/>
    <p:sldId xmlns:r="http://schemas.openxmlformats.org/officeDocument/2006/relationships" id="263" r:id="R0e0ca1288db7441d"/>
    <p:sldId xmlns:r="http://schemas.openxmlformats.org/officeDocument/2006/relationships" id="264" r:id="Rd107471312da4a20"/>
    <p:sldId xmlns:r="http://schemas.openxmlformats.org/officeDocument/2006/relationships" id="265" r:id="Re71c7ed678a84299"/>
    <p:sldId xmlns:r="http://schemas.openxmlformats.org/officeDocument/2006/relationships" id="266" r:id="R0244e7897f564078"/>
    <p:sldId xmlns:r="http://schemas.openxmlformats.org/officeDocument/2006/relationships" id="267" r:id="R67888459abb04d5d"/>
    <p:sldId xmlns:r="http://schemas.openxmlformats.org/officeDocument/2006/relationships" id="268" r:id="R746ca320090b4f0b"/>
    <p:sldId xmlns:r="http://schemas.openxmlformats.org/officeDocument/2006/relationships" id="269" r:id="R969648f227944337"/>
    <p:sldId xmlns:r="http://schemas.openxmlformats.org/officeDocument/2006/relationships" id="270" r:id="Rd0a7c21b97154999"/>
    <p:sldId xmlns:r="http://schemas.openxmlformats.org/officeDocument/2006/relationships" id="271" r:id="Re2be4802530949c7"/>
    <p:sldId xmlns:r="http://schemas.openxmlformats.org/officeDocument/2006/relationships" id="272" r:id="R8a45cd11907c40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6bf61148e142d8" /><Relationship Type="http://schemas.openxmlformats.org/officeDocument/2006/relationships/slideMaster" Target="/ppt/slideMasters/slideMaster1.xml" Id="R1e5bff7ef13e44ec" /><Relationship Type="http://schemas.openxmlformats.org/officeDocument/2006/relationships/notesMaster" Target="/ppt/notesMasters/notesMaster1.xml" Id="Rfa192cbb5cde4198" /><Relationship Type="http://schemas.openxmlformats.org/officeDocument/2006/relationships/presProps" Target="/ppt/presProps.xml" Id="R1a0ec55f6079481f" /><Relationship Type="http://schemas.openxmlformats.org/officeDocument/2006/relationships/tableStyles" Target="/ppt/tableStyles.xml" Id="Rbbc5fe6b423d4d05" /><Relationship Type="http://schemas.openxmlformats.org/officeDocument/2006/relationships/slide" Target="/ppt/slides/slide1.xml" Id="R177fdcb8b9734215" /><Relationship Type="http://schemas.openxmlformats.org/officeDocument/2006/relationships/slide" Target="/ppt/slides/slide2.xml" Id="Rcfffa4300c484645" /><Relationship Type="http://schemas.openxmlformats.org/officeDocument/2006/relationships/slide" Target="/ppt/slides/slide3.xml" Id="R1b2bd044e77247a2" /><Relationship Type="http://schemas.openxmlformats.org/officeDocument/2006/relationships/slide" Target="/ppt/slides/slide4.xml" Id="R99a775259bdd459f" /><Relationship Type="http://schemas.openxmlformats.org/officeDocument/2006/relationships/slide" Target="/ppt/slides/slide5.xml" Id="R1754aaa7ca844f7c" /><Relationship Type="http://schemas.openxmlformats.org/officeDocument/2006/relationships/slide" Target="/ppt/slides/slide6.xml" Id="Rc8428e06c0d04a55" /><Relationship Type="http://schemas.openxmlformats.org/officeDocument/2006/relationships/slide" Target="/ppt/slides/slide7.xml" Id="R732da66d23204e45" /><Relationship Type="http://schemas.openxmlformats.org/officeDocument/2006/relationships/slide" Target="/ppt/slides/slide8.xml" Id="R0e0ca1288db7441d" /><Relationship Type="http://schemas.openxmlformats.org/officeDocument/2006/relationships/slide" Target="/ppt/slides/slide9.xml" Id="Rd107471312da4a20" /><Relationship Type="http://schemas.openxmlformats.org/officeDocument/2006/relationships/slide" Target="/ppt/slides/slide10.xml" Id="Re71c7ed678a84299" /><Relationship Type="http://schemas.openxmlformats.org/officeDocument/2006/relationships/slide" Target="/ppt/slides/slide11.xml" Id="R0244e7897f564078" /><Relationship Type="http://schemas.openxmlformats.org/officeDocument/2006/relationships/slide" Target="/ppt/slides/slide12.xml" Id="R67888459abb04d5d" /><Relationship Type="http://schemas.openxmlformats.org/officeDocument/2006/relationships/slide" Target="/ppt/slides/slide13.xml" Id="R746ca320090b4f0b" /><Relationship Type="http://schemas.openxmlformats.org/officeDocument/2006/relationships/slide" Target="/ppt/slides/slide14.xml" Id="R969648f227944337" /><Relationship Type="http://schemas.openxmlformats.org/officeDocument/2006/relationships/slide" Target="/ppt/slides/slide15.xml" Id="Rd0a7c21b97154999" /><Relationship Type="http://schemas.openxmlformats.org/officeDocument/2006/relationships/slide" Target="/ppt/slides/slide16.xml" Id="Re2be4802530949c7" /><Relationship Type="http://schemas.openxmlformats.org/officeDocument/2006/relationships/slide" Target="/ppt/slides/slide17.xml" Id="R8a45cd11907c40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7de4518f654b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d10d07e3b4d8f" /><Relationship Type="http://schemas.openxmlformats.org/officeDocument/2006/relationships/notesMaster" Target="/ppt/notesMasters/notesMaster1.xml" Id="Rd51ca45b8e294e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45a0b3b2944e49" /><Relationship Type="http://schemas.openxmlformats.org/officeDocument/2006/relationships/notesMaster" Target="/ppt/notesMasters/notesMaster1.xml" Id="R6c1aa923b91e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a54757ea9044c7" /><Relationship Type="http://schemas.openxmlformats.org/officeDocument/2006/relationships/notesMaster" Target="/ppt/notesMasters/notesMaster1.xml" Id="R02a7b2c01615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9ebab83e84d01" /><Relationship Type="http://schemas.openxmlformats.org/officeDocument/2006/relationships/notesMaster" Target="/ppt/notesMasters/notesMaster1.xml" Id="Re911f3a195604a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65041599264a13" /><Relationship Type="http://schemas.openxmlformats.org/officeDocument/2006/relationships/notesMaster" Target="/ppt/notesMasters/notesMaster1.xml" Id="Rc0b5e88045e14c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4264edaf0f4a24" /><Relationship Type="http://schemas.openxmlformats.org/officeDocument/2006/relationships/notesMaster" Target="/ppt/notesMasters/notesMaster1.xml" Id="R411b72a4c31c4b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9353b736014d1a" /><Relationship Type="http://schemas.openxmlformats.org/officeDocument/2006/relationships/notesMaster" Target="/ppt/notesMasters/notesMaster1.xml" Id="R2a77f43fc37b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a7e842123b4aaf" /><Relationship Type="http://schemas.openxmlformats.org/officeDocument/2006/relationships/notesMaster" Target="/ppt/notesMasters/notesMaster1.xml" Id="Rd05f4482a5d348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14362187d3459c" /><Relationship Type="http://schemas.openxmlformats.org/officeDocument/2006/relationships/notesMaster" Target="/ppt/notesMasters/notesMaster1.xml" Id="R474e7f57ee4645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3f8bee5dcd4968" /><Relationship Type="http://schemas.openxmlformats.org/officeDocument/2006/relationships/notesMaster" Target="/ppt/notesMasters/notesMaster1.xml" Id="R3d5426c5d7af40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21dde40a30418e" /><Relationship Type="http://schemas.openxmlformats.org/officeDocument/2006/relationships/notesMaster" Target="/ppt/notesMasters/notesMaster1.xml" Id="Rcf79bb50c2bf4f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9c090e918149e4" /><Relationship Type="http://schemas.openxmlformats.org/officeDocument/2006/relationships/notesMaster" Target="/ppt/notesMasters/notesMaster1.xml" Id="R8ba50ae2110e4e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019b0d98324b41" /><Relationship Type="http://schemas.openxmlformats.org/officeDocument/2006/relationships/notesMaster" Target="/ppt/notesMasters/notesMaster1.xml" Id="R8ab8e29d335a41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7b775574024b29" /><Relationship Type="http://schemas.openxmlformats.org/officeDocument/2006/relationships/notesMaster" Target="/ppt/notesMasters/notesMaster1.xml" Id="Ra2871f2db83440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ff4940f08b4ae5" /><Relationship Type="http://schemas.openxmlformats.org/officeDocument/2006/relationships/notesMaster" Target="/ppt/notesMasters/notesMaster1.xml" Id="R88e09a3ca0634e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9d248742dd48e1" /><Relationship Type="http://schemas.openxmlformats.org/officeDocument/2006/relationships/notesMaster" Target="/ppt/notesMasters/notesMaster1.xml" Id="R8a4d3773bef741b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840ad2981a4435" /><Relationship Type="http://schemas.openxmlformats.org/officeDocument/2006/relationships/notesMaster" Target="/ppt/notesMasters/notesMaster1.xml" Id="R3fa77d808dcf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Replace only the name, programme, and supervisor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Supervisor-provided thesis title and project description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Supervisor-provided thesis title and project description supplied by the user.</a:t>
            </a:r>
          </a:p>
          <a:p xmlns:a="http://schemas.openxmlformats.org/drawingml/2006/main">
            <a:r>
              <a:t>- papers/Glyph_Visualization_A_Fail-Safe_Design_Scheme_Based_on_Quasi-Hamming_Distances.pdf, Figure 1, p. 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wiki/thesis-overview.md</a:t>
            </a:r>
          </a:p>
          <a:p xmlns:a="http://schemas.openxmlformats.org/drawingml/2006/main">
            <a:r>
              <a:t>- wiki/evaluation-and-human-study.md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Five papers directly shaped the current measurements and glyph-selection workflow. The 2017 systematic review informs the later study-design phase.</a:t>
            </a:r>
          </a:p>
          <a:p xmlns:a="http://schemas.openxmlformats.org/drawingml/2006/main">
            <a:r>
              <a:t>Maguire et al. (2012) was reviewed as design context but is omitted from the main narrative because it did not materially determine the current image-feature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papers/Forsythe-Measuring_cion_complexity_automated.pdf, pp. 4–7</a:t>
            </a:r>
          </a:p>
          <a:p xmlns:a="http://schemas.openxmlformats.org/drawingml/2006/main">
            <a:r>
              <a:t>- papers/Garcia-Development_validation_icons_abstractness.pdf, pp. 3–4, 11, 20</a:t>
            </a:r>
          </a:p>
          <a:p xmlns:a="http://schemas.openxmlformats.org/drawingml/2006/main">
            <a:r>
              <a:t>- papers/Glyph-based_Visualization_Foundations_Design_Guidelines_Techniques_Applications.pdf, pp. 7–10, 12, 16</a:t>
            </a:r>
          </a:p>
          <a:p xmlns:a="http://schemas.openxmlformats.org/drawingml/2006/main">
            <a:r>
              <a:t>- papers/Glyph_Visualization_A_Fail-Safe_Design_Scheme_Based_on_Quasi-Hamming_Distances.pdf, pp. 4–6</a:t>
            </a:r>
          </a:p>
          <a:p xmlns:a="http://schemas.openxmlformats.org/drawingml/2006/main">
            <a:r>
              <a:t>- papers/The_Influence_of_Contour_on_Similarity_Perception_of_Star_Glyphs.pdf, pp. 2–3, 6–8</a:t>
            </a:r>
          </a:p>
          <a:p xmlns:a="http://schemas.openxmlformats.org/drawingml/2006/main">
            <a:r>
              <a:t>- papers/A_Systematic_Review_of_Experimental_Studies_on_Data_Glyphs.pdf, pp. 1–17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literature names the visual concepts. Except for Canny edge density, the exact formulas are project-defined proxies and still require human validation.</a:t>
            </a:r>
          </a:p>
          <a:p xmlns:a="http://schemas.openxmlformats.org/drawingml/2006/main">
            <a:r>
              <a:t>The 239-icon source-set count is verified from the local McDougall corpus manifest and dataset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papers/Forsythe-Measuring_cion_complexity_automated.pdf, pp. 4–7</a:t>
            </a:r>
          </a:p>
          <a:p xmlns:a="http://schemas.openxmlformats.org/drawingml/2006/main">
            <a:r>
              <a:t>- papers/Garcia-Development_validation_icons_abstractness.pdf, pp. 3–4, 11, 20</a:t>
            </a:r>
          </a:p>
          <a:p xmlns:a="http://schemas.openxmlformats.org/drawingml/2006/main">
            <a:r>
              <a:t>- papers/The_Influence_of_Contour_on_Similarity_Perception_of_Star_Glyphs.pdf, pp. 2–3, 6–8</a:t>
            </a:r>
          </a:p>
          <a:p xmlns:a="http://schemas.openxmlformats.org/drawingml/2006/main">
            <a:r>
              <a:t>- papers/Glyph_Visualization_A_Fail-Safe_Design_Scheme_Based_on_Quasi-Hamming_Distances.pdf, pp. 4–6</a:t>
            </a:r>
          </a:p>
          <a:p xmlns:a="http://schemas.openxmlformats.org/drawingml/2006/main">
            <a:r>
              <a:t>- papers/Glyph-based_Visualization_Foundations_Design_Guidelines_Techniques_Applications.pdf, pp. 7–10, 12, 16</a:t>
            </a:r>
          </a:p>
          <a:p xmlns:a="http://schemas.openxmlformats.org/drawingml/2006/main">
            <a:r>
              <a:t>- wiki/literature-and-evidence.md</a:t>
            </a:r>
          </a:p>
          <a:p xmlns:a="http://schemas.openxmlformats.org/drawingml/2006/main">
            <a:r>
              <a:t>- wiki/feature-system.md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implemented distance and clustering are inspired by set-relative comparison; they are not a replication of quasi-Hamming distance.</a:t>
            </a:r>
          </a:p>
          <a:p xmlns:a="http://schemas.openxmlformats.org/drawingml/2006/main">
            <a:r>
              <a:t>Fuchs et al. (2014) reports task-specific contour and fill effects, not a universal accuracy benefit.</a:t>
            </a:r>
          </a:p>
          <a:p xmlns:a="http://schemas.openxmlformats.org/drawingml/2006/main">
            <a:r>
              <a:t>The 2017 review informs study-design options but does not define a finalized protocol for this 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papers/Glyph_Visualization_A_Fail-Safe_Design_Scheme_Based_on_Quasi-Hamming_Distances.pdf, pp. 4–6</a:t>
            </a:r>
          </a:p>
          <a:p xmlns:a="http://schemas.openxmlformats.org/drawingml/2006/main">
            <a:r>
              <a:t>- papers/The_Influence_of_Contour_on_Similarity_Perception_of_Star_Glyphs.pdf, pp. 2–3, 6–8</a:t>
            </a:r>
          </a:p>
          <a:p xmlns:a="http://schemas.openxmlformats.org/drawingml/2006/main">
            <a:r>
              <a:t>- papers/A_Systematic_Review_of_Experimental_Studies_on_Data_Glyphs.pdf, pp. 1–17</a:t>
            </a:r>
          </a:p>
          <a:p xmlns:a="http://schemas.openxmlformats.org/drawingml/2006/main">
            <a:r>
              <a:t>- wiki/evaluation-and-human-study.md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history: 4e5d7d64a (2026-06-01), c9616aed2 (2026-07-21), 31e075b7b (2026-07-28), fce7512f1 (2026-08-10)</a:t>
            </a:r>
          </a:p>
          <a:p xmlns:a="http://schemas.openxmlformats.org/drawingml/2006/main">
            <a:r>
              <a:t>- wiki/README.md</a:t>
            </a:r>
          </a:p>
          <a:p xmlns:a="http://schemas.openxmlformats.org/drawingml/2006/main">
            <a:r>
              <a:t>- wiki/dashboard-implementation.md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usable icon record is the pipeline's canonical row: one selected source icon after dataset-specific duplicate and alternate-export rules are applied.</a:t>
            </a:r>
          </a:p>
          <a:p xmlns:a="http://schemas.openxmlformats.org/drawingml/2006/main">
            <a:r>
              <a:t>The displayed examples are representative normalized icons; they do not imply that every set uses the same visual style.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icon_data/analysis/dataset.csv (28,749 rows; counts verified 2026-08-16)</a:t>
            </a:r>
          </a:p>
          <a:p xmlns:a="http://schemas.openxmlformats.org/drawingml/2006/main">
            <a:r>
              <a:t>- wiki/datasets-and-provenance.md</a:t>
            </a:r>
          </a:p>
          <a:p xmlns:a="http://schemas.openxmlformats.org/drawingml/2006/main">
            <a:r>
              <a:t>- wiki/pipeline.md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code/thesis_pipeline/features/registry.py</a:t>
            </a:r>
          </a:p>
          <a:p xmlns:a="http://schemas.openxmlformats.org/drawingml/2006/main">
            <a:r>
              <a:t>- wiki/feature-system.md</a:t>
            </a:r>
          </a:p>
          <a:p xmlns:a="http://schemas.openxmlformats.org/drawingml/2006/main">
            <a:r>
              <a:t>- wiki/literature-and-evidence.md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one family detail during the live demo to show value-stratified examples and the selected representative.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icon_data/analysis/analysis_dashboard/index.html (served and browser-verified 2026-08-13)</a:t>
            </a:r>
          </a:p>
          <a:p xmlns:a="http://schemas.openxmlformats.org/drawingml/2006/main">
            <a:r>
              <a:t>- code/build_analysis_dashboard.py</a:t>
            </a:r>
          </a:p>
          <a:p xmlns:a="http://schemas.openxmlformats.org/drawingml/2006/main">
            <a:r>
              <a:t>- wiki/dashboard-ui.md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live demo, use lasso selection, inspect one icon, and open one cluster summary.</a:t>
            </a:r>
          </a:p>
          <a:p xmlns:a="http://schemas.openxmlformats.org/drawingml/2006/main">
            <a:r>
              <a:t>The dashboard supports candidate selection; it does not measure discernibility.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icon_data/analysis/analysis_dashboard/index.html (served and browser-verified 2026-08-13)</a:t>
            </a:r>
          </a:p>
          <a:p xmlns:a="http://schemas.openxmlformats.org/drawingml/2006/main">
            <a:r>
              <a:t>- code/build_analysis_dashboard.py</a:t>
            </a:r>
          </a:p>
          <a:p xmlns:a="http://schemas.openxmlformats.org/drawingml/2006/main">
            <a:r>
              <a:t>- wiki/dashboard-ui.md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Pairwise agreement compares every icon pair: whether both clusterings put the pair together or both put it apart.</a:t>
            </a:r>
          </a:p>
          <a:p xmlns:a="http://schemas.openxmlformats.org/drawingml/2006/main">
            <a:r>
              <a:t>The AI image-embedding model receives normalized image pixels, not the seven thesis feature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icon_data/analysis/analysis_dashboard/index.html (served and browser-verified 2026-08-13)</a:t>
            </a:r>
          </a:p>
          <a:p xmlns:a="http://schemas.openxmlformats.org/drawingml/2006/main">
            <a:r>
              <a:t>- code/thesis_pipeline/ai_clustering/metrics.py</a:t>
            </a:r>
          </a:p>
          <a:p xmlns:a="http://schemas.openxmlformats.org/drawingml/2006/main">
            <a:r>
              <a:t>- wiki/dashboard-ui.md</a:t>
            </a:r>
          </a:p>
          <a:p xmlns:a="http://schemas.openxmlformats.org/drawingml/2006/main">
            <a:r>
              <a:t>- wiki/similarity-and-clustering.md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wiki/README.md</a:t>
            </a:r>
          </a:p>
          <a:p xmlns:a="http://schemas.openxmlformats.org/drawingml/2006/main">
            <a:r>
              <a:t>- wiki/evaluation-and-human-study.md</a:t>
            </a:r>
          </a:p>
          <a:p xmlns:a="http://schemas.openxmlformats.org/drawingml/2006/main">
            <a:r>
              <a:t>- wiki/limitations-and-backlog.md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study-design details are intentionally left open at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wiki/dashboard-ui.md</a:t>
            </a:r>
          </a:p>
          <a:p xmlns:a="http://schemas.openxmlformats.org/drawingml/2006/main">
            <a:r>
              <a:t>- wiki/dashboard-implementation.md</a:t>
            </a:r>
          </a:p>
          <a:p xmlns:a="http://schemas.openxmlformats.org/drawingml/2006/main">
            <a:r>
              <a:t>- wiki/evaluation-and-human-study.md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Fuchs et al. (2014) reported three controlled experiments. Experiment 1 used a target-plus-eight-alternatives similarity task with 12 novices and 12 experts; Experiment 2 was online; Experiment 3 collected accuracy, time, and a post-study questionnaire from 11 of 12 experts.</a:t>
            </a:r>
          </a:p>
          <a:p xmlns:a="http://schemas.openxmlformats.org/drawingml/2006/main">
            <a:r>
              <a:t>Legg et al. recruited 20 Oxford students or employees; 19 responses were analysed. Participants rated 104 glyph pairs on an integer 0–10 differentiation scale, with the non-reference pairs randomized.</a:t>
            </a:r>
          </a:p>
          <a:p xmlns:a="http://schemas.openxmlformats.org/drawingml/2006/main">
            <a:r>
              <a:t>Fuchs et al. (2017) is a systematic review, not a new participant experiment. It synthesized 64 papers with controlled quantitative glyph studies and categorized their tasks, measures, and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papers/The_Influence_of_Contour_on_Similarity_Perception_of_Star_Glyphs.pdf, pp. 9–10</a:t>
            </a:r>
          </a:p>
          <a:p xmlns:a="http://schemas.openxmlformats.org/drawingml/2006/main">
            <a:r>
              <a:t>- papers/Glyph_Visualization_A_Fail-Safe_Design_Scheme_Based_on_Quasi-Hamming_Distances.pdf, pp. 4–5, 8</a:t>
            </a:r>
          </a:p>
          <a:p xmlns:a="http://schemas.openxmlformats.org/drawingml/2006/main">
            <a:r>
              <a:t>- papers/A_Systematic_Review_of_Experimental_Studies_on_Data_Glyphs.pdf, pp. 11–12</a:t>
            </a:r>
          </a:p>
          <a:p xmlns:a="http://schemas.openxmlformats.org/drawingml/2006/main">
            <a:r>
              <a:t>- wiki/literature-and-evidence.md</a:t>
            </a:r>
          </a:p>
          <a:p xmlns:a="http://schemas.openxmlformats.org/drawingml/2006/main">
            <a:r>
              <a:t>- wiki/evaluation-and-human-study.md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proposal only. The protocol, participant plan, sizes, stimuli, and measures are not finalized.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wiki/evaluation-and-human-study.md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wiki/thesis-overview.md</a:t>
            </a:r>
          </a:p>
          <a:p xmlns:a="http://schemas.openxmlformats.org/drawingml/2006/main">
            <a:r>
              <a:t>- wiki/evaluation-and-human-study.md</a:t>
            </a:r>
          </a:p>
          <a:p xmlns:a="http://schemas.openxmlformats.org/drawingml/2006/main">
            <a:r>
              <a:t>- wiki/limitations-and-backlog.md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06e398a7040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46d7a7c8c4cac" /><Relationship Type="http://schemas.openxmlformats.org/officeDocument/2006/relationships/slideLayout" Target="/ppt/slideLayouts/slideLayout1.xml" Id="R405756bdba5c4c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756bdba5c4c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98024ffee4216" /><Relationship Type="http://schemas.openxmlformats.org/officeDocument/2006/relationships/notesSlide" Target="/ppt/notesSlides/notesSlide1.xml" Id="R2c647407da17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d32b11a4f47ce" /><Relationship Type="http://schemas.openxmlformats.org/officeDocument/2006/relationships/image" Target="/ppt/media/image.png" Id="Rb65f355aea934bcb" /><Relationship Type="http://schemas.openxmlformats.org/officeDocument/2006/relationships/notesSlide" Target="/ppt/notesSlides/notesSlide2.xml" Id="Rd0780c7ee42745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debb65ba4c00" /><Relationship Type="http://schemas.openxmlformats.org/officeDocument/2006/relationships/notesSlide" Target="/ppt/notesSlides/notesSlide3.xml" Id="R04b036430e1d49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16fa3f6c84bf5" /><Relationship Type="http://schemas.openxmlformats.org/officeDocument/2006/relationships/notesSlide" Target="/ppt/notesSlides/notesSlide4.xml" Id="R89b47a835f50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fe4b3e7aa4e09" /><Relationship Type="http://schemas.openxmlformats.org/officeDocument/2006/relationships/notesSlide" Target="/ppt/notesSlides/notesSlide5.xml" Id="Rfa02077146da4d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2b4ab0274849" /><Relationship Type="http://schemas.openxmlformats.org/officeDocument/2006/relationships/notesSlide" Target="/ppt/notesSlides/notesSlide6.xml" Id="Re45eb3d4ead54c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1ed69d9d84da8" /><Relationship Type="http://schemas.openxmlformats.org/officeDocument/2006/relationships/notesSlide" Target="/ppt/notesSlides/notesSlide7.xml" Id="R1d581c55aee9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539b85aeb4eef" /><Relationship Type="http://schemas.openxmlformats.org/officeDocument/2006/relationships/image" Target="/ppt/media/image2.png" Id="Rb109446848f14018" /><Relationship Type="http://schemas.openxmlformats.org/officeDocument/2006/relationships/image" Target="/ppt/media/image3.png" Id="Rf3d84c449c554d9a" /><Relationship Type="http://schemas.openxmlformats.org/officeDocument/2006/relationships/image" Target="/ppt/media/image4.png" Id="Reb999c30bc2d49a0" /><Relationship Type="http://schemas.openxmlformats.org/officeDocument/2006/relationships/image" Target="/ppt/media/image5.png" Id="R64695f4195f04de1" /><Relationship Type="http://schemas.openxmlformats.org/officeDocument/2006/relationships/image" Target="/ppt/media/image6.png" Id="R8b2d71d731ff48b8" /><Relationship Type="http://schemas.openxmlformats.org/officeDocument/2006/relationships/image" Target="/ppt/media/image7.png" Id="R274b2ba1300d4ea3" /><Relationship Type="http://schemas.openxmlformats.org/officeDocument/2006/relationships/image" Target="/ppt/media/image8.png" Id="Re4b68e34bfdb46a6" /><Relationship Type="http://schemas.openxmlformats.org/officeDocument/2006/relationships/image" Target="/ppt/media/image9.png" Id="Rcaf149cef2834d2c" /><Relationship Type="http://schemas.openxmlformats.org/officeDocument/2006/relationships/image" Target="/ppt/media/image10.png" Id="R70e7ba01ee414d89" /><Relationship Type="http://schemas.openxmlformats.org/officeDocument/2006/relationships/image" Target="/ppt/media/image11.png" Id="R7cf5a1d59043424e" /><Relationship Type="http://schemas.openxmlformats.org/officeDocument/2006/relationships/image" Target="/ppt/media/image12.png" Id="Rf0fb8a0db67c441a" /><Relationship Type="http://schemas.openxmlformats.org/officeDocument/2006/relationships/image" Target="/ppt/media/image13.png" Id="R038e27fe0d294dd0" /><Relationship Type="http://schemas.openxmlformats.org/officeDocument/2006/relationships/image" Target="/ppt/media/image14.png" Id="Rcc94ce2915774db0" /><Relationship Type="http://schemas.openxmlformats.org/officeDocument/2006/relationships/notesSlide" Target="/ppt/notesSlides/notesSlide8.xml" Id="R8faaf8ec51a34d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3e8f07278439d" /><Relationship Type="http://schemas.openxmlformats.org/officeDocument/2006/relationships/notesSlide" Target="/ppt/notesSlides/notesSlide9.xml" Id="R4cc523ec24974c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aac055475478e" /><Relationship Type="http://schemas.openxmlformats.org/officeDocument/2006/relationships/image" Target="/ppt/media/image15.png" Id="R11779f1c0ef0434a" /><Relationship Type="http://schemas.openxmlformats.org/officeDocument/2006/relationships/notesSlide" Target="/ppt/notesSlides/notesSlide10.xml" Id="R7f5f511c225146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ad31f7fec45d2" /><Relationship Type="http://schemas.openxmlformats.org/officeDocument/2006/relationships/image" Target="/ppt/media/image16.png" Id="Rcc673d11d2e84483" /><Relationship Type="http://schemas.openxmlformats.org/officeDocument/2006/relationships/notesSlide" Target="/ppt/notesSlides/notesSlide11.xml" Id="Rc590643a4322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e3259d8754a83" /><Relationship Type="http://schemas.openxmlformats.org/officeDocument/2006/relationships/image" Target="/ppt/media/image17.png" Id="R319487d26f8543fb" /><Relationship Type="http://schemas.openxmlformats.org/officeDocument/2006/relationships/notesSlide" Target="/ppt/notesSlides/notesSlide12.xml" Id="R48972730684e4e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64d8dee564add" /><Relationship Type="http://schemas.openxmlformats.org/officeDocument/2006/relationships/notesSlide" Target="/ppt/notesSlides/notesSlide13.xml" Id="Ra5ceac1029184b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8ae177ec34b25" /><Relationship Type="http://schemas.openxmlformats.org/officeDocument/2006/relationships/notesSlide" Target="/ppt/notesSlides/notesSlide14.xml" Id="R6d35efffb53348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aa904922e42ec" /><Relationship Type="http://schemas.openxmlformats.org/officeDocument/2006/relationships/notesSlide" Target="/ppt/notesSlides/notesSlide15.xml" Id="R6534061ba18546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8f533f94440df" /><Relationship Type="http://schemas.openxmlformats.org/officeDocument/2006/relationships/notesSlide" Target="/ppt/notesSlides/notesSlide16.xml" Id="Rf0027f2a30c74d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0eac04704465f" /><Relationship Type="http://schemas.openxmlformats.org/officeDocument/2006/relationships/notesSlide" Target="/ppt/notesSlides/notesSlide17.xml" Id="R41f2870f9e5b45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9B73C-4278-4532-99C6-E22A2B5D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THESIS PROGRESS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677D-3F34-4069-8B47-2239ADB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Perception of Glyphs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33FD7-33B6-4F5D-85C1-911FD9B1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CBF0F-C899-47A1-A0F7-AB5B1A14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do glyph sets stop being discernible as size is reduced?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95ABF-766F-46CA-BAA0-97B08A19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Name · Programme · Bauhaus-Universität Weimar · Supervisor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1536140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DC670-9FAD-4317-8D54-F6EAFAA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BE443-1C15-4AE4-A5DE-A44A2AA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5D2AD-458F-40DD-A9A5-A7FB550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do reduced glyphs stop being discernible?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C1DE6-1A5B-4001-80B3-3FC85E87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48577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 size decreases: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Fine detail disappears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gaps close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Thin strokes weaken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Shape differences collapse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56B17-0C71-42AF-8C3B-D238A75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0025"/>
            <a:ext cx="4857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Target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Smallest discernible size</a:t>
            </a:r>
          </a:p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  <a:p xmlns:a="http://schemas.openxmlformats.org/drawingml/2006/main">
            <a:pPr algn="l">
              <a:def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Visual predictors of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D3063-D954-46A9-AF6D-CA51DA2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9817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3A02B-281B-4B51-9326-C8ED59F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5262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GLYPH SET · DECREASING DISPLAY SIZE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f355aea934bcb"/>
          <a:stretch xmlns:a="http://schemas.openxmlformats.org/drawingml/2006/main"/>
        </p:blipFill>
        <p:spPr>
          <a:xfrm xmlns:a="http://schemas.openxmlformats.org/drawingml/2006/main">
            <a:off x="7096125" y="2334889"/>
            <a:ext cx="3429000" cy="24930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16A34-9249-41E5-AEB3-F1B620A3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2762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Legg et al., 2017 · Figure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A6144-EFAF-4758-BEF3-3943FA02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At what point do set members become confused?</a:t>
            </a:r>
          </a:p>
        </p:txBody>
      </p:sp>
    </p:spTree>
    <p:extLst>
      <p:ext uri="{BB962C8B-B14F-4D97-AF65-F5344CB8AC3E}">
        <p14:creationId xmlns:p14="http://schemas.microsoft.com/office/powerpoint/2010/main" val="1213299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8BC85-D7A9-4432-AE7A-16A8CD1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02–03 · AIM AND RESEARCH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B763-FD45-44C8-BA25-A36110EB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24CC4-2396-42F3-B6FB-AB41914F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research goal is explicitly size-dependent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A32AB-0C08-43D6-BFB9-F62D08A4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28775"/>
            <a:ext cx="10839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Primary aim · Size-dependent discernibility</a:t>
            </a:r>
          </a:p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Current focus · Computational basis for glyph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92EF8-B47B-4235-953D-59F04468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98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8A40C-3E5F-4D60-9BE9-3C04475D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Discernibility thresholds across display sizes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E2825-D1EA-4CF5-BA46-73110A5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37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924E0-BD9C-40BC-BA08-29AF84C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A6654-3307-42A9-9C38-7AB4C31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95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Seven feature families · clustering · candidate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B4075-96FD-4B42-92EF-C48EB3B5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E22CA-5703-49A8-A1B1-A79DD36B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9FC55-75BD-4260-8C28-35475570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38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questions · protocol · measures</a:t>
            </a:r>
          </a:p>
        </p:txBody>
      </p:sp>
    </p:spTree>
    <p:extLst>
      <p:ext uri="{BB962C8B-B14F-4D97-AF65-F5344CB8AC3E}">
        <p14:creationId xmlns:p14="http://schemas.microsoft.com/office/powerpoint/2010/main" val="1282037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46A4F9-4133-4A4D-99AB-7CAE776F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6C3D1-EB5C-439E-BBF3-B54EF883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2ED7A-F464-4073-8EB0-D22B113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Literature shaped the system and guides the next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ADFD8-CD03-43DE-BD9B-80E2B1F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Five implementation influences · one human-evaluation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D4F80-73A8-4B13-9B06-F1FDB0D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MEASURABLE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298C5-5D62-4596-85D3-90E27FBA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Forsythe et al. (2003) · Garcia et al. (1994) · Borgo et al. (2013)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78F62-72EF-4A91-8669-2B516E58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Evidence for measurable visual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8441E-E859-4567-B4CC-4D2280F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4EBF8-2CA2-4646-B691-5290A80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SET-RELATIVE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C7641-4B67-4BC9-AFF2-B60F7E3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623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Legg et al. (2016) · Fuchs et al. (2014)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DDCDB-F72A-4D7E-827C-182D0A35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623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Distance · clustering · contour-aware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E2945-C283-4B3E-9513-87E9C9D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52482-AE2F-4D4E-B89A-B5A2AF3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HUMAN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9C36D-6D9B-4A9A-A7FD-91AA1FA9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Fuchs et al. (2017)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21A75-E177-4308-B669-32117260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Task- and condition-dependent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CCD53-F454-4B15-8FDD-7FEB92CF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7BF88-788C-4442-9DBF-F4519AE3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Research gap · No size-dependent thresholds for heterogeneous icon sets</a:t>
            </a:r>
          </a:p>
        </p:txBody>
      </p:sp>
    </p:spTree>
    <p:extLst>
      <p:ext uri="{BB962C8B-B14F-4D97-AF65-F5344CB8AC3E}">
        <p14:creationId xmlns:p14="http://schemas.microsoft.com/office/powerpoint/2010/main" val="6261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AA2EA-4281-4D62-A246-342ED779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A54B4-79AE-401D-BE68-F3CD33BA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B0103-18B0-46C0-B9C1-2AC72D53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Visual concepts became measurable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39FCC-1476-4C02-8AD3-C53D444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One directly examined measure · six project-defined proxies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5D04E-A76C-4B0C-87F3-77961C1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FAMILY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4E3-A747-47FD-9D6C-B38D54F8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LITERATURE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6D4A9-9FE7-4535-AD8D-20E9876A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IMPLEMENTED REPRESENTATIVE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EB71-8425-4B04-B2FB-78C43A07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RELATION TO LITERATURE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2DF97-B393-414C-9875-658F6BA0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684E4-FAAA-42AA-ACE9-D3725A45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Complexity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2CF8E-9B5D-4310-AA3A-0DD4EE34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Forsythe et al. (2003)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C0875-FCEC-479F-8CA5-C451288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Canny edge density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8635B-C2E0-47E4-BF4D-B20567B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Directly examined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75F4E-CF95-45F7-9FD4-9101482F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CA4BFC-4382-4C57-B029-B6C85772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Shape · 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83A39-3110-4BD7-9B4D-31E6485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385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Garcia et al. (1994) · Fuchs et al. (2014)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B8B17-A2D6-4D3E-AB79-3EE7AD1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385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Enclosure · Solid fill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25B39-134F-405A-844B-276AC200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385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Project-defined proxies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7D1E91-EC37-45C9-8BEF-B0DBA540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2B8D3-9A70-4178-BE3E-9A743B3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Stroke · Texture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CDFE9-A4D6-4611-992D-52C4AFD2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Legg et al. (2016)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B35FB-1D8D-4994-B4B5-2FF487F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Orientation · Local texture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6213F-6722-40ED-AD11-F76EC251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Project-defined proxies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7239A-5D62-413D-B0F5-5223023B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AE9AB-3474-47ED-9E6B-D1C6D2D5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Balance · Colour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48C56-5163-4329-A81F-CAFB695F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529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Borgo et al. (2013)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1479C-7189-43A8-B9C6-C88FE09A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529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Symmetry · Saturation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33D02C-BB61-4667-8886-5CAA269D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29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Project-defined proxies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B72D2-F654-4EA5-AF36-9B713B7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Forsythe sample · 68 random icons from 239 McDougall symbols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F403A5-1AFA-4817-AFCB-5418A2A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9715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22A050-A629-4ABB-8237-437E1C9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95975"/>
            <a:ext cx="925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Thesis contribution · Seven reproducible measurements across 28,749 icons</a:t>
            </a:r>
          </a:p>
        </p:txBody>
      </p:sp>
    </p:spTree>
    <p:extLst>
      <p:ext uri="{BB962C8B-B14F-4D97-AF65-F5344CB8AC3E}">
        <p14:creationId xmlns:p14="http://schemas.microsoft.com/office/powerpoint/2010/main" val="392047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D7AAF-06BA-4AEA-B3F6-F5FD0260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· 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1AF5B-7B81-4E94-8BFF-DFF5CCF7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40E47-5726-4762-9F92-D5DF4288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Literature guides glyph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4D458-93F0-4470-9F18-B08FBD48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Literature → candidate selection     Participants → perceptual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9A5F9-4016-4AF3-86C0-CC7C4A04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AFBFD-45BD-4D1F-A71C-2689135B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D26D-5CF4-48C7-A103-3CD4BC8B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LEGG ET AL. · 2016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50F52-FACE-44FA-95E5-CBA584FC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3257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Multiple visual channels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72E73-8107-44A3-A981-FB28F54A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EFFECT ON THIS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69A3F-CCF5-46D9-986C-9B4CB4D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Feature distance · clustering</a:t>
            </a:r>
          </a:p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Close vs. distant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31DF6-EF14-4412-A7A3-3060D1B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FUCHS ET AL. · 2014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664DD-32D2-4D74-AFD1-9BFCB430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38450"/>
            <a:ext cx="3257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Contour and fill effects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EEE60-A551-45A7-8B43-4107C4F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EFFECT ON THIS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71A89-A857-42F4-B5F3-7F4F205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Enclosure · solid fill</a:t>
            </a:r>
          </a:p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Controlled contrasts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7F20C-388F-43F0-8A3D-F29FF34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336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FUCHS ET AL. · 2017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B7868-2BDC-4608-9296-7BFFB95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3257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Task-dependent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2E24B-2525-44E3-A7C5-78AC7FB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EFFECT ON THIS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0BDAE-07F6-4647-A770-63D25D4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481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Dashboard-selected stimuli</a:t>
            </a:r>
          </a:p>
          <a:p xmlns:a="http://schemas.openxmlformats.org/drawingml/2006/main">
            <a:pPr algn="l">
              <a:def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Participant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12C37-AA13-43EA-AADC-82B35E31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74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3F3FF-B0CA-4CE2-900B-F9C25438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Thesis contribution · Confusion thresholds as display size decreases</a:t>
            </a:r>
          </a:p>
        </p:txBody>
      </p:sp>
    </p:spTree>
    <p:extLst>
      <p:ext uri="{BB962C8B-B14F-4D97-AF65-F5344CB8AC3E}">
        <p14:creationId xmlns:p14="http://schemas.microsoft.com/office/powerpoint/2010/main" val="920711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AAAA42-8B25-400A-BA7F-C56A15E0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 · RESEARCH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C03BA-CD91-40A6-8647-11D2A9E1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8B8B1-6438-4CB6-BD1A-1A52015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Analysis prepared glyph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8F6A1-4C33-49F9-B6FB-A8019186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Corpus → reliable features → comparable exploration → interpretable clusters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56DCD-7368-4A0F-BD13-8419759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43275"/>
            <a:ext cx="9848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53894-7F47-442D-B18B-60044F07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24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4D5F3-02CB-47B1-B3FE-761AEAAF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JUNE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CEEC5-6C49-40FB-AB0D-27DA7AD2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Corpus + first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58AA2-07A6-49E2-A4ED-9A95871D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161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13 icon sets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Normalized images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First extraction +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2D0DC-3A01-490C-BA75-F5BFDB8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24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FC2B8-8883-41ED-95EF-B1BFD7B2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JULY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EA3CF-6E1B-464A-A328-EC0E7CF3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Feature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79781-B58C-4AC5-89AD-4FEB1BE0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57625"/>
            <a:ext cx="161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Corrected semantics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Schema v2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Shared feature registry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576ED-BCE9-4ECD-A798-B5006EE3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24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BCC7D-68F2-46EC-951E-6A59E230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EARLY AUG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6E8D8-02D8-403C-B9A0-2BD5E6C8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Comparable exploration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7E42B-925B-41AD-9DDB-71B3A14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61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Balanced sampling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Saved AI runs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Side-by-side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13E16-3804-47A9-80AA-127E499D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24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AC5C8-9CC7-48E2-B091-D5DB1E35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 AUG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D16D4-D284-43C5-9301-244CB2C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47950"/>
            <a:ext cx="161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Interpretability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49BE0-F875-4FB3-AC3F-694CC26A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57625"/>
            <a:ext cx="161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Lasso selection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Cluster summaries</a:t>
            </a:r>
          </a:p>
          <a:p xmlns:a="http://schemas.openxmlformats.org/drawingml/2006/main">
            <a:pPr algn="ctr">
              <a:def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Post-hoc feature profiles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BE0EA-4B84-4526-A60E-C2C79F0E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19750"/>
            <a:ext cx="880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Result · Controlled glyph selection basis—not a discernibility threshold</a:t>
            </a:r>
          </a:p>
        </p:txBody>
      </p:sp>
    </p:spTree>
    <p:extLst>
      <p:ext uri="{BB962C8B-B14F-4D97-AF65-F5344CB8AC3E}">
        <p14:creationId xmlns:p14="http://schemas.microsoft.com/office/powerpoint/2010/main" val="1585471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B2351A-9E71-41EC-89E8-65A7E024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5F03E-7BE0-4B3D-9B51-F3D0CBF4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CC302-8170-4D54-88F8-4AF386B1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Thirteen source sets provide 28,749 study candidates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8D796-B81A-4DD9-9902-4C872F64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Canonical records · stable IDs · duplicates and alternate exports excluded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C347C-7378-462E-88DA-C8BCEC17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SOURCE SET +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3C33C-731A-4293-A7C7-E3D55C07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ICONS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33BA6-65D7-42BC-902D-EC336F0E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SOURCE SET +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0EBCD-2B12-498B-A7E2-F834E6B8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790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ICONS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84AB3-209C-4A0D-B05C-FE0C43EC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9446848f14018"/>
          <a:stretch xmlns:a="http://schemas.openxmlformats.org/drawingml/2006/main"/>
        </p:blipFill>
        <p:spPr>
          <a:xfrm xmlns:a="http://schemas.openxmlformats.org/drawingml/2006/main">
            <a:off x="438150" y="2095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874FC-BF66-4899-B91F-6FB00E4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ARASAAC pictograms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5A858-982A-44E9-B3AE-95CAD5F4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526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13,798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C4BC-F6B5-47FA-834A-C62BD002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20E28-14E6-4AC2-87E1-C1572B8A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84c449c554d9a"/>
          <a:stretch xmlns:a="http://schemas.openxmlformats.org/drawingml/2006/main"/>
        </p:blipFill>
        <p:spPr>
          <a:xfrm xmlns:a="http://schemas.openxmlformats.org/drawingml/2006/main">
            <a:off x="438150" y="2628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DC020-C75E-4DF8-93E1-2C8DA484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Blissymbolics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2F293-857C-4C1D-8444-577E5C26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5,825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5A62D-1BE8-42E5-95BA-30C28890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9DC15-53B9-4117-9BD8-E8DB80A4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99c30bc2d49a0"/>
          <a:stretch xmlns:a="http://schemas.openxmlformats.org/drawingml/2006/main"/>
        </p:blipFill>
        <p:spPr>
          <a:xfrm xmlns:a="http://schemas.openxmlformats.org/drawingml/2006/main">
            <a:off x="438150" y="3162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842C4-D717-4E9A-981C-EFFAEE0C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OpenMoji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F6FFA-1DED-4E27-9C7B-77F61951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4,495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E3D1A-0C0C-4826-9B68-F1393FD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718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81383-AB54-417F-B6E6-42F7B0C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95f4195f04de1"/>
          <a:stretch xmlns:a="http://schemas.openxmlformats.org/drawingml/2006/main"/>
        </p:blipFill>
        <p:spPr>
          <a:xfrm xmlns:a="http://schemas.openxmlformats.org/drawingml/2006/main">
            <a:off x="438150" y="36957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68F40-092C-4C19-B727-01C59F6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Mulberry symbols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7A31A-25A4-4CCA-B9D4-BD38F3D2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52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3,436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7410C-C2CB-40D7-9619-D93B5582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D5339-5523-4A55-A28A-DEDEBF82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d71d731ff48b8"/>
          <a:stretch xmlns:a="http://schemas.openxmlformats.org/drawingml/2006/main"/>
        </p:blipFill>
        <p:spPr>
          <a:xfrm xmlns:a="http://schemas.openxmlformats.org/drawingml/2006/main">
            <a:off x="438150" y="4229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C53C9-A6F9-4538-99EE-3D1B189C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OCHA humanitarian icons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02935B-4EAB-4543-9305-158954AB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86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3A5B9-CA36-4E86-BE81-FBF06AB0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CD765F-07B9-4807-90AC-4DDE5210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b2ba1300d4ea3"/>
          <a:stretch xmlns:a="http://schemas.openxmlformats.org/drawingml/2006/main"/>
        </p:blipFill>
        <p:spPr>
          <a:xfrm xmlns:a="http://schemas.openxmlformats.org/drawingml/2006/main">
            <a:off x="438150" y="4762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31D72-DE59-4458-A1BB-EA0D56A9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McDougall symbols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4BB5E-4A8A-4815-B8C6-ECBC622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F7E4BA-6B1D-40F6-AB5E-82C0F3BC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72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6A27DF-4A6C-4D62-B1DC-065236EF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68e34bfdb46a6"/>
          <a:stretch xmlns:a="http://schemas.openxmlformats.org/drawingml/2006/main"/>
        </p:blipFill>
        <p:spPr>
          <a:xfrm xmlns:a="http://schemas.openxmlformats.org/drawingml/2006/main">
            <a:off x="438150" y="5295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E501F-85FE-4843-9719-5B28D23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Mapbox Maki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360696-EAA4-4508-97D8-ED38075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53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FED53D-0178-49DE-B863-82B50B81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054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476432-7037-431B-9500-E5B201F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57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149cef2834d2c"/>
          <a:stretch xmlns:a="http://schemas.openxmlformats.org/drawingml/2006/main"/>
        </p:blipFill>
        <p:spPr>
          <a:xfrm xmlns:a="http://schemas.openxmlformats.org/drawingml/2006/main">
            <a:off x="6191250" y="2095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05D128-176F-4277-AEA6-A517965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Healthcare webfont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B8C6BB-6F76-467B-8CC4-B70F8A8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526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E54DF6-F961-456A-9E4A-BD7C63B1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05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9D36EC-4087-4E7B-9173-48B6788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7ba01ee414d89"/>
          <a:stretch xmlns:a="http://schemas.openxmlformats.org/drawingml/2006/main"/>
        </p:blipFill>
        <p:spPr>
          <a:xfrm xmlns:a="http://schemas.openxmlformats.org/drawingml/2006/main">
            <a:off x="6191250" y="2628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74CAF5-4ECC-4F00-B84D-2E1F378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USP medication pictograms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6BB4B0-9260-4851-B3EB-D1A0D57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8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F646C6-B6D5-4537-93BD-4F461AF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5460B1-D330-4BAE-BDE7-CEB43BB5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5a1d59043424e"/>
          <a:stretch xmlns:a="http://schemas.openxmlformats.org/drawingml/2006/main"/>
        </p:blipFill>
        <p:spPr>
          <a:xfrm xmlns:a="http://schemas.openxmlformats.org/drawingml/2006/main">
            <a:off x="6191250" y="3162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0CAAF1-1337-46E1-BC55-DB077D30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AIGA / DOT signs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1F80E8C-BFE0-4B95-8BA0-081DC70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194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7048A1-C20A-45E7-BEFC-3E88745B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0FBAA8-3654-42C1-9BEE-01F9C6AA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b8a0db67c441a"/>
          <a:stretch xmlns:a="http://schemas.openxmlformats.org/drawingml/2006/main"/>
        </p:blipFill>
        <p:spPr>
          <a:xfrm xmlns:a="http://schemas.openxmlformats.org/drawingml/2006/main">
            <a:off x="6191250" y="36957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25DC1D-43C5-440A-AF18-31AD11E8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ISO 7010 safety signs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1B3A5A-5C04-4765-8E53-5A86D005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52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2348DB-7B89-4B03-BAC3-AA430E6F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052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E27713-5244-492F-BA47-7E84255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e27fe0d294dd0"/>
          <a:stretch xmlns:a="http://schemas.openxmlformats.org/drawingml/2006/main"/>
        </p:blipFill>
        <p:spPr>
          <a:xfrm xmlns:a="http://schemas.openxmlformats.org/drawingml/2006/main">
            <a:off x="6191250" y="42291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43A779-4412-455F-A29C-75F2A25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86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ISO 15223 medical devices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DA727E1-879A-4D31-827F-FC01119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2277BA-63C4-46A4-941A-C9B19025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386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22BB30-E026-4333-88CD-D719FE7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24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ce2915774db0"/>
          <a:stretch xmlns:a="http://schemas.openxmlformats.org/drawingml/2006/main"/>
        </p:blipFill>
        <p:spPr>
          <a:xfrm xmlns:a="http://schemas.openxmlformats.org/drawingml/2006/main">
            <a:off x="6191250" y="47625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7F0287-128C-4F73-A6CE-C5BA1A0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GHS hazard pictograms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3E2272-9C4A-4AF5-8266-3D763182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196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DDBD7B-DCDC-4399-9793-3DD9D4F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7207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58FA0A-9B42-44A0-AA5C-5A60927E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E4B0B9-7A11-4C48-8E9F-EB45182F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Stable ID  →  256 × 256 normalized image  →  seven feature measurements  →  interactive review</a:t>
            </a:r>
          </a:p>
        </p:txBody>
      </p:sp>
    </p:spTree>
    <p:extLst>
      <p:ext uri="{BB962C8B-B14F-4D97-AF65-F5344CB8AC3E}">
        <p14:creationId xmlns:p14="http://schemas.microsoft.com/office/powerpoint/2010/main" val="1348680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00B62-7325-4BF6-9BEE-205E745A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 ·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09CD1-E9E8-4D33-A453-8E6EFF9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FE216-390D-4682-9878-A32F4210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Seven families describe what may survive at small sizes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7C93-4B83-4F6D-99F1-A3E08A48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Candidate predictors of persistence—or confusion—at reduced sizes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11E75-8042-46A9-A3DF-DBFE0B78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COMPLEXITY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749C-5103-4E51-A857-091A717F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19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Canny edge density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74759-0852-4AA7-BA23-53BB822D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F127-EFB2-40B1-81A0-715ACAF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2863A-A583-4469-A4EA-C67A9E5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Enclosure score v2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80037-CBEB-468D-BA58-4EA93973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F8559-2293-44A0-A5A2-C737C861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STROKE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70379-F29D-4E84-8DD8-8DD85E6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95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Principal-axis orientation 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82A5E-0294-4B2C-AA31-056B2C51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344BE-7355-481D-8343-AE3B63F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DENSITY / FILL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A49C62-49D5-4A46-859B-3E6F922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33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Solid fill ratio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B46B2-7BFB-4892-AFA5-423E54A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271FB-158A-452D-9AAF-5B321947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07F6E-858C-4A4E-B745-87B978D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19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Horizontal symmetry v2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86295-8EDB-4C3B-8736-89AF081C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956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8983D-9808-4CEE-9110-9B81603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COLOR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1D5A6-D2E4-45DA-BAC7-3C531935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Mean saturation v2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495FDA-42C3-46CF-B911-6F4E2BD7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15E94-DC4C-42BD-911B-154D7FE6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14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TEXTURE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81BDD-F468-4665-9275-C300021E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95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Local texture variation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AE8DEF-FC3C-4071-8D8B-28ABEA58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72000"/>
            <a:ext cx="5286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620C0-5D91-4967-B87F-CBCBAA73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57750"/>
            <a:ext cx="5286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2D3C1-714C-4F0A-9EFF-3B0071FD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9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Important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EBE71-9923-46BC-B9E5-CA951AFD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14950"/>
            <a:ext cx="4810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Candidate predictors only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Discernibility requires participant evidence</a:t>
            </a:r>
          </a:p>
        </p:txBody>
      </p:sp>
    </p:spTree>
    <p:extLst>
      <p:ext uri="{BB962C8B-B14F-4D97-AF65-F5344CB8AC3E}">
        <p14:creationId xmlns:p14="http://schemas.microsoft.com/office/powerpoint/2010/main" val="1609608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A2B5D-E6A4-4EE7-9E0C-83A5AF35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· CURRENT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1090A-18F5-4EB1-AB21-C1E9B405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86CC7-4461-4813-A09C-B1E88B4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1: inspect the seven feature families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20A4-6B69-4DDC-8813-10F24C84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Seven measurements · value-stratified examples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93CBE-5544-4F2D-B050-E20FC836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113919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79f1c0ef0434a"/>
          <a:stretch xmlns:a="http://schemas.openxmlformats.org/drawingml/2006/main"/>
        </p:blipFill>
        <p:spPr>
          <a:xfrm xmlns:a="http://schemas.openxmlformats.org/drawingml/2006/main">
            <a:off x="601894" y="2085975"/>
            <a:ext cx="10988211" cy="3943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3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0D940-336D-4263-ACAC-4493EEC5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· CURRENT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29E1F-080D-4F54-883D-B0BF9DE7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2A936-E9A5-4FBB-805C-FB885A51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2: inspect clustering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E98A-02CC-48EF-BA63-ACA5E05F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Lasso selection · cluster summaries · candidate contrasts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6A488-7F57-496E-9CAB-5B56F69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13919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73d11d2e84483"/>
          <a:stretch xmlns:a="http://schemas.openxmlformats.org/drawingml/2006/main"/>
        </p:blipFill>
        <p:spPr>
          <a:xfrm xmlns:a="http://schemas.openxmlformats.org/drawingml/2006/main">
            <a:off x="517187" y="1981200"/>
            <a:ext cx="11157626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84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5E0CB-B5B7-442A-AAE6-4EC7173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· CURRENT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311DE-97AD-4895-AC70-7B546293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9F472-E95D-41B2-BA20-0A9A289E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Demo 3: compare feature and AI groupings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FDD67-5A67-481A-A9BC-4D3DB9A1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Pairwise agreement · 0.783     Partition similarity—not 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33E35-3A91-4F24-8FB7-8237026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14525"/>
            <a:ext cx="109918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487d26f8543fb"/>
          <a:stretch xmlns:a="http://schemas.openxmlformats.org/drawingml/2006/main"/>
        </p:blipFill>
        <p:spPr>
          <a:xfrm xmlns:a="http://schemas.openxmlformats.org/drawingml/2006/main">
            <a:off x="889518" y="2028825"/>
            <a:ext cx="10412963" cy="411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34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A118B-1807-4F0F-A656-A507ECE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08 · CURRENT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147BA-803A-44BB-ABA9-F1A3417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9244F-E6C1-496F-8F0C-30D5CF08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current system is ready for glyph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18EE5-C99D-4B68-B238-14751234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BUILT AND WORKING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A2B85-74C6-4E64-9642-41CD0F6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383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8088F-8318-4229-BEF4-B0946578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62125"/>
            <a:ext cx="1905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FD925-59FF-43BB-B0E0-167105CA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907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27B4B-327A-43E7-A38A-15FB9EE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Icon corpus and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DF4F9-EE04-4442-972C-67C65603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91E8A-289C-4CA0-966B-58CF04BF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Seven feature families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B4E4A-88F2-4585-B89E-1ED2A5C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57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86580-E70E-4A7C-B8BC-DD02EF2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Interactive UI and lasso inspection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80220-5AE7-41FC-863E-340236D7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443B5-BE6B-49D6-9656-E835E045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Clustering and cluster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D542B-E704-4DDA-9016-84725232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D2577-2701-416B-BDD0-1BCBA21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431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Select glyphs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EB2D6-789B-469D-B059-A40C2514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52750"/>
            <a:ext cx="4267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Feature values · clusters · summaries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F70BB-E2B0-46CF-B2A2-F24F81E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C8D9F-5836-4D6B-9B71-98DFD2D9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814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the study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DDB70-BF34-4946-A360-69D8BB1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391025"/>
            <a:ext cx="4267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Only after glyph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B501A-CDE5-4623-90F7-224B0191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97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 yet defined · participant protocol · task · measurements</a:t>
            </a:r>
          </a:p>
        </p:txBody>
      </p:sp>
    </p:spTree>
    <p:extLst>
      <p:ext uri="{BB962C8B-B14F-4D97-AF65-F5344CB8AC3E}">
        <p14:creationId xmlns:p14="http://schemas.microsoft.com/office/powerpoint/2010/main" val="1509535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C9EDD-9CC8-40A1-898C-283E758D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 ·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3400-28CB-47E2-BF9E-786F2E6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6EED-482D-41AD-98A1-0359D42B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Next: select glyphs, then design the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93832-F3D3-4D6E-A211-4B66A2F3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Immediate milestone · reviewed, defensible glyph selection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32AE3-5628-4263-B0C6-B09E664E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1275"/>
            <a:ext cx="50958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2E520-AF41-4D35-9BD8-E5456EF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81275"/>
            <a:ext cx="50958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9FF60-F0D7-476E-8532-9128FB83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4B93-28C8-4DCF-BE14-AF55D691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Select candidate glyphs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6DD1B-B72D-418A-97BC-AE34514C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248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Dashboard review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Seven feature values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Clustering + lasso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Cluster summaries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72A32-DCFB-4408-8577-A4D2BA53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051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8BEDF-75D0-44E0-AB0C-F170D58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623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Design the user study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5B8AC-B630-41B7-815A-CEF7A04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71925"/>
            <a:ext cx="4248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Research questions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Task + conditions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Participant plan</a:t>
            </a:r>
          </a:p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Measurements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80FE9-E6D8-4452-9A3A-BD8D58E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242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84BDC8-AE08-4C5F-84B2-17BF910F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638800"/>
            <a:ext cx="9163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123E6-DF94-4C33-A57A-009B0413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791200"/>
            <a:ext cx="8782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boundary · user-study design remains open</a:t>
            </a:r>
          </a:p>
        </p:txBody>
      </p:sp>
    </p:spTree>
    <p:extLst>
      <p:ext uri="{BB962C8B-B14F-4D97-AF65-F5344CB8AC3E}">
        <p14:creationId xmlns:p14="http://schemas.microsoft.com/office/powerpoint/2010/main" val="15507746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53632-8543-4769-B45E-CAD74FB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 ·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9DA1F-910A-4D28-830D-D743EE3D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DBD21-A987-4703-8B34-F7872BD5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391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prior research evaluated glyphs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17DB-C93B-4EF7-AD84-32DA500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Two participant studies · one systematic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8F57-5192-4D85-890D-9217BB03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05025"/>
            <a:ext cx="9525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A990F-5B37-4701-BB6C-2CD4776A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9525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3384B-B2A1-46C9-9FF0-10CAC2B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FUCHS ET AL. · 2014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D444E-FE7B-43CA-84D5-0FDE85E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CONTROLLED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5F4F4-D1BE-4C5B-AF6A-AD797415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STUDY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6A82C-A0B3-4720-AD91-91DA818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Three experiments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Target + eight alternatives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Lab and online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D060C-F634-4849-BD04-53975C5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Measure · choice, accuracy, time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Follow-up · questionnaire in Exp.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F48FE-ABDB-413A-B524-8CA12EE8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812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LEGG ET AL. · 2016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80AC-A279-4BD2-9344-54C34CF1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PARTICIPANT SURVEY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BED10-E95A-42B1-B039-090A37A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STUDY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09A88-125C-4754-B11D-63852D2A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4330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20 recruited · 19 analysed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104 randomized glyph pairs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44F8B-D6CF-4757-BAE2-851E2AD2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910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Measure · 0–10 differentiation rating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Context · no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50DA7-CA41-405E-ADA8-6EC91737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FUCHS ET AL. · 2017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3BE42-C55F-4072-8ED1-D614C4E8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SYSTEMATIC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2DDA6-FE10-4DC7-BE96-2E4E2296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STUDY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D76F9-6615-41B4-AD61-3AE959C4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43300"/>
            <a:ext cx="3257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64 controlled-study papers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Quantitative glyph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812AE-46EF-421E-A98C-9EA06799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91050"/>
            <a:ext cx="3257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Output · task and measure taxonomy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No new participant experiment</a:t>
            </a:r>
          </a:p>
        </p:txBody>
      </p:sp>
    </p:spTree>
    <p:extLst>
      <p:ext uri="{BB962C8B-B14F-4D97-AF65-F5344CB8AC3E}">
        <p14:creationId xmlns:p14="http://schemas.microsoft.com/office/powerpoint/2010/main" val="13647786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87AF-DE52-462A-8F50-AA4784F5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09 · NEXT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D3038-E99A-4D1F-94C6-01A9DC4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1DFDF-8CD2-47AA-B2A6-60E7AE3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Possible direction for the thesis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6D512-38B1-440D-B9BB-FDCA363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B7B8B-AE4F-4A06-B740-82CB312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18D43-5B98-44BD-9D5A-9B9F9C9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Control display size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BC6DA-440F-483A-84AB-805BDA3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BA205-16EA-4AA1-8CE6-BD6F5601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Record accuracy and confusion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1E86F-22C8-4454-96FE-CE93B38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11E31-1FF0-4044-B641-54EC05D4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Ask which visual cues participants used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F6678-69EC-477F-858D-00A9DCE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Finalize after glyph selection + supervisor discussion</a:t>
            </a:r>
          </a:p>
        </p:txBody>
      </p:sp>
    </p:spTree>
    <p:extLst>
      <p:ext uri="{BB962C8B-B14F-4D97-AF65-F5344CB8AC3E}">
        <p14:creationId xmlns:p14="http://schemas.microsoft.com/office/powerpoint/2010/main" val="4259515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5DFB7-0012-47E6-AF05-14ADCE3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 ·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50B38-06B8-44E8-998A-A826667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5143A-4353-486B-BF89-379CF61D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clear basis for the next research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0D052-D49C-4FA7-AC5E-40B09875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790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19AE5-7EFF-4EFE-B82D-14B23656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5F2D4-1370-4A5C-8092-E9085008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Icon corpus + seven feature families 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0C661-9789-4FFF-B89D-82EE0D75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25439-4FF6-418C-A12C-E72F6DB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UI + clustering + summaries ready for glyph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2D8C4-82F6-4BFD-A5C6-305BAB48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B83DE-FC52-4DF7-A7C1-17DDED9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Next: glyph selection → user-study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976B8-1E7B-4393-991A-180A211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723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E6672"/>
                </a:solidFill>
                <a:latin typeface="Helvetica Neue"/>
                <a:ea typeface="Helvetica Neue"/>
                <a:cs typeface="Helvetica Neue"/>
              </a:rPr>
              <a:t>Next milestone · a reviewed selection of candidate glyphs</a:t>
            </a:r>
          </a:p>
        </p:txBody>
      </p:sp>
    </p:spTree>
    <p:extLst>
      <p:ext uri="{BB962C8B-B14F-4D97-AF65-F5344CB8AC3E}">
        <p14:creationId xmlns:p14="http://schemas.microsoft.com/office/powerpoint/2010/main" val="1332405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2026-08-17T09:08:42.0890000Z</dcterms:created>
  <dcterms:modified xsi:type="dcterms:W3CDTF">2026-08-17T09:08:42.0890000Z</dcterms:modified>
</coreProperties>
</file>