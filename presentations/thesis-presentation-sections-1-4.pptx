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f2a7e9c48141e5" /><Relationship Type="http://schemas.openxmlformats.org/officeDocument/2006/relationships/extended-properties" Target="/docProps/app.xml" Id="R4ea4363cd37c44b7" /><Relationship Type="http://schemas.openxmlformats.org/officeDocument/2006/relationships/officeDocument" Target="/ppt/presentation.xml" Id="Re895319b63ab4d61" /></Relationships>
</file>

<file path=ppt/presentation.xml><?xml version="1.0" encoding="utf-8"?>
<p:presentation xmlns:p="http://schemas.openxmlformats.org/presentationml/2006/main">
  <p:sldMasterIdLst>
    <p:sldMasterId xmlns:r="http://schemas.openxmlformats.org/officeDocument/2006/relationships" id="2147483648" r:id="R3c9e08cea2024f88"/>
  </p:sldMasterIdLst>
  <p:notesMasterIdLst>
    <p:notesMasterId xmlns:r="http://schemas.openxmlformats.org/officeDocument/2006/relationships" r:id="Red1f22602a7345a6"/>
  </p:notesMasterIdLst>
  <p:sldIdLst>
    <p:sldId xmlns:r="http://schemas.openxmlformats.org/officeDocument/2006/relationships" id="256" r:id="R1c936bf0f5fd4179"/>
    <p:sldId xmlns:r="http://schemas.openxmlformats.org/officeDocument/2006/relationships" id="257" r:id="Rebf0c4afb65c4443"/>
    <p:sldId xmlns:r="http://schemas.openxmlformats.org/officeDocument/2006/relationships" id="258" r:id="Ra421d32d7821405b"/>
    <p:sldId xmlns:r="http://schemas.openxmlformats.org/officeDocument/2006/relationships" id="259" r:id="R3b1b7807f4794338"/>
    <p:sldId xmlns:r="http://schemas.openxmlformats.org/officeDocument/2006/relationships" id="260" r:id="R579f186e23ae4728"/>
    <p:sldId xmlns:r="http://schemas.openxmlformats.org/officeDocument/2006/relationships" id="261" r:id="R64fdb8a788184234"/>
    <p:sldId xmlns:r="http://schemas.openxmlformats.org/officeDocument/2006/relationships" id="262" r:id="R061691634fcb423b"/>
    <p:sldId xmlns:r="http://schemas.openxmlformats.org/officeDocument/2006/relationships" id="263" r:id="R69bdd42260b34235"/>
    <p:sldId xmlns:r="http://schemas.openxmlformats.org/officeDocument/2006/relationships" id="264" r:id="Reeeba17ce0944870"/>
    <p:sldId xmlns:r="http://schemas.openxmlformats.org/officeDocument/2006/relationships" id="265" r:id="R0f2dd4e7f01b4d9e"/>
    <p:sldId xmlns:r="http://schemas.openxmlformats.org/officeDocument/2006/relationships" id="266" r:id="R632a60844be444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5b9ec8d0c74867" /><Relationship Type="http://schemas.openxmlformats.org/officeDocument/2006/relationships/slideMaster" Target="/ppt/slideMasters/slideMaster1.xml" Id="R3c9e08cea2024f88" /><Relationship Type="http://schemas.openxmlformats.org/officeDocument/2006/relationships/notesMaster" Target="/ppt/notesMasters/notesMaster1.xml" Id="Red1f22602a7345a6" /><Relationship Type="http://schemas.openxmlformats.org/officeDocument/2006/relationships/presProps" Target="/ppt/presProps.xml" Id="Rb67b7731dd794b88" /><Relationship Type="http://schemas.openxmlformats.org/officeDocument/2006/relationships/tableStyles" Target="/ppt/tableStyles.xml" Id="R2c50e58eb4e34c73" /><Relationship Type="http://schemas.openxmlformats.org/officeDocument/2006/relationships/slide" Target="/ppt/slides/slide1.xml" Id="R1c936bf0f5fd4179" /><Relationship Type="http://schemas.openxmlformats.org/officeDocument/2006/relationships/slide" Target="/ppt/slides/slide2.xml" Id="Rebf0c4afb65c4443" /><Relationship Type="http://schemas.openxmlformats.org/officeDocument/2006/relationships/slide" Target="/ppt/slides/slide3.xml" Id="Ra421d32d7821405b" /><Relationship Type="http://schemas.openxmlformats.org/officeDocument/2006/relationships/slide" Target="/ppt/slides/slide4.xml" Id="R3b1b7807f4794338" /><Relationship Type="http://schemas.openxmlformats.org/officeDocument/2006/relationships/slide" Target="/ppt/slides/slide5.xml" Id="R579f186e23ae4728" /><Relationship Type="http://schemas.openxmlformats.org/officeDocument/2006/relationships/slide" Target="/ppt/slides/slide6.xml" Id="R64fdb8a788184234" /><Relationship Type="http://schemas.openxmlformats.org/officeDocument/2006/relationships/slide" Target="/ppt/slides/slide7.xml" Id="R061691634fcb423b" /><Relationship Type="http://schemas.openxmlformats.org/officeDocument/2006/relationships/slide" Target="/ppt/slides/slide8.xml" Id="R69bdd42260b34235" /><Relationship Type="http://schemas.openxmlformats.org/officeDocument/2006/relationships/slide" Target="/ppt/slides/slide9.xml" Id="Reeeba17ce0944870" /><Relationship Type="http://schemas.openxmlformats.org/officeDocument/2006/relationships/slide" Target="/ppt/slides/slide10.xml" Id="R0f2dd4e7f01b4d9e" /><Relationship Type="http://schemas.openxmlformats.org/officeDocument/2006/relationships/slide" Target="/ppt/slides/slide11.xml" Id="R632a60844be444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7ce8cf1a494e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4c9fc35d6a4c4e" /><Relationship Type="http://schemas.openxmlformats.org/officeDocument/2006/relationships/notesMaster" Target="/ppt/notesMasters/notesMaster1.xml" Id="R2c117e98817b42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e61490fe974798" /><Relationship Type="http://schemas.openxmlformats.org/officeDocument/2006/relationships/notesMaster" Target="/ppt/notesMasters/notesMaster1.xml" Id="Rfff0c1723f494e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94df78a1a04e01" /><Relationship Type="http://schemas.openxmlformats.org/officeDocument/2006/relationships/notesMaster" Target="/ppt/notesMasters/notesMaster1.xml" Id="R2ea3cc8eae404d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4847761f474b00" /><Relationship Type="http://schemas.openxmlformats.org/officeDocument/2006/relationships/notesMaster" Target="/ppt/notesMasters/notesMaster1.xml" Id="Rde5e18e5f3174d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825584ca26454d" /><Relationship Type="http://schemas.openxmlformats.org/officeDocument/2006/relationships/notesMaster" Target="/ppt/notesMasters/notesMaster1.xml" Id="R8db7110b9c9c49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a7182874d542b9" /><Relationship Type="http://schemas.openxmlformats.org/officeDocument/2006/relationships/notesMaster" Target="/ppt/notesMasters/notesMaster1.xml" Id="Reb7c74fe88f643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9bce73ebf24fc6" /><Relationship Type="http://schemas.openxmlformats.org/officeDocument/2006/relationships/notesMaster" Target="/ppt/notesMasters/notesMaster1.xml" Id="R3df44ff840ed40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53659eeb364186" /><Relationship Type="http://schemas.openxmlformats.org/officeDocument/2006/relationships/notesMaster" Target="/ppt/notesMasters/notesMaster1.xml" Id="R21bd10297cb54d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b9569f38fe4574" /><Relationship Type="http://schemas.openxmlformats.org/officeDocument/2006/relationships/notesMaster" Target="/ppt/notesMasters/notesMaster1.xml" Id="Rf4dbb3433be240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b0b262e55e4547" /><Relationship Type="http://schemas.openxmlformats.org/officeDocument/2006/relationships/notesMaster" Target="/ppt/notesMasters/notesMaster1.xml" Id="Rca4b3464df1845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3f0a48689443dd" /><Relationship Type="http://schemas.openxmlformats.org/officeDocument/2006/relationships/notesMaster" Target="/ppt/notesMasters/notesMaster1.xml" Id="R99fbae61910640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the title and identity line when the final thesis wording is confirmed.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icon_data/analysis/similarity/closest_cross_set_pairs_euclidean.png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wiki/thesis-overview.md</a:t>
            </a:r>
          </a:p>
          <a:p xmlns:a="http://schemas.openxmlformats.org/drawingml/2006/main">
            <a:r>
              <a:t>- wiki/evaluation-and-human-study.md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[Sources]</a:t>
            </a:r>
          </a:p>
          <a:p xmlns:a="http://schemas.openxmlformats.org/drawingml/2006/main">
            <a:r>
              <a:t>- wiki/literature-and-evidence.md</a:t>
            </a:r>
          </a:p>
          <a:p xmlns:a="http://schemas.openxmlformats.org/drawingml/2006/main">
            <a:r>
              <a:t>- notes/paper_feature_review.md</a:t>
            </a:r>
          </a:p>
          <a:p xmlns:a="http://schemas.openxmlformats.org/drawingml/2006/main">
            <a:r>
              <a:t>- papers/extracted_text/README.md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claim narrow: the paper supports complexity estimation, not semantic understanding.</a:t>
            </a:r>
          </a:p>
          <a:p xmlns:a="http://schemas.openxmlformats.org/drawingml/2006/main">
            <a:r>
              <a:t/>
            </a:r>
          </a:p>
          <a:p xmlns:a="http://schemas.openxmlformats.org/drawingml/2006/main">
            <a:r>
              <a:t>[Sources]</a:t>
            </a:r>
          </a:p>
          <a:p xmlns:a="http://schemas.openxmlformats.org/drawingml/2006/main">
            <a:r>
              <a:t>- papers/Forsythe-Measuring_cion_complexity_automated.pdf,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paper combines a structural metric with subjective ranking and identification tasks.</a:t>
            </a:r>
          </a:p>
          <a:p xmlns:a="http://schemas.openxmlformats.org/drawingml/2006/main">
            <a:r>
              <a:t/>
            </a:r>
          </a:p>
          <a:p xmlns:a="http://schemas.openxmlformats.org/drawingml/2006/main">
            <a:r>
              <a:t>[Sources]</a:t>
            </a:r>
          </a:p>
          <a:p xmlns:a="http://schemas.openxmlformats.org/drawingml/2006/main">
            <a:r>
              <a:t>- papers/Garcia-Development_validation_icons_abstractness.pdf, pp. 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review and design synthesis, not a single controlled participant experiment.</a:t>
            </a:r>
          </a:p>
          <a:p xmlns:a="http://schemas.openxmlformats.org/drawingml/2006/main">
            <a:r>
              <a:t/>
            </a:r>
          </a:p>
          <a:p xmlns:a="http://schemas.openxmlformats.org/drawingml/2006/main">
            <a:r>
              <a:t>[Sources]</a:t>
            </a:r>
          </a:p>
          <a:p xmlns:a="http://schemas.openxmlformats.org/drawingml/2006/main">
            <a:r>
              <a:t>- papers/Glyph-based_Visualization_Foundations_Design_Guidelines_Techniques_Applications.pdf, pp. 1–26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quasi-Hamming distance as an inspiration for set-relative distinguishability, not as the implemented metric itself.</a:t>
            </a:r>
          </a:p>
          <a:p xmlns:a="http://schemas.openxmlformats.org/drawingml/2006/main">
            <a:r>
              <a:t/>
            </a:r>
          </a:p>
          <a:p xmlns:a="http://schemas.openxmlformats.org/drawingml/2006/main">
            <a:r>
              <a:t>[Sources]</a:t>
            </a:r>
          </a:p>
          <a:p xmlns:a="http://schemas.openxmlformats.org/drawingml/2006/main">
            <a:r>
              <a:t>- papers/Glyph_Visualization_A_Fail-Safe_Design_Scheme_Based_on_Quasi-Hamming_Distances.pdf, pp.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taxonomy and semantic mapping outside the computer-vision feature families.</a:t>
            </a:r>
          </a:p>
          <a:p xmlns:a="http://schemas.openxmlformats.org/drawingml/2006/main">
            <a:r>
              <a:t/>
            </a:r>
          </a:p>
          <a:p xmlns:a="http://schemas.openxmlformats.org/drawingml/2006/main">
            <a:r>
              <a:t>[Sources]</a:t>
            </a:r>
          </a:p>
          <a:p xmlns:a="http://schemas.openxmlformats.org/drawingml/2006/main">
            <a:r>
              <a:t>- papers/Taxonomy-Based_Glyph_Designwith_a_Case_Study_on_Visualizing_Workflows_of_Biological_Experiments.pdf, pp. 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Experiment 1 included 12 novices and 12 experts; Experiment 2 retained 36 online participants after controls.</a:t>
            </a:r>
          </a:p>
          <a:p xmlns:a="http://schemas.openxmlformats.org/drawingml/2006/main">
            <a:r>
              <a:t/>
            </a:r>
          </a:p>
          <a:p xmlns:a="http://schemas.openxmlformats.org/drawingml/2006/main">
            <a:r>
              <a:t>[Sources]</a:t>
            </a:r>
          </a:p>
          <a:p xmlns:a="http://schemas.openxmlformats.org/drawingml/2006/main">
            <a:r>
              <a:t>- papers/The_Influence_of_Contour_on_Similarity_Perception_of_Star_Glyphs.pdf, pp. 1–11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paper to justify the study-design layer rather than an individual image-feature formula.</a:t>
            </a:r>
          </a:p>
          <a:p xmlns:a="http://schemas.openxmlformats.org/drawingml/2006/main">
            <a:r>
              <a:t/>
            </a:r>
          </a:p>
          <a:p xmlns:a="http://schemas.openxmlformats.org/drawingml/2006/main">
            <a:r>
              <a:t>[Sources]</a:t>
            </a:r>
          </a:p>
          <a:p xmlns:a="http://schemas.openxmlformats.org/drawingml/2006/main">
            <a:r>
              <a:t>- papers/A_Systematic_Review_of_Experimental_Studies_on_Data_Glyphs.pdf, pp. 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6ff993585b42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5f809eda1f4322" /><Relationship Type="http://schemas.openxmlformats.org/officeDocument/2006/relationships/slideLayout" Target="/ppt/slideLayouts/slideLayout1.xml" Id="R23125164e5ec41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125164e5ec41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48f2eb73024164" /><Relationship Type="http://schemas.openxmlformats.org/officeDocument/2006/relationships/notesSlide" Target="/ppt/notesSlides/notesSlide1.xml" Id="R5a53ce9d5e9949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4fe624e1c641a5" /><Relationship Type="http://schemas.openxmlformats.org/officeDocument/2006/relationships/image" Target="/ppt/media/image.png" Id="R5c7ea6027ed54ac2" /><Relationship Type="http://schemas.openxmlformats.org/officeDocument/2006/relationships/notesSlide" Target="/ppt/notesSlides/notesSlide2.xml" Id="R2447d689bcd143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32de1b83c747f7" /><Relationship Type="http://schemas.openxmlformats.org/officeDocument/2006/relationships/notesSlide" Target="/ppt/notesSlides/notesSlide3.xml" Id="R5b19c8c297b84d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870289555f4916" /><Relationship Type="http://schemas.openxmlformats.org/officeDocument/2006/relationships/notesSlide" Target="/ppt/notesSlides/notesSlide4.xml" Id="Ra922f001a1c948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ddedc97d694f03" /><Relationship Type="http://schemas.openxmlformats.org/officeDocument/2006/relationships/image" Target="/ppt/media/image2.png" Id="R1a79ef27a9a8435f" /><Relationship Type="http://schemas.openxmlformats.org/officeDocument/2006/relationships/notesSlide" Target="/ppt/notesSlides/notesSlide5.xml" Id="R0de9408421e14e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750a4ff9124b4d" /><Relationship Type="http://schemas.openxmlformats.org/officeDocument/2006/relationships/image" Target="/ppt/media/image3.png" Id="Rdb9707c2cad74fed" /><Relationship Type="http://schemas.openxmlformats.org/officeDocument/2006/relationships/notesSlide" Target="/ppt/notesSlides/notesSlide6.xml" Id="R538c8187e53c4e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583c478c264380" /><Relationship Type="http://schemas.openxmlformats.org/officeDocument/2006/relationships/image" Target="/ppt/media/image4.png" Id="Rb24973f308144f96" /><Relationship Type="http://schemas.openxmlformats.org/officeDocument/2006/relationships/notesSlide" Target="/ppt/notesSlides/notesSlide7.xml" Id="Re587588af30a48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93d14f74b3c4521" /><Relationship Type="http://schemas.openxmlformats.org/officeDocument/2006/relationships/image" Target="/ppt/media/image5.png" Id="Rb0446146d668436d" /><Relationship Type="http://schemas.openxmlformats.org/officeDocument/2006/relationships/notesSlide" Target="/ppt/notesSlides/notesSlide8.xml" Id="R36688b59a9f94c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2189def7d84d9c" /><Relationship Type="http://schemas.openxmlformats.org/officeDocument/2006/relationships/image" Target="/ppt/media/image6.png" Id="R5a1d145924ba47f1" /><Relationship Type="http://schemas.openxmlformats.org/officeDocument/2006/relationships/notesSlide" Target="/ppt/notesSlides/notesSlide9.xml" Id="R06702f79c1c24a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7c497fc9654665" /><Relationship Type="http://schemas.openxmlformats.org/officeDocument/2006/relationships/image" Target="/ppt/media/image7.png" Id="Rcade0be9516e4fe9" /><Relationship Type="http://schemas.openxmlformats.org/officeDocument/2006/relationships/notesSlide" Target="/ppt/notesSlides/notesSlide10.xml" Id="Rcc5700ebafd84a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a38fb6b3b948f6" /><Relationship Type="http://schemas.openxmlformats.org/officeDocument/2006/relationships/image" Target="/ppt/media/image8.png" Id="R27efe6b5a5e546dc" /><Relationship Type="http://schemas.openxmlformats.org/officeDocument/2006/relationships/notesSlide" Target="/ppt/notesSlides/notesSlide11.xml" Id="R75b239a18d80498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8DED75-95C7-4D51-9660-C4A5B0FA19EE}"/>
              </a:ext>
            </a:extLst>
          </p:cNvPr>
          <p:cNvSpPr>
            <a:spLocks xmlns:a="http://schemas.openxmlformats.org/drawingml/2006/main" noGrp="1"/>
          </p:cNvSpPr>
          <p:nvPr/>
        </p:nvSpPr>
        <p:spPr>
          <a:xfrm xmlns:a="http://schemas.openxmlformats.org/drawingml/2006/main">
            <a:off x="40005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THESIS PROGRESS PRESENTATION</a:t>
            </a:r>
          </a:p>
        </p:txBody>
      </p:sp>
      <p:sp>
        <p:nvSpPr>
          <p:cNvPr id="2" name="">
            <a:extLst xmlns:a="http://schemas.openxmlformats.org/drawingml/2006/main">
              <a:ext uri="{FF2B5EF4-FFF2-40B4-BE49-F238E27FC236}">
                <a16:creationId xmlns:a16="http://schemas.microsoft.com/office/drawing/2014/main" id="{4F2BB084-F867-4B71-BD73-0941EDAF0E6D}"/>
              </a:ext>
            </a:extLst>
          </p:cNvPr>
          <p:cNvSpPr>
            <a:spLocks xmlns:a="http://schemas.openxmlformats.org/drawingml/2006/main" noGrp="1"/>
          </p:cNvSpPr>
          <p:nvPr/>
        </p:nvSpPr>
        <p:spPr>
          <a:xfrm xmlns:a="http://schemas.openxmlformats.org/drawingml/2006/main">
            <a:off x="400050" y="1952625"/>
            <a:ext cx="10287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[THESIS TITLE]</a:t>
            </a:r>
          </a:p>
        </p:txBody>
      </p:sp>
      <p:sp>
        <p:nvSpPr>
          <p:cNvPr id="3" name="">
            <a:extLst xmlns:a="http://schemas.openxmlformats.org/drawingml/2006/main">
              <a:ext uri="{FF2B5EF4-FFF2-40B4-BE49-F238E27FC236}">
                <a16:creationId xmlns:a16="http://schemas.microsoft.com/office/drawing/2014/main" id="{20E34B6D-C666-4B7D-AC17-7E13FCD2C211}"/>
              </a:ext>
            </a:extLst>
          </p:cNvPr>
          <p:cNvSpPr>
            <a:spLocks xmlns:a="http://schemas.openxmlformats.org/drawingml/2006/main" noGrp="1"/>
          </p:cNvSpPr>
          <p:nvPr/>
        </p:nvSpPr>
        <p:spPr>
          <a:xfrm xmlns:a="http://schemas.openxmlformats.org/drawingml/2006/main">
            <a:off x="400050" y="3533775"/>
            <a:ext cx="17907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9E85EE-02CF-4BE6-8EA5-98E2C5D64CE4}"/>
              </a:ext>
            </a:extLst>
          </p:cNvPr>
          <p:cNvSpPr>
            <a:spLocks xmlns:a="http://schemas.openxmlformats.org/drawingml/2006/main" noGrp="1"/>
          </p:cNvSpPr>
          <p:nvPr/>
        </p:nvSpPr>
        <p:spPr>
          <a:xfrm xmlns:a="http://schemas.openxmlformats.org/drawingml/2006/main">
            <a:off x="400050" y="3943350"/>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111111"/>
                </a:solidFill>
                <a:latin typeface="Helvetica Neue"/>
                <a:ea typeface="Helvetica Neue"/>
                <a:cs typeface="Helvetica Neue"/>
              </a:defRPr>
            </a:pPr>
            <a:r>
              <a:rPr sz="2250" b="0">
                <a:solidFill>
                  <a:srgbClr val="111111"/>
                </a:solidFill>
                <a:latin typeface="Helvetica Neue"/>
                <a:ea typeface="Helvetica Neue"/>
                <a:cs typeface="Helvetica Neue"/>
              </a:rPr>
              <a:t>Research problem, questions, and literature review</a:t>
            </a:r>
          </a:p>
        </p:txBody>
      </p:sp>
      <p:sp>
        <p:nvSpPr>
          <p:cNvPr id="5" name="">
            <a:extLst xmlns:a="http://schemas.openxmlformats.org/drawingml/2006/main">
              <a:ext uri="{FF2B5EF4-FFF2-40B4-BE49-F238E27FC236}">
                <a16:creationId xmlns:a16="http://schemas.microsoft.com/office/drawing/2014/main" id="{5F042FBC-6007-42A9-923D-05C47C40C4C6}"/>
              </a:ext>
            </a:extLst>
          </p:cNvPr>
          <p:cNvSpPr>
            <a:spLocks xmlns:a="http://schemas.openxmlformats.org/drawingml/2006/main" noGrp="1"/>
          </p:cNvSpPr>
          <p:nvPr/>
        </p:nvSpPr>
        <p:spPr>
          <a:xfrm xmlns:a="http://schemas.openxmlformats.org/drawingml/2006/main">
            <a:off x="400050" y="56007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Name · Programme · Supervisor · Date</a:t>
            </a:r>
          </a:p>
        </p:txBody>
      </p:sp>
    </p:spTree>
    <p:extLst>
      <p:ext uri="{BB962C8B-B14F-4D97-AF65-F5344CB8AC3E}">
        <p14:creationId xmlns:p14="http://schemas.microsoft.com/office/powerpoint/2010/main" val="1350273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281090-1955-413B-8702-4E3CAFEE81A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01 · THE PROBLEM</a:t>
            </a:r>
          </a:p>
        </p:txBody>
      </p:sp>
      <p:sp>
        <p:nvSpPr>
          <p:cNvPr id="2" name="">
            <a:extLst xmlns:a="http://schemas.openxmlformats.org/drawingml/2006/main">
              <a:ext uri="{FF2B5EF4-FFF2-40B4-BE49-F238E27FC236}">
                <a16:creationId xmlns:a16="http://schemas.microsoft.com/office/drawing/2014/main" id="{759682EC-E202-46A6-8E37-B6397A21E85B}"/>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04ACC39-01EF-48AE-A9CB-D57EC8270369}"/>
              </a:ext>
            </a:extLst>
          </p:cNvPr>
          <p:cNvSpPr>
            <a:spLocks xmlns:a="http://schemas.openxmlformats.org/drawingml/2006/main" noGrp="1"/>
          </p:cNvSpPr>
          <p:nvPr/>
        </p:nvSpPr>
        <p:spPr>
          <a:xfrm xmlns:a="http://schemas.openxmlformats.org/drawingml/2006/main">
            <a:off x="400050" y="742950"/>
            <a:ext cx="113919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75" b="1">
                <a:solidFill>
                  <a:srgbClr val="111111"/>
                </a:solidFill>
                <a:latin typeface="Helvetica Neue"/>
                <a:ea typeface="Helvetica Neue"/>
                <a:cs typeface="Helvetica Neue"/>
              </a:defRPr>
            </a:pPr>
            <a:r>
              <a:rPr sz="3375" b="1">
                <a:solidFill>
                  <a:srgbClr val="111111"/>
                </a:solidFill>
                <a:latin typeface="Helvetica Neue"/>
                <a:ea typeface="Helvetica Neue"/>
                <a:cs typeface="Helvetica Neue"/>
              </a:rPr>
              <a:t>Visual similarity creates a practical comparison problem</a:t>
            </a:r>
          </a:p>
        </p:txBody>
      </p:sp>
      <p:sp>
        <p:nvSpPr>
          <p:cNvPr id="4" name="">
            <a:extLst xmlns:a="http://schemas.openxmlformats.org/drawingml/2006/main">
              <a:ext uri="{FF2B5EF4-FFF2-40B4-BE49-F238E27FC236}">
                <a16:creationId xmlns:a16="http://schemas.microsoft.com/office/drawing/2014/main" id="{F2698110-C4D7-4C61-8999-342679FF27AA}"/>
              </a:ext>
            </a:extLst>
          </p:cNvPr>
          <p:cNvSpPr>
            <a:spLocks xmlns:a="http://schemas.openxmlformats.org/drawingml/2006/main" noGrp="1"/>
          </p:cNvSpPr>
          <p:nvPr/>
        </p:nvSpPr>
        <p:spPr>
          <a:xfrm xmlns:a="http://schemas.openxmlformats.org/drawingml/2006/main">
            <a:off x="400050" y="2133600"/>
            <a:ext cx="4857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Large icon collections contain repeated shapes, subtle variations, and icons that may become difficult to distinguish. Manual inspection cannot consistently explain which visible properties make two icons appear close or different.</a:t>
            </a:r>
          </a:p>
        </p:txBody>
      </p:sp>
      <p:sp>
        <p:nvSpPr>
          <p:cNvPr id="5" name="">
            <a:extLst xmlns:a="http://schemas.openxmlformats.org/drawingml/2006/main">
              <a:ext uri="{FF2B5EF4-FFF2-40B4-BE49-F238E27FC236}">
                <a16:creationId xmlns:a16="http://schemas.microsoft.com/office/drawing/2014/main" id="{AE493270-3A14-45CB-9A3A-C50B14F4B720}"/>
              </a:ext>
            </a:extLst>
          </p:cNvPr>
          <p:cNvSpPr>
            <a:spLocks xmlns:a="http://schemas.openxmlformats.org/drawingml/2006/main" noGrp="1"/>
          </p:cNvSpPr>
          <p:nvPr/>
        </p:nvSpPr>
        <p:spPr>
          <a:xfrm xmlns:a="http://schemas.openxmlformats.org/drawingml/2006/main">
            <a:off x="400050" y="4171950"/>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The thesis therefore needs an auditable bridge between visible pixels and later human judgments—without confusing visual similarity with semantic meaning.</a:t>
            </a:r>
          </a:p>
        </p:txBody>
      </p:sp>
      <p:sp>
        <p:nvSpPr>
          <p:cNvPr id="6" name="">
            <a:extLst xmlns:a="http://schemas.openxmlformats.org/drawingml/2006/main">
              <a:ext uri="{FF2B5EF4-FFF2-40B4-BE49-F238E27FC236}">
                <a16:creationId xmlns:a16="http://schemas.microsoft.com/office/drawing/2014/main" id="{C2F779EE-CBD1-4D67-9DDD-E93A8CD829B9}"/>
              </a:ext>
            </a:extLst>
          </p:cNvPr>
          <p:cNvSpPr>
            <a:spLocks xmlns:a="http://schemas.openxmlformats.org/drawingml/2006/main" noGrp="1"/>
          </p:cNvSpPr>
          <p:nvPr/>
        </p:nvSpPr>
        <p:spPr>
          <a:xfrm xmlns:a="http://schemas.openxmlformats.org/drawingml/2006/main">
            <a:off x="5810250" y="1676400"/>
            <a:ext cx="5981700" cy="430530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c7ea6027ed54ac2"/>
          <a:srcRect xmlns:a="http://schemas.openxmlformats.org/drawingml/2006/main" l="0" t="23556" r="0" b="23556"/>
          <a:stretch xmlns:a="http://schemas.openxmlformats.org/drawingml/2006/main">
            <a:fillRect l="0" t="0" r="0" b="0"/>
          </a:stretch>
        </p:blipFill>
        <p:spPr>
          <a:xfrm xmlns:a="http://schemas.openxmlformats.org/drawingml/2006/main">
            <a:off x="5962650" y="1819275"/>
            <a:ext cx="5676900" cy="4029075"/>
          </a:xfrm>
          <a:prstGeom xmlns:a="http://schemas.openxmlformats.org/drawingml/2006/main" prst="rect">
            <a:avLst/>
          </a:prstGeom>
        </p:spPr>
      </p:pic>
    </p:spTree>
    <p:extLst>
      <p:ext uri="{BB962C8B-B14F-4D97-AF65-F5344CB8AC3E}">
        <p14:creationId xmlns:p14="http://schemas.microsoft.com/office/powerpoint/2010/main" val="13095379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D097778-F642-4EAD-B829-2DDBA945A0A1}"/>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02–03 · AIM AND RESEARCH QUESTIONS</a:t>
            </a:r>
          </a:p>
        </p:txBody>
      </p:sp>
      <p:sp>
        <p:nvSpPr>
          <p:cNvPr id="2" name="">
            <a:extLst xmlns:a="http://schemas.openxmlformats.org/drawingml/2006/main">
              <a:ext uri="{FF2B5EF4-FFF2-40B4-BE49-F238E27FC236}">
                <a16:creationId xmlns:a16="http://schemas.microsoft.com/office/drawing/2014/main" id="{C919A75E-F603-4541-AFC8-1D874BCF3FCA}"/>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3B05CE3B-9BEF-4972-B292-C677FBB77D1C}"/>
              </a:ext>
            </a:extLst>
          </p:cNvPr>
          <p:cNvSpPr>
            <a:spLocks xmlns:a="http://schemas.openxmlformats.org/drawingml/2006/main" noGrp="1"/>
          </p:cNvSpPr>
          <p:nvPr/>
        </p:nvSpPr>
        <p:spPr>
          <a:xfrm xmlns:a="http://schemas.openxmlformats.org/drawingml/2006/main">
            <a:off x="400050" y="742950"/>
            <a:ext cx="11391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The study connects computer measurements with human responses</a:t>
            </a:r>
          </a:p>
        </p:txBody>
      </p:sp>
      <p:sp>
        <p:nvSpPr>
          <p:cNvPr id="4" name="">
            <a:extLst xmlns:a="http://schemas.openxmlformats.org/drawingml/2006/main">
              <a:ext uri="{FF2B5EF4-FFF2-40B4-BE49-F238E27FC236}">
                <a16:creationId xmlns:a16="http://schemas.microsoft.com/office/drawing/2014/main" id="{7C44BDC0-B102-4D47-A47E-F8EB3B40CA77}"/>
              </a:ext>
            </a:extLst>
          </p:cNvPr>
          <p:cNvSpPr>
            <a:spLocks xmlns:a="http://schemas.openxmlformats.org/drawingml/2006/main" noGrp="1"/>
          </p:cNvSpPr>
          <p:nvPr/>
        </p:nvSpPr>
        <p:spPr>
          <a:xfrm xmlns:a="http://schemas.openxmlformats.org/drawingml/2006/main">
            <a:off x="400050" y="1628775"/>
            <a:ext cx="108394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E6672"/>
                </a:solidFill>
                <a:latin typeface="Helvetica Neue"/>
                <a:ea typeface="Helvetica Neue"/>
                <a:cs typeface="Helvetica Neue"/>
              </a:defRPr>
            </a:pPr>
            <a:r>
              <a:rPr sz="1725" b="0">
                <a:solidFill>
                  <a:srgbClr val="5E6672"/>
                </a:solidFill>
                <a:latin typeface="Helvetica Neue"/>
                <a:ea typeface="Helvetica Neue"/>
                <a:cs typeface="Helvetica Neue"/>
              </a:rPr>
              <a:t>Working aim: organize literature-supported visible icon properties into measurable feature families, then test where those measurements agree—or disagree—with human identification and perception.</a:t>
            </a:r>
          </a:p>
        </p:txBody>
      </p:sp>
      <p:sp>
        <p:nvSpPr>
          <p:cNvPr id="5" name="">
            <a:extLst xmlns:a="http://schemas.openxmlformats.org/drawingml/2006/main">
              <a:ext uri="{FF2B5EF4-FFF2-40B4-BE49-F238E27FC236}">
                <a16:creationId xmlns:a16="http://schemas.microsoft.com/office/drawing/2014/main" id="{D4802B1F-7818-478E-AA66-E08559A03354}"/>
              </a:ext>
            </a:extLst>
          </p:cNvPr>
          <p:cNvSpPr>
            <a:spLocks xmlns:a="http://schemas.openxmlformats.org/drawingml/2006/main" noGrp="1"/>
          </p:cNvSpPr>
          <p:nvPr/>
        </p:nvSpPr>
        <p:spPr>
          <a:xfrm xmlns:a="http://schemas.openxmlformats.org/drawingml/2006/main">
            <a:off x="400050" y="280987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RQ1</a:t>
            </a:r>
          </a:p>
        </p:txBody>
      </p:sp>
      <p:sp>
        <p:nvSpPr>
          <p:cNvPr id="6" name="">
            <a:extLst xmlns:a="http://schemas.openxmlformats.org/drawingml/2006/main">
              <a:ext uri="{FF2B5EF4-FFF2-40B4-BE49-F238E27FC236}">
                <a16:creationId xmlns:a16="http://schemas.microsoft.com/office/drawing/2014/main" id="{B1204829-1B01-4537-9802-4E82A08B6980}"/>
              </a:ext>
            </a:extLst>
          </p:cNvPr>
          <p:cNvSpPr>
            <a:spLocks xmlns:a="http://schemas.openxmlformats.org/drawingml/2006/main" noGrp="1"/>
          </p:cNvSpPr>
          <p:nvPr/>
        </p:nvSpPr>
        <p:spPr>
          <a:xfrm xmlns:a="http://schemas.openxmlformats.org/drawingml/2006/main">
            <a:off x="1600200" y="28003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Which visible properties can be measured consistently from normalized icon images?</a:t>
            </a:r>
          </a:p>
        </p:txBody>
      </p:sp>
      <p:sp>
        <p:nvSpPr>
          <p:cNvPr id="7" name="">
            <a:extLst xmlns:a="http://schemas.openxmlformats.org/drawingml/2006/main">
              <a:ext uri="{FF2B5EF4-FFF2-40B4-BE49-F238E27FC236}">
                <a16:creationId xmlns:a16="http://schemas.microsoft.com/office/drawing/2014/main" id="{06B4DD50-2661-42FB-BA83-DBB4A8740C71}"/>
              </a:ext>
            </a:extLst>
          </p:cNvPr>
          <p:cNvSpPr>
            <a:spLocks xmlns:a="http://schemas.openxmlformats.org/drawingml/2006/main" noGrp="1"/>
          </p:cNvSpPr>
          <p:nvPr/>
        </p:nvSpPr>
        <p:spPr>
          <a:xfrm xmlns:a="http://schemas.openxmlformats.org/drawingml/2006/main">
            <a:off x="400050" y="35337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5738BA-E6E3-4EF0-8A07-D7F97D20CBDF}"/>
              </a:ext>
            </a:extLst>
          </p:cNvPr>
          <p:cNvSpPr>
            <a:spLocks xmlns:a="http://schemas.openxmlformats.org/drawingml/2006/main" noGrp="1"/>
          </p:cNvSpPr>
          <p:nvPr/>
        </p:nvSpPr>
        <p:spPr>
          <a:xfrm xmlns:a="http://schemas.openxmlformats.org/drawingml/2006/main">
            <a:off x="400050" y="382905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RQ2</a:t>
            </a:r>
          </a:p>
        </p:txBody>
      </p:sp>
      <p:sp>
        <p:nvSpPr>
          <p:cNvPr id="9" name="">
            <a:extLst xmlns:a="http://schemas.openxmlformats.org/drawingml/2006/main">
              <a:ext uri="{FF2B5EF4-FFF2-40B4-BE49-F238E27FC236}">
                <a16:creationId xmlns:a16="http://schemas.microsoft.com/office/drawing/2014/main" id="{9BA31362-CDF9-4F02-9EB3-0854B8DEBF84}"/>
              </a:ext>
            </a:extLst>
          </p:cNvPr>
          <p:cNvSpPr>
            <a:spLocks xmlns:a="http://schemas.openxmlformats.org/drawingml/2006/main" noGrp="1"/>
          </p:cNvSpPr>
          <p:nvPr/>
        </p:nvSpPr>
        <p:spPr>
          <a:xfrm xmlns:a="http://schemas.openxmlformats.org/drawingml/2006/main">
            <a:off x="1600200" y="3819525"/>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How can those measurements describe similarity, distance, and potential confusability?</a:t>
            </a:r>
          </a:p>
        </p:txBody>
      </p:sp>
      <p:sp>
        <p:nvSpPr>
          <p:cNvPr id="10" name="">
            <a:extLst xmlns:a="http://schemas.openxmlformats.org/drawingml/2006/main">
              <a:ext uri="{FF2B5EF4-FFF2-40B4-BE49-F238E27FC236}">
                <a16:creationId xmlns:a16="http://schemas.microsoft.com/office/drawing/2014/main" id="{65766376-1206-4BF6-BCFF-FC4D5511F033}"/>
              </a:ext>
            </a:extLst>
          </p:cNvPr>
          <p:cNvSpPr>
            <a:spLocks xmlns:a="http://schemas.openxmlformats.org/drawingml/2006/main" noGrp="1"/>
          </p:cNvSpPr>
          <p:nvPr/>
        </p:nvSpPr>
        <p:spPr>
          <a:xfrm xmlns:a="http://schemas.openxmlformats.org/drawingml/2006/main">
            <a:off x="400050" y="45529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787FD87-186D-4926-A114-AA70C09EF0A0}"/>
              </a:ext>
            </a:extLst>
          </p:cNvPr>
          <p:cNvSpPr>
            <a:spLocks xmlns:a="http://schemas.openxmlformats.org/drawingml/2006/main" noGrp="1"/>
          </p:cNvSpPr>
          <p:nvPr/>
        </p:nvSpPr>
        <p:spPr>
          <a:xfrm xmlns:a="http://schemas.openxmlformats.org/drawingml/2006/main">
            <a:off x="400050" y="48482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RQ3</a:t>
            </a:r>
          </a:p>
        </p:txBody>
      </p:sp>
      <p:sp>
        <p:nvSpPr>
          <p:cNvPr id="12" name="">
            <a:extLst xmlns:a="http://schemas.openxmlformats.org/drawingml/2006/main">
              <a:ext uri="{FF2B5EF4-FFF2-40B4-BE49-F238E27FC236}">
                <a16:creationId xmlns:a16="http://schemas.microsoft.com/office/drawing/2014/main" id="{DFCF1D27-4143-40A6-A101-D54607969AA8}"/>
              </a:ext>
            </a:extLst>
          </p:cNvPr>
          <p:cNvSpPr>
            <a:spLocks xmlns:a="http://schemas.openxmlformats.org/drawingml/2006/main" noGrp="1"/>
          </p:cNvSpPr>
          <p:nvPr/>
        </p:nvSpPr>
        <p:spPr>
          <a:xfrm xmlns:a="http://schemas.openxmlformats.org/drawingml/2006/main">
            <a:off x="1600200" y="4838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How well do computer-side measurements correspond to human identification and similarity judgments?</a:t>
            </a:r>
          </a:p>
        </p:txBody>
      </p:sp>
    </p:spTree>
    <p:extLst>
      <p:ext uri="{BB962C8B-B14F-4D97-AF65-F5344CB8AC3E}">
        <p14:creationId xmlns:p14="http://schemas.microsoft.com/office/powerpoint/2010/main" val="3931595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FE71DCB-FAFB-45FD-A1D7-C6F3D67B2A87}"/>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0B673F8D-89B8-4F23-BAF5-576BC77D83CD}"/>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56A14BBF-858E-42DE-BC95-2DD17ADB01D6}"/>
              </a:ext>
            </a:extLst>
          </p:cNvPr>
          <p:cNvSpPr>
            <a:spLocks xmlns:a="http://schemas.openxmlformats.org/drawingml/2006/main" noGrp="1"/>
          </p:cNvSpPr>
          <p:nvPr/>
        </p:nvSpPr>
        <p:spPr>
          <a:xfrm xmlns:a="http://schemas.openxmlformats.org/drawingml/2006/main">
            <a:off x="400050" y="742950"/>
            <a:ext cx="113919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300" b="1">
                <a:solidFill>
                  <a:srgbClr val="111111"/>
                </a:solidFill>
                <a:latin typeface="Helvetica Neue"/>
                <a:ea typeface="Helvetica Neue"/>
                <a:cs typeface="Helvetica Neue"/>
              </a:defRPr>
            </a:pPr>
            <a:r>
              <a:rPr sz="3300" b="1">
                <a:solidFill>
                  <a:srgbClr val="111111"/>
                </a:solidFill>
                <a:latin typeface="Helvetica Neue"/>
                <a:ea typeface="Helvetica Neue"/>
                <a:cs typeface="Helvetica Neue"/>
              </a:rPr>
              <a:t>Seven papers define four parts of the thesis</a:t>
            </a:r>
          </a:p>
        </p:txBody>
      </p:sp>
      <p:sp>
        <p:nvSpPr>
          <p:cNvPr id="4" name="">
            <a:extLst xmlns:a="http://schemas.openxmlformats.org/drawingml/2006/main">
              <a:ext uri="{FF2B5EF4-FFF2-40B4-BE49-F238E27FC236}">
                <a16:creationId xmlns:a16="http://schemas.microsoft.com/office/drawing/2014/main" id="{25480890-8F49-4155-BDCE-D3ACD9B0C6CF}"/>
              </a:ext>
            </a:extLst>
          </p:cNvPr>
          <p:cNvSpPr>
            <a:spLocks xmlns:a="http://schemas.openxmlformats.org/drawingml/2006/main" noGrp="1"/>
          </p:cNvSpPr>
          <p:nvPr/>
        </p:nvSpPr>
        <p:spPr>
          <a:xfrm xmlns:a="http://schemas.openxmlformats.org/drawingml/2006/main">
            <a:off x="400050" y="15430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E6672"/>
                </a:solidFill>
                <a:latin typeface="Helvetica Neue"/>
                <a:ea typeface="Helvetica Neue"/>
                <a:cs typeface="Helvetica Neue"/>
              </a:defRPr>
            </a:pPr>
            <a:r>
              <a:rPr sz="1650" b="0">
                <a:solidFill>
                  <a:srgbClr val="5E6672"/>
                </a:solidFill>
                <a:latin typeface="Helvetica Neue"/>
                <a:ea typeface="Helvetica Neue"/>
                <a:cs typeface="Helvetica Neue"/>
              </a:rPr>
              <a:t>The literature does not provide one complete model. Instead, it contributes complementary evidence for measurement, perceptual design, distinguishability, and evaluation.</a:t>
            </a:r>
          </a:p>
        </p:txBody>
      </p:sp>
      <p:sp>
        <p:nvSpPr>
          <p:cNvPr id="5" name="">
            <a:extLst xmlns:a="http://schemas.openxmlformats.org/drawingml/2006/main">
              <a:ext uri="{FF2B5EF4-FFF2-40B4-BE49-F238E27FC236}">
                <a16:creationId xmlns:a16="http://schemas.microsoft.com/office/drawing/2014/main" id="{B369C795-DCA1-4E0A-A406-DF65CDC48FE7}"/>
              </a:ext>
            </a:extLst>
          </p:cNvPr>
          <p:cNvSpPr>
            <a:spLocks xmlns:a="http://schemas.openxmlformats.org/drawingml/2006/main" noGrp="1"/>
          </p:cNvSpPr>
          <p:nvPr/>
        </p:nvSpPr>
        <p:spPr>
          <a:xfrm xmlns:a="http://schemas.openxmlformats.org/drawingml/2006/main">
            <a:off x="400050" y="2571750"/>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MEASUREMENT</a:t>
            </a:r>
          </a:p>
        </p:txBody>
      </p:sp>
      <p:sp>
        <p:nvSpPr>
          <p:cNvPr id="6" name="">
            <a:extLst xmlns:a="http://schemas.openxmlformats.org/drawingml/2006/main">
              <a:ext uri="{FF2B5EF4-FFF2-40B4-BE49-F238E27FC236}">
                <a16:creationId xmlns:a16="http://schemas.microsoft.com/office/drawing/2014/main" id="{B1BF351B-A711-400A-BA15-AA7AC4D52A7C}"/>
              </a:ext>
            </a:extLst>
          </p:cNvPr>
          <p:cNvSpPr>
            <a:spLocks xmlns:a="http://schemas.openxmlformats.org/drawingml/2006/main" noGrp="1"/>
          </p:cNvSpPr>
          <p:nvPr/>
        </p:nvSpPr>
        <p:spPr>
          <a:xfrm xmlns:a="http://schemas.openxmlformats.org/drawingml/2006/main">
            <a:off x="2781300" y="25527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Forsythe · Garcia</a:t>
            </a:r>
          </a:p>
        </p:txBody>
      </p:sp>
      <p:sp>
        <p:nvSpPr>
          <p:cNvPr id="7" name="">
            <a:extLst xmlns:a="http://schemas.openxmlformats.org/drawingml/2006/main">
              <a:ext uri="{FF2B5EF4-FFF2-40B4-BE49-F238E27FC236}">
                <a16:creationId xmlns:a16="http://schemas.microsoft.com/office/drawing/2014/main" id="{EFE93A78-E20A-45AD-AB0D-6A1615664DAD}"/>
              </a:ext>
            </a:extLst>
          </p:cNvPr>
          <p:cNvSpPr>
            <a:spLocks xmlns:a="http://schemas.openxmlformats.org/drawingml/2006/main" noGrp="1"/>
          </p:cNvSpPr>
          <p:nvPr/>
        </p:nvSpPr>
        <p:spPr>
          <a:xfrm xmlns:a="http://schemas.openxmlformats.org/drawingml/2006/main">
            <a:off x="6667500" y="254317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Complexity, structure, abstractness, and the boundary between pixels and context.</a:t>
            </a:r>
          </a:p>
        </p:txBody>
      </p:sp>
      <p:sp>
        <p:nvSpPr>
          <p:cNvPr id="8" name="">
            <a:extLst xmlns:a="http://schemas.openxmlformats.org/drawingml/2006/main">
              <a:ext uri="{FF2B5EF4-FFF2-40B4-BE49-F238E27FC236}">
                <a16:creationId xmlns:a16="http://schemas.microsoft.com/office/drawing/2014/main" id="{2F8E5255-FE34-4D49-8D04-6BFC13EDF57B}"/>
              </a:ext>
            </a:extLst>
          </p:cNvPr>
          <p:cNvSpPr>
            <a:spLocks xmlns:a="http://schemas.openxmlformats.org/drawingml/2006/main" noGrp="1"/>
          </p:cNvSpPr>
          <p:nvPr/>
        </p:nvSpPr>
        <p:spPr>
          <a:xfrm xmlns:a="http://schemas.openxmlformats.org/drawingml/2006/main">
            <a:off x="400050" y="314325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875180-86D4-4534-AE38-49D01325A073}"/>
              </a:ext>
            </a:extLst>
          </p:cNvPr>
          <p:cNvSpPr>
            <a:spLocks xmlns:a="http://schemas.openxmlformats.org/drawingml/2006/main" noGrp="1"/>
          </p:cNvSpPr>
          <p:nvPr/>
        </p:nvSpPr>
        <p:spPr>
          <a:xfrm xmlns:a="http://schemas.openxmlformats.org/drawingml/2006/main">
            <a:off x="400050" y="3419475"/>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VISUAL FOUNDATIONS</a:t>
            </a:r>
          </a:p>
        </p:txBody>
      </p:sp>
      <p:sp>
        <p:nvSpPr>
          <p:cNvPr id="10" name="">
            <a:extLst xmlns:a="http://schemas.openxmlformats.org/drawingml/2006/main">
              <a:ext uri="{FF2B5EF4-FFF2-40B4-BE49-F238E27FC236}">
                <a16:creationId xmlns:a16="http://schemas.microsoft.com/office/drawing/2014/main" id="{6E9A7B98-02B5-4DB1-A1A1-C918D3AC1CB3}"/>
              </a:ext>
            </a:extLst>
          </p:cNvPr>
          <p:cNvSpPr>
            <a:spLocks xmlns:a="http://schemas.openxmlformats.org/drawingml/2006/main" noGrp="1"/>
          </p:cNvSpPr>
          <p:nvPr/>
        </p:nvSpPr>
        <p:spPr>
          <a:xfrm xmlns:a="http://schemas.openxmlformats.org/drawingml/2006/main">
            <a:off x="2781300" y="34004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Borgo et al.</a:t>
            </a:r>
          </a:p>
        </p:txBody>
      </p:sp>
      <p:sp>
        <p:nvSpPr>
          <p:cNvPr id="11" name="">
            <a:extLst xmlns:a="http://schemas.openxmlformats.org/drawingml/2006/main">
              <a:ext uri="{FF2B5EF4-FFF2-40B4-BE49-F238E27FC236}">
                <a16:creationId xmlns:a16="http://schemas.microsoft.com/office/drawing/2014/main" id="{EAB7550C-1675-4413-B3EF-2F9484EDE2F8}"/>
              </a:ext>
            </a:extLst>
          </p:cNvPr>
          <p:cNvSpPr>
            <a:spLocks xmlns:a="http://schemas.openxmlformats.org/drawingml/2006/main" noGrp="1"/>
          </p:cNvSpPr>
          <p:nvPr/>
        </p:nvSpPr>
        <p:spPr>
          <a:xfrm xmlns:a="http://schemas.openxmlformats.org/drawingml/2006/main">
            <a:off x="6667500" y="339090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Visual channels, Gestalt organization, and task-dependent glyph design.</a:t>
            </a:r>
          </a:p>
        </p:txBody>
      </p:sp>
      <p:sp>
        <p:nvSpPr>
          <p:cNvPr id="12" name="">
            <a:extLst xmlns:a="http://schemas.openxmlformats.org/drawingml/2006/main">
              <a:ext uri="{FF2B5EF4-FFF2-40B4-BE49-F238E27FC236}">
                <a16:creationId xmlns:a16="http://schemas.microsoft.com/office/drawing/2014/main" id="{8F7EF69F-09C1-4E0F-A50A-C3BBEDB38928}"/>
              </a:ext>
            </a:extLst>
          </p:cNvPr>
          <p:cNvSpPr>
            <a:spLocks xmlns:a="http://schemas.openxmlformats.org/drawingml/2006/main" noGrp="1"/>
          </p:cNvSpPr>
          <p:nvPr/>
        </p:nvSpPr>
        <p:spPr>
          <a:xfrm xmlns:a="http://schemas.openxmlformats.org/drawingml/2006/main">
            <a:off x="400050" y="3990975"/>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F4AD3F5-F119-4216-9B4A-CF0BAAA89486}"/>
              </a:ext>
            </a:extLst>
          </p:cNvPr>
          <p:cNvSpPr>
            <a:spLocks xmlns:a="http://schemas.openxmlformats.org/drawingml/2006/main" noGrp="1"/>
          </p:cNvSpPr>
          <p:nvPr/>
        </p:nvSpPr>
        <p:spPr>
          <a:xfrm xmlns:a="http://schemas.openxmlformats.org/drawingml/2006/main">
            <a:off x="400050" y="4267200"/>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DISTINGUISHABILITY</a:t>
            </a:r>
          </a:p>
        </p:txBody>
      </p:sp>
      <p:sp>
        <p:nvSpPr>
          <p:cNvPr id="14" name="">
            <a:extLst xmlns:a="http://schemas.openxmlformats.org/drawingml/2006/main">
              <a:ext uri="{FF2B5EF4-FFF2-40B4-BE49-F238E27FC236}">
                <a16:creationId xmlns:a16="http://schemas.microsoft.com/office/drawing/2014/main" id="{D8DCE6AB-D424-408F-AD00-BD6E5C128A38}"/>
              </a:ext>
            </a:extLst>
          </p:cNvPr>
          <p:cNvSpPr>
            <a:spLocks xmlns:a="http://schemas.openxmlformats.org/drawingml/2006/main" noGrp="1"/>
          </p:cNvSpPr>
          <p:nvPr/>
        </p:nvSpPr>
        <p:spPr>
          <a:xfrm xmlns:a="http://schemas.openxmlformats.org/drawingml/2006/main">
            <a:off x="2781300" y="42481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Legg et al. · Fuchs et al. (contour)</a:t>
            </a:r>
          </a:p>
        </p:txBody>
      </p:sp>
      <p:sp>
        <p:nvSpPr>
          <p:cNvPr id="15" name="">
            <a:extLst xmlns:a="http://schemas.openxmlformats.org/drawingml/2006/main">
              <a:ext uri="{FF2B5EF4-FFF2-40B4-BE49-F238E27FC236}">
                <a16:creationId xmlns:a16="http://schemas.microsoft.com/office/drawing/2014/main" id="{3D298C42-FC02-49B8-BB26-AABE194C1315}"/>
              </a:ext>
            </a:extLst>
          </p:cNvPr>
          <p:cNvSpPr>
            <a:spLocks xmlns:a="http://schemas.openxmlformats.org/drawingml/2006/main" noGrp="1"/>
          </p:cNvSpPr>
          <p:nvPr/>
        </p:nvSpPr>
        <p:spPr>
          <a:xfrm xmlns:a="http://schemas.openxmlformats.org/drawingml/2006/main">
            <a:off x="6667500" y="42386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Distance across channels, contour, closure, and similarity strategy.</a:t>
            </a:r>
          </a:p>
        </p:txBody>
      </p:sp>
      <p:sp>
        <p:nvSpPr>
          <p:cNvPr id="16" name="">
            <a:extLst xmlns:a="http://schemas.openxmlformats.org/drawingml/2006/main">
              <a:ext uri="{FF2B5EF4-FFF2-40B4-BE49-F238E27FC236}">
                <a16:creationId xmlns:a16="http://schemas.microsoft.com/office/drawing/2014/main" id="{23BE6BFB-155D-42EC-82D2-20603F331DF5}"/>
              </a:ext>
            </a:extLst>
          </p:cNvPr>
          <p:cNvSpPr>
            <a:spLocks xmlns:a="http://schemas.openxmlformats.org/drawingml/2006/main" noGrp="1"/>
          </p:cNvSpPr>
          <p:nvPr/>
        </p:nvSpPr>
        <p:spPr>
          <a:xfrm xmlns:a="http://schemas.openxmlformats.org/drawingml/2006/main">
            <a:off x="400050" y="4838700"/>
            <a:ext cx="113919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59EDDF-507E-4FBA-BE83-B6921C95939F}"/>
              </a:ext>
            </a:extLst>
          </p:cNvPr>
          <p:cNvSpPr>
            <a:spLocks xmlns:a="http://schemas.openxmlformats.org/drawingml/2006/main" noGrp="1"/>
          </p:cNvSpPr>
          <p:nvPr/>
        </p:nvSpPr>
        <p:spPr>
          <a:xfrm xmlns:a="http://schemas.openxmlformats.org/drawingml/2006/main">
            <a:off x="400050" y="5114925"/>
            <a:ext cx="22479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DESIGN &amp; EVALUATION</a:t>
            </a:r>
          </a:p>
        </p:txBody>
      </p:sp>
      <p:sp>
        <p:nvSpPr>
          <p:cNvPr id="18" name="">
            <a:extLst xmlns:a="http://schemas.openxmlformats.org/drawingml/2006/main">
              <a:ext uri="{FF2B5EF4-FFF2-40B4-BE49-F238E27FC236}">
                <a16:creationId xmlns:a16="http://schemas.microsoft.com/office/drawing/2014/main" id="{5ECBE979-521F-42E1-8E16-24DF4F2A07A8}"/>
              </a:ext>
            </a:extLst>
          </p:cNvPr>
          <p:cNvSpPr>
            <a:spLocks xmlns:a="http://schemas.openxmlformats.org/drawingml/2006/main" noGrp="1"/>
          </p:cNvSpPr>
          <p:nvPr/>
        </p:nvSpPr>
        <p:spPr>
          <a:xfrm xmlns:a="http://schemas.openxmlformats.org/drawingml/2006/main">
            <a:off x="2781300" y="509587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Maguire et al. · Fuchs et al. (review)</a:t>
            </a:r>
          </a:p>
        </p:txBody>
      </p:sp>
      <p:sp>
        <p:nvSpPr>
          <p:cNvPr id="19" name="">
            <a:extLst xmlns:a="http://schemas.openxmlformats.org/drawingml/2006/main">
              <a:ext uri="{FF2B5EF4-FFF2-40B4-BE49-F238E27FC236}">
                <a16:creationId xmlns:a16="http://schemas.microsoft.com/office/drawing/2014/main" id="{CFDB8135-2E21-4C95-A931-AF3F94D2B03D}"/>
              </a:ext>
            </a:extLst>
          </p:cNvPr>
          <p:cNvSpPr>
            <a:spLocks xmlns:a="http://schemas.openxmlformats.org/drawingml/2006/main" noGrp="1"/>
          </p:cNvSpPr>
          <p:nvPr/>
        </p:nvSpPr>
        <p:spPr>
          <a:xfrm xmlns:a="http://schemas.openxmlformats.org/drawingml/2006/main">
            <a:off x="6667500" y="5086350"/>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E6672"/>
                </a:solidFill>
                <a:latin typeface="Helvetica Neue"/>
                <a:ea typeface="Helvetica Neue"/>
                <a:cs typeface="Helvetica Neue"/>
              </a:defRPr>
            </a:pPr>
            <a:r>
              <a:rPr sz="1350" b="0">
                <a:solidFill>
                  <a:srgbClr val="5E6672"/>
                </a:solidFill>
                <a:latin typeface="Helvetica Neue"/>
                <a:ea typeface="Helvetica Neue"/>
                <a:cs typeface="Helvetica Neue"/>
              </a:rPr>
              <a:t>Systematic glyph design and evidence-based user-study planning.</a:t>
            </a:r>
          </a:p>
        </p:txBody>
      </p:sp>
    </p:spTree>
    <p:extLst>
      <p:ext uri="{BB962C8B-B14F-4D97-AF65-F5344CB8AC3E}">
        <p14:creationId xmlns:p14="http://schemas.microsoft.com/office/powerpoint/2010/main" val="1387950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7559FE-A70B-4705-859C-DBF2CAE42EB2}"/>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C987897E-224B-4B10-88DA-E776F1EFD5A8}"/>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5AF4F4C-3676-4DE3-96B3-C3C4A1E05AEF}"/>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Measuring icon complexity automatically</a:t>
            </a:r>
          </a:p>
        </p:txBody>
      </p:sp>
      <p:sp>
        <p:nvSpPr>
          <p:cNvPr id="4" name="">
            <a:extLst xmlns:a="http://schemas.openxmlformats.org/drawingml/2006/main">
              <a:ext uri="{FF2B5EF4-FFF2-40B4-BE49-F238E27FC236}">
                <a16:creationId xmlns:a16="http://schemas.microsoft.com/office/drawing/2014/main" id="{AB66E257-EE97-4F9C-8525-CE4010B661B1}"/>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Forsythe, Sheehy &amp; Sawey · 2003</a:t>
            </a:r>
          </a:p>
        </p:txBody>
      </p:sp>
      <p:sp>
        <p:nvSpPr>
          <p:cNvPr id="5" name="">
            <a:extLst xmlns:a="http://schemas.openxmlformats.org/drawingml/2006/main">
              <a:ext uri="{FF2B5EF4-FFF2-40B4-BE49-F238E27FC236}">
                <a16:creationId xmlns:a16="http://schemas.microsoft.com/office/drawing/2014/main" id="{B71F67A1-3DB0-4FA5-9172-D5FF2133B794}"/>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a79ef27a9a8435f"/>
          <a:stretch xmlns:a="http://schemas.openxmlformats.org/drawingml/2006/main"/>
        </p:blipFill>
        <p:spPr>
          <a:xfrm xmlns:a="http://schemas.openxmlformats.org/drawingml/2006/main">
            <a:off x="8292378" y="1924050"/>
            <a:ext cx="301769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E31FA93-7965-42F2-A001-A0F3A4544E5C}"/>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67B1B3E6-92B2-4C30-9C63-AC6E6FD3DD68}"/>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Test whether image-processing measurements can estimate human judgments of icon complexity.</a:t>
            </a:r>
          </a:p>
        </p:txBody>
      </p:sp>
      <p:sp>
        <p:nvSpPr>
          <p:cNvPr id="9" name="">
            <a:extLst xmlns:a="http://schemas.openxmlformats.org/drawingml/2006/main">
              <a:ext uri="{FF2B5EF4-FFF2-40B4-BE49-F238E27FC236}">
                <a16:creationId xmlns:a16="http://schemas.microsoft.com/office/drawing/2014/main" id="{C7DE5B2E-29FC-479C-87D0-5694FA56066B}"/>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D12381AC-12F5-4BE9-A947-16D94A3D202A}"/>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Six pixel-derived properties were correlated with established human complexity ratings for a random sample of 68 icons.</a:t>
            </a:r>
          </a:p>
        </p:txBody>
      </p:sp>
      <p:sp>
        <p:nvSpPr>
          <p:cNvPr id="11" name="">
            <a:extLst xmlns:a="http://schemas.openxmlformats.org/drawingml/2006/main">
              <a:ext uri="{FF2B5EF4-FFF2-40B4-BE49-F238E27FC236}">
                <a16:creationId xmlns:a16="http://schemas.microsoft.com/office/drawing/2014/main" id="{B27B47AE-69D6-4D8A-8B22-CBF1C8F8EBD9}"/>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9E3651C7-A12D-4E8D-A76C-C4FAAC34837A}"/>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Structural variability and edge information showed the strongest relationships with perceived complexity (ρ = .65 and .64).</a:t>
            </a:r>
          </a:p>
        </p:txBody>
      </p:sp>
      <p:sp>
        <p:nvSpPr>
          <p:cNvPr id="13" name="">
            <a:extLst xmlns:a="http://schemas.openxmlformats.org/drawingml/2006/main">
              <a:ext uri="{FF2B5EF4-FFF2-40B4-BE49-F238E27FC236}">
                <a16:creationId xmlns:a16="http://schemas.microsoft.com/office/drawing/2014/main" id="{C22B19E3-A010-4FF2-B2F7-3FAF739E21B2}"/>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CDD1897-72A5-4129-9634-9677C6C749BE}"/>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207DDD2A-5808-4E0C-9CD7-AF0A7864526C}"/>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Provides the strongest direct basis for edge density and structural variability as computational complexity proxies.</a:t>
            </a:r>
          </a:p>
        </p:txBody>
      </p:sp>
    </p:spTree>
    <p:extLst>
      <p:ext uri="{BB962C8B-B14F-4D97-AF65-F5344CB8AC3E}">
        <p14:creationId xmlns:p14="http://schemas.microsoft.com/office/powerpoint/2010/main" val="8700254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3FDCE1-E26B-4BE9-8588-0A28A291B7C2}"/>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7AF4CABD-3E6F-4C81-B4FF-98E6FC233858}"/>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57FF0CCE-4FAA-4E2B-96A0-02CAC4F7A5D9}"/>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Abstractness affects identification</a:t>
            </a:r>
          </a:p>
        </p:txBody>
      </p:sp>
      <p:sp>
        <p:nvSpPr>
          <p:cNvPr id="4" name="">
            <a:extLst xmlns:a="http://schemas.openxmlformats.org/drawingml/2006/main">
              <a:ext uri="{FF2B5EF4-FFF2-40B4-BE49-F238E27FC236}">
                <a16:creationId xmlns:a16="http://schemas.microsoft.com/office/drawing/2014/main" id="{5EABA2F7-DEDB-4C8E-B7E8-84D59A1DD986}"/>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Garcia, Badre &amp; Stasko · 1994</a:t>
            </a:r>
          </a:p>
        </p:txBody>
      </p:sp>
      <p:sp>
        <p:nvSpPr>
          <p:cNvPr id="5" name="">
            <a:extLst xmlns:a="http://schemas.openxmlformats.org/drawingml/2006/main">
              <a:ext uri="{FF2B5EF4-FFF2-40B4-BE49-F238E27FC236}">
                <a16:creationId xmlns:a16="http://schemas.microsoft.com/office/drawing/2014/main" id="{2F26F8FF-94E6-4D0D-9AB6-6E88D3062F4B}"/>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b9707c2cad74fed"/>
          <a:stretch xmlns:a="http://schemas.openxmlformats.org/drawingml/2006/main"/>
        </p:blipFill>
        <p:spPr>
          <a:xfrm xmlns:a="http://schemas.openxmlformats.org/drawingml/2006/main">
            <a:off x="1054768" y="1924050"/>
            <a:ext cx="267201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71B0546-4B86-4D92-AA6D-4B728F85D2B5}"/>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2FE1F159-F07C-4FF7-B6C6-C3729264D242}"/>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Develop a quantitative abstractness–concreteness metric and test whether it matches users’ judgments and task performance.</a:t>
            </a:r>
          </a:p>
        </p:txBody>
      </p:sp>
      <p:sp>
        <p:nvSpPr>
          <p:cNvPr id="9" name="">
            <a:extLst xmlns:a="http://schemas.openxmlformats.org/drawingml/2006/main">
              <a:ext uri="{FF2B5EF4-FFF2-40B4-BE49-F238E27FC236}">
                <a16:creationId xmlns:a16="http://schemas.microsoft.com/office/drawing/2014/main" id="{0ED60EF1-890F-43E6-8C91-37A6AAF29C2A}"/>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393D0BB3-2D83-4E74-B491-DF91188E4D0A}"/>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Different participant groups ranked abstract and concrete icon sets, matched icons to Pascal constructs, and completed context conditions.</a:t>
            </a:r>
          </a:p>
        </p:txBody>
      </p:sp>
      <p:sp>
        <p:nvSpPr>
          <p:cNvPr id="11" name="">
            <a:extLst xmlns:a="http://schemas.openxmlformats.org/drawingml/2006/main">
              <a:ext uri="{FF2B5EF4-FFF2-40B4-BE49-F238E27FC236}">
                <a16:creationId xmlns:a16="http://schemas.microsoft.com/office/drawing/2014/main" id="{BF8BB706-D88A-48B3-AB34-3913CAB64749}"/>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5049DC31-B37E-4B00-8499-1A2B1A3E7EAF}"/>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metric aligned with subjective judgments; concrete icons were identified better, and context changed identification performance.</a:t>
            </a:r>
          </a:p>
        </p:txBody>
      </p:sp>
      <p:sp>
        <p:nvSpPr>
          <p:cNvPr id="13" name="">
            <a:extLst xmlns:a="http://schemas.openxmlformats.org/drawingml/2006/main">
              <a:ext uri="{FF2B5EF4-FFF2-40B4-BE49-F238E27FC236}">
                <a16:creationId xmlns:a16="http://schemas.microsoft.com/office/drawing/2014/main" id="{3F862B0C-2081-4150-87CD-D91156584A05}"/>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12ADAC-7402-4D75-A37D-E56C07552E91}"/>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1A06D59B-5756-4F70-8D8D-246D1680E0BD}"/>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Shows that measurable structure matters, but meaning and context cannot be inferred reliably from pixels alone.</a:t>
            </a:r>
          </a:p>
        </p:txBody>
      </p:sp>
    </p:spTree>
    <p:extLst>
      <p:ext uri="{BB962C8B-B14F-4D97-AF65-F5344CB8AC3E}">
        <p14:creationId xmlns:p14="http://schemas.microsoft.com/office/powerpoint/2010/main" val="13915165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D011B2-E14E-40C0-9BD7-882F0CE59384}"/>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9084B1F9-BE16-4536-88DD-7FC7128D3395}"/>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FB793B42-7DE1-4471-9581-D1055FD0BA3E}"/>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Glyph design needs perceptual foundations</a:t>
            </a:r>
          </a:p>
        </p:txBody>
      </p:sp>
      <p:sp>
        <p:nvSpPr>
          <p:cNvPr id="4" name="">
            <a:extLst xmlns:a="http://schemas.openxmlformats.org/drawingml/2006/main">
              <a:ext uri="{FF2B5EF4-FFF2-40B4-BE49-F238E27FC236}">
                <a16:creationId xmlns:a16="http://schemas.microsoft.com/office/drawing/2014/main" id="{25CFF5EA-2267-408B-BC36-B2264A249EB3}"/>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Borgo et al. · 2013</a:t>
            </a:r>
          </a:p>
        </p:txBody>
      </p:sp>
      <p:sp>
        <p:nvSpPr>
          <p:cNvPr id="5" name="">
            <a:extLst xmlns:a="http://schemas.openxmlformats.org/drawingml/2006/main">
              <a:ext uri="{FF2B5EF4-FFF2-40B4-BE49-F238E27FC236}">
                <a16:creationId xmlns:a16="http://schemas.microsoft.com/office/drawing/2014/main" id="{95BD4BE0-EC9C-4FAB-AF2B-6392796BF324}"/>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24973f308144f96"/>
          <a:stretch xmlns:a="http://schemas.openxmlformats.org/drawingml/2006/main"/>
        </p:blipFill>
        <p:spPr>
          <a:xfrm xmlns:a="http://schemas.openxmlformats.org/drawingml/2006/main">
            <a:off x="8421593" y="1924050"/>
            <a:ext cx="2759265"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3D9EEF1-CFEB-473A-882F-20196020F4B6}"/>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F741902E-BD43-4FF2-8841-149402BE52A8}"/>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Connect glyph visualization to semiotics, perception, design guidelines, implementation techniques, and application practice.</a:t>
            </a:r>
          </a:p>
        </p:txBody>
      </p:sp>
      <p:sp>
        <p:nvSpPr>
          <p:cNvPr id="9" name="">
            <a:extLst xmlns:a="http://schemas.openxmlformats.org/drawingml/2006/main">
              <a:ext uri="{FF2B5EF4-FFF2-40B4-BE49-F238E27FC236}">
                <a16:creationId xmlns:a16="http://schemas.microsoft.com/office/drawing/2014/main" id="{33E234BB-D2ED-4BA1-81E0-52790221AAF3}"/>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0D9B37C7-EF19-431C-9C85-1B8D7BD0F8B0}"/>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state-of-the-art review synthesizing foundations and design knowledge across glyph-based visualization research.</a:t>
            </a:r>
          </a:p>
        </p:txBody>
      </p:sp>
      <p:sp>
        <p:nvSpPr>
          <p:cNvPr id="11" name="">
            <a:extLst xmlns:a="http://schemas.openxmlformats.org/drawingml/2006/main">
              <a:ext uri="{FF2B5EF4-FFF2-40B4-BE49-F238E27FC236}">
                <a16:creationId xmlns:a16="http://schemas.microsoft.com/office/drawing/2014/main" id="{6BD9B44F-FE77-47B0-B77B-09F531CC25FC}"/>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813C354A-1D9D-4021-BEEB-4F1AB30158A8}"/>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Shape, colour, texture, size, orientation, curvature, and grouping act as visual channels whose effectiveness depends on task and context.</a:t>
            </a:r>
          </a:p>
        </p:txBody>
      </p:sp>
      <p:sp>
        <p:nvSpPr>
          <p:cNvPr id="13" name="">
            <a:extLst xmlns:a="http://schemas.openxmlformats.org/drawingml/2006/main">
              <a:ext uri="{FF2B5EF4-FFF2-40B4-BE49-F238E27FC236}">
                <a16:creationId xmlns:a16="http://schemas.microsoft.com/office/drawing/2014/main" id="{8B5A7F38-B446-42DB-81CB-233699AF2B7E}"/>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BD423D-57A1-4CB0-AAA4-4B81663DAC73}"/>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E09F5CB0-EEB9-492B-9809-3AF9BE50BD25}"/>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Provides the conceptual map for the thesis’s visual families while warning against treating feature distance as a complete perceptual model.</a:t>
            </a:r>
          </a:p>
        </p:txBody>
      </p:sp>
    </p:spTree>
    <p:extLst>
      <p:ext uri="{BB962C8B-B14F-4D97-AF65-F5344CB8AC3E}">
        <p14:creationId xmlns:p14="http://schemas.microsoft.com/office/powerpoint/2010/main" val="14754407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2870289-F641-47DA-9128-EB4D00E7BFC5}"/>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5DBA07E8-591B-461B-B9EE-C13A6F651944}"/>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98B5563D-EA78-4E74-88DE-26878861B270}"/>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Channel distance can reduce glyph confusion</a:t>
            </a:r>
          </a:p>
        </p:txBody>
      </p:sp>
      <p:sp>
        <p:nvSpPr>
          <p:cNvPr id="4" name="">
            <a:extLst xmlns:a="http://schemas.openxmlformats.org/drawingml/2006/main">
              <a:ext uri="{FF2B5EF4-FFF2-40B4-BE49-F238E27FC236}">
                <a16:creationId xmlns:a16="http://schemas.microsoft.com/office/drawing/2014/main" id="{7F305F40-CC0F-41D6-817D-4D3FFB7AB445}"/>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Legg, Maguire, Walton &amp; Chen · 2016</a:t>
            </a:r>
          </a:p>
        </p:txBody>
      </p:sp>
      <p:sp>
        <p:nvSpPr>
          <p:cNvPr id="5" name="">
            <a:extLst xmlns:a="http://schemas.openxmlformats.org/drawingml/2006/main">
              <a:ext uri="{FF2B5EF4-FFF2-40B4-BE49-F238E27FC236}">
                <a16:creationId xmlns:a16="http://schemas.microsoft.com/office/drawing/2014/main" id="{279213CA-06C2-43D7-9087-9867E6EE8559}"/>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0446146d668436d"/>
          <a:stretch xmlns:a="http://schemas.openxmlformats.org/drawingml/2006/main"/>
        </p:blipFill>
        <p:spPr>
          <a:xfrm xmlns:a="http://schemas.openxmlformats.org/drawingml/2006/main">
            <a:off x="922794" y="1924050"/>
            <a:ext cx="293596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D2F7C57-B21C-4140-8569-018EFBA14215}"/>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D15EA252-BECD-4075-95D7-95DFD4EB7578}"/>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Adapt Hamming distance to glyph design so visually separable glyph sets can be designed more systematically.</a:t>
            </a:r>
          </a:p>
        </p:txBody>
      </p:sp>
      <p:sp>
        <p:nvSpPr>
          <p:cNvPr id="9" name="">
            <a:extLst xmlns:a="http://schemas.openxmlformats.org/drawingml/2006/main">
              <a:ext uri="{FF2B5EF4-FFF2-40B4-BE49-F238E27FC236}">
                <a16:creationId xmlns:a16="http://schemas.microsoft.com/office/drawing/2014/main" id="{9F026803-505C-4E5F-B1BC-CF9A363633CB}"/>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817B5F35-E06A-4CD2-B82A-B25EF9A9FD1E}"/>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The authors define quasi-Hamming distance, estimate channel separability with a 20-participant survey, and demonstrate it in a file-event glyph system.</a:t>
            </a:r>
          </a:p>
        </p:txBody>
      </p:sp>
      <p:sp>
        <p:nvSpPr>
          <p:cNvPr id="11" name="">
            <a:extLst xmlns:a="http://schemas.openxmlformats.org/drawingml/2006/main">
              <a:ext uri="{FF2B5EF4-FFF2-40B4-BE49-F238E27FC236}">
                <a16:creationId xmlns:a16="http://schemas.microsoft.com/office/drawing/2014/main" id="{B417125C-6BD9-4511-BF9B-837DE76E90EC}"/>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F8862CB5-BB78-4153-A55C-8933DE3558E4}"/>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Increasing differences across visual channels can reduce vulnerability to perceptual errors, although separability varies by channel.</a:t>
            </a:r>
          </a:p>
        </p:txBody>
      </p:sp>
      <p:sp>
        <p:nvSpPr>
          <p:cNvPr id="13" name="">
            <a:extLst xmlns:a="http://schemas.openxmlformats.org/drawingml/2006/main">
              <a:ext uri="{FF2B5EF4-FFF2-40B4-BE49-F238E27FC236}">
                <a16:creationId xmlns:a16="http://schemas.microsoft.com/office/drawing/2014/main" id="{82327CFF-E208-46B0-A185-3F350A0E117F}"/>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CF5B75-A66B-4C78-83A4-E1EE4B936B55}"/>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46837DB7-34DE-44AE-904F-DE2EA641AF2C}"/>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Motivates pairwise distinguishability and family-wise distance, but does not validate the thesis’s exact continuous feature formulas.</a:t>
            </a:r>
          </a:p>
        </p:txBody>
      </p:sp>
    </p:spTree>
    <p:extLst>
      <p:ext uri="{BB962C8B-B14F-4D97-AF65-F5344CB8AC3E}">
        <p14:creationId xmlns:p14="http://schemas.microsoft.com/office/powerpoint/2010/main" val="4086095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4C031A-207B-42A4-AD65-8DDA1A0500EC}"/>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3C0CF901-0796-4F00-A55D-C054C42F5FE0}"/>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C921BF28-FCE6-499C-8E7D-B7A32CD81ECE}"/>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 taxonomy can guide scalable glyph design</a:t>
            </a:r>
          </a:p>
        </p:txBody>
      </p:sp>
      <p:sp>
        <p:nvSpPr>
          <p:cNvPr id="4" name="">
            <a:extLst xmlns:a="http://schemas.openxmlformats.org/drawingml/2006/main">
              <a:ext uri="{FF2B5EF4-FFF2-40B4-BE49-F238E27FC236}">
                <a16:creationId xmlns:a16="http://schemas.microsoft.com/office/drawing/2014/main" id="{5958774C-1E6F-464E-A2FB-B26E907AFC4C}"/>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Maguire et al. · 2012</a:t>
            </a:r>
          </a:p>
        </p:txBody>
      </p:sp>
      <p:sp>
        <p:nvSpPr>
          <p:cNvPr id="5" name="">
            <a:extLst xmlns:a="http://schemas.openxmlformats.org/drawingml/2006/main">
              <a:ext uri="{FF2B5EF4-FFF2-40B4-BE49-F238E27FC236}">
                <a16:creationId xmlns:a16="http://schemas.microsoft.com/office/drawing/2014/main" id="{190F4589-FF13-4F0E-B790-56E22B8B55D8}"/>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a1d145924ba47f1"/>
          <a:stretch xmlns:a="http://schemas.openxmlformats.org/drawingml/2006/main"/>
        </p:blipFill>
        <p:spPr>
          <a:xfrm xmlns:a="http://schemas.openxmlformats.org/drawingml/2006/main">
            <a:off x="8370814" y="1924050"/>
            <a:ext cx="2860823"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10D15E2-A22A-4152-9F02-8F2C009CB306}"/>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F81613FD-3D59-474E-9CE2-88BAD1C160A3}"/>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Replace ad-hoc glyph creation with a systematic process that scales to many domain concepts.</a:t>
            </a:r>
          </a:p>
        </p:txBody>
      </p:sp>
      <p:sp>
        <p:nvSpPr>
          <p:cNvPr id="9" name="">
            <a:extLst xmlns:a="http://schemas.openxmlformats.org/drawingml/2006/main">
              <a:ext uri="{FF2B5EF4-FFF2-40B4-BE49-F238E27FC236}">
                <a16:creationId xmlns:a16="http://schemas.microsoft.com/office/drawing/2014/main" id="{C263D0CC-4EFE-46D9-B982-ECC01F089748}"/>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6A8342C3-5935-4D26-9E0E-8BA7FE1D449F}"/>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design methodology combines a concept taxonomy, a hierarchy of visual channels, and a biological-workflow case study.</a:t>
            </a:r>
          </a:p>
        </p:txBody>
      </p:sp>
      <p:sp>
        <p:nvSpPr>
          <p:cNvPr id="11" name="">
            <a:extLst xmlns:a="http://schemas.openxmlformats.org/drawingml/2006/main">
              <a:ext uri="{FF2B5EF4-FFF2-40B4-BE49-F238E27FC236}">
                <a16:creationId xmlns:a16="http://schemas.microsoft.com/office/drawing/2014/main" id="{17D696DF-D1A3-4ED2-914B-4812B88BFB4B}"/>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EBF1B587-E9A0-47F6-9B93-22DF3A3D9DEB}"/>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Structured categorization and deliberate visual-channel assignment can produce a more scalable, application-specific glyph language.</a:t>
            </a:r>
          </a:p>
        </p:txBody>
      </p:sp>
      <p:sp>
        <p:nvSpPr>
          <p:cNvPr id="13" name="">
            <a:extLst xmlns:a="http://schemas.openxmlformats.org/drawingml/2006/main">
              <a:ext uri="{FF2B5EF4-FFF2-40B4-BE49-F238E27FC236}">
                <a16:creationId xmlns:a16="http://schemas.microsoft.com/office/drawing/2014/main" id="{60ECF2E4-00EC-4571-9F73-6D302478A351}"/>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BA32FC5-9101-48A6-BB40-7E2E9557EE96}"/>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7805ED0D-4FD1-4D12-95CE-7338F2EB23DA}"/>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Supports organizing semantic categories as metadata and design context—not claiming that low-level image features recover meaning.</a:t>
            </a:r>
          </a:p>
        </p:txBody>
      </p:sp>
    </p:spTree>
    <p:extLst>
      <p:ext uri="{BB962C8B-B14F-4D97-AF65-F5344CB8AC3E}">
        <p14:creationId xmlns:p14="http://schemas.microsoft.com/office/powerpoint/2010/main" val="11897364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8FBF07F-95E4-4EF7-96CC-A9EBEAC82C2E}"/>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D8C17A78-DD01-46AE-98B9-98AF6B0C5269}"/>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19B3A862-0DCA-45FE-A78D-A02AD4ECEEBC}"/>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Contours shift perceived similarity</a:t>
            </a:r>
          </a:p>
        </p:txBody>
      </p:sp>
      <p:sp>
        <p:nvSpPr>
          <p:cNvPr id="4" name="">
            <a:extLst xmlns:a="http://schemas.openxmlformats.org/drawingml/2006/main">
              <a:ext uri="{FF2B5EF4-FFF2-40B4-BE49-F238E27FC236}">
                <a16:creationId xmlns:a16="http://schemas.microsoft.com/office/drawing/2014/main" id="{96379932-C608-464D-A606-D4AC461A95CB}"/>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Fuchs et al. · 2014</a:t>
            </a:r>
          </a:p>
        </p:txBody>
      </p:sp>
      <p:sp>
        <p:nvSpPr>
          <p:cNvPr id="5" name="">
            <a:extLst xmlns:a="http://schemas.openxmlformats.org/drawingml/2006/main">
              <a:ext uri="{FF2B5EF4-FFF2-40B4-BE49-F238E27FC236}">
                <a16:creationId xmlns:a16="http://schemas.microsoft.com/office/drawing/2014/main" id="{437191AA-3959-415F-8342-B39404287224}"/>
              </a:ext>
            </a:extLst>
          </p:cNvPr>
          <p:cNvSpPr>
            <a:spLocks xmlns:a="http://schemas.openxmlformats.org/drawingml/2006/main" noGrp="1"/>
          </p:cNvSpPr>
          <p:nvPr/>
        </p:nvSpPr>
        <p:spPr>
          <a:xfrm xmlns:a="http://schemas.openxmlformats.org/drawingml/2006/main">
            <a:off x="40005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ade0be9516e4fe9"/>
          <a:stretch xmlns:a="http://schemas.openxmlformats.org/drawingml/2006/main"/>
        </p:blipFill>
        <p:spPr>
          <a:xfrm xmlns:a="http://schemas.openxmlformats.org/drawingml/2006/main">
            <a:off x="1009752" y="1924050"/>
            <a:ext cx="2762046"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F796840-46D4-4BCC-A4CF-3DB41278D952}"/>
              </a:ext>
            </a:extLst>
          </p:cNvPr>
          <p:cNvSpPr>
            <a:spLocks xmlns:a="http://schemas.openxmlformats.org/drawingml/2006/main" noGrp="1"/>
          </p:cNvSpPr>
          <p:nvPr/>
        </p:nvSpPr>
        <p:spPr>
          <a:xfrm xmlns:a="http://schemas.openxmlformats.org/drawingml/2006/main">
            <a:off x="45529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7493921C-DA9A-4DF9-80F0-7F329851BCF3}"/>
              </a:ext>
            </a:extLst>
          </p:cNvPr>
          <p:cNvSpPr>
            <a:spLocks xmlns:a="http://schemas.openxmlformats.org/drawingml/2006/main" noGrp="1"/>
          </p:cNvSpPr>
          <p:nvPr/>
        </p:nvSpPr>
        <p:spPr>
          <a:xfrm xmlns:a="http://schemas.openxmlformats.org/drawingml/2006/main">
            <a:off x="45529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Test how contour, fill, and reference structures influence similarity judgments for star glyphs.</a:t>
            </a:r>
          </a:p>
        </p:txBody>
      </p:sp>
      <p:sp>
        <p:nvSpPr>
          <p:cNvPr id="9" name="">
            <a:extLst xmlns:a="http://schemas.openxmlformats.org/drawingml/2006/main">
              <a:ext uri="{FF2B5EF4-FFF2-40B4-BE49-F238E27FC236}">
                <a16:creationId xmlns:a16="http://schemas.microsoft.com/office/drawing/2014/main" id="{188D14A3-D3E3-42B1-8279-BCAF2E20DA5A}"/>
              </a:ext>
            </a:extLst>
          </p:cNvPr>
          <p:cNvSpPr>
            <a:spLocks xmlns:a="http://schemas.openxmlformats.org/drawingml/2006/main" noGrp="1"/>
          </p:cNvSpPr>
          <p:nvPr/>
        </p:nvSpPr>
        <p:spPr>
          <a:xfrm xmlns:a="http://schemas.openxmlformats.org/drawingml/2006/main">
            <a:off x="45529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A52B9B77-2DF3-4375-813E-5DEB7C77AF8D}"/>
              </a:ext>
            </a:extLst>
          </p:cNvPr>
          <p:cNvSpPr>
            <a:spLocks xmlns:a="http://schemas.openxmlformats.org/drawingml/2006/main" noGrp="1"/>
          </p:cNvSpPr>
          <p:nvPr/>
        </p:nvSpPr>
        <p:spPr>
          <a:xfrm xmlns:a="http://schemas.openxmlformats.org/drawingml/2006/main">
            <a:off x="45529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Three experiments compared experts, trained novices, and online participants using target-plus-alternative similarity-selection tasks.</a:t>
            </a:r>
          </a:p>
        </p:txBody>
      </p:sp>
      <p:sp>
        <p:nvSpPr>
          <p:cNvPr id="11" name="">
            <a:extLst xmlns:a="http://schemas.openxmlformats.org/drawingml/2006/main">
              <a:ext uri="{FF2B5EF4-FFF2-40B4-BE49-F238E27FC236}">
                <a16:creationId xmlns:a16="http://schemas.microsoft.com/office/drawing/2014/main" id="{AD69E296-9107-4178-A408-EB18D284E4BF}"/>
              </a:ext>
            </a:extLst>
          </p:cNvPr>
          <p:cNvSpPr>
            <a:spLocks xmlns:a="http://schemas.openxmlformats.org/drawingml/2006/main" noGrp="1"/>
          </p:cNvSpPr>
          <p:nvPr/>
        </p:nvSpPr>
        <p:spPr>
          <a:xfrm xmlns:a="http://schemas.openxmlformats.org/drawingml/2006/main">
            <a:off x="45529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8E707CC8-539E-494A-972E-1C2E1DD649C4}"/>
              </a:ext>
            </a:extLst>
          </p:cNvPr>
          <p:cNvSpPr>
            <a:spLocks xmlns:a="http://schemas.openxmlformats.org/drawingml/2006/main" noGrp="1"/>
          </p:cNvSpPr>
          <p:nvPr/>
        </p:nvSpPr>
        <p:spPr>
          <a:xfrm xmlns:a="http://schemas.openxmlformats.org/drawingml/2006/main">
            <a:off x="45529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Simple star glyphs without contours best supported data similarity; contours could shift attention toward overall shape instead.</a:t>
            </a:r>
          </a:p>
        </p:txBody>
      </p:sp>
      <p:sp>
        <p:nvSpPr>
          <p:cNvPr id="13" name="">
            <a:extLst xmlns:a="http://schemas.openxmlformats.org/drawingml/2006/main">
              <a:ext uri="{FF2B5EF4-FFF2-40B4-BE49-F238E27FC236}">
                <a16:creationId xmlns:a16="http://schemas.microsoft.com/office/drawing/2014/main" id="{55C1547F-A70A-41CE-8040-F97556C0112F}"/>
              </a:ext>
            </a:extLst>
          </p:cNvPr>
          <p:cNvSpPr>
            <a:spLocks xmlns:a="http://schemas.openxmlformats.org/drawingml/2006/main" noGrp="1"/>
          </p:cNvSpPr>
          <p:nvPr/>
        </p:nvSpPr>
        <p:spPr>
          <a:xfrm xmlns:a="http://schemas.openxmlformats.org/drawingml/2006/main">
            <a:off x="45529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335E0C7-F8A5-42FA-B1A7-8F5A092DF6CC}"/>
              </a:ext>
            </a:extLst>
          </p:cNvPr>
          <p:cNvSpPr>
            <a:spLocks xmlns:a="http://schemas.openxmlformats.org/drawingml/2006/main" noGrp="1"/>
          </p:cNvSpPr>
          <p:nvPr/>
        </p:nvSpPr>
        <p:spPr>
          <a:xfrm xmlns:a="http://schemas.openxmlformats.org/drawingml/2006/main">
            <a:off x="47434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D0785F8F-B46F-4D28-A1F0-93FC831874CA}"/>
              </a:ext>
            </a:extLst>
          </p:cNvPr>
          <p:cNvSpPr>
            <a:spLocks xmlns:a="http://schemas.openxmlformats.org/drawingml/2006/main" noGrp="1"/>
          </p:cNvSpPr>
          <p:nvPr/>
        </p:nvSpPr>
        <p:spPr>
          <a:xfrm xmlns:a="http://schemas.openxmlformats.org/drawingml/2006/main">
            <a:off x="47434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Justifies contour and enclosure features while showing that similarity is task-dependent and cannot be reduced to one universal distance.</a:t>
            </a:r>
          </a:p>
        </p:txBody>
      </p:sp>
    </p:spTree>
    <p:extLst>
      <p:ext uri="{BB962C8B-B14F-4D97-AF65-F5344CB8AC3E}">
        <p14:creationId xmlns:p14="http://schemas.microsoft.com/office/powerpoint/2010/main" val="19626199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57FFDE3-2BD8-42ED-B786-EEEC445907B2}"/>
              </a:ext>
            </a:extLst>
          </p:cNvPr>
          <p:cNvSpPr>
            <a:spLocks xmlns:a="http://schemas.openxmlformats.org/drawingml/2006/main" noGrp="1"/>
          </p:cNvSpPr>
          <p:nvPr/>
        </p:nvSpPr>
        <p:spPr>
          <a:xfrm xmlns:a="http://schemas.openxmlformats.org/drawingml/2006/main">
            <a:off x="400050" y="333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04 · LITERATURE REVIEW</a:t>
            </a:r>
          </a:p>
        </p:txBody>
      </p:sp>
      <p:sp>
        <p:nvSpPr>
          <p:cNvPr id="2" name="">
            <a:extLst xmlns:a="http://schemas.openxmlformats.org/drawingml/2006/main">
              <a:ext uri="{FF2B5EF4-FFF2-40B4-BE49-F238E27FC236}">
                <a16:creationId xmlns:a16="http://schemas.microsoft.com/office/drawing/2014/main" id="{57990F07-65FF-4DC4-9CDF-48ECBC4EB1E3}"/>
              </a:ext>
            </a:extLst>
          </p:cNvPr>
          <p:cNvSpPr>
            <a:spLocks xmlns:a="http://schemas.openxmlformats.org/drawingml/2006/main" noGrp="1"/>
          </p:cNvSpPr>
          <p:nvPr/>
        </p:nvSpPr>
        <p:spPr>
          <a:xfrm xmlns:a="http://schemas.openxmlformats.org/drawingml/2006/main">
            <a:off x="11239500" y="63341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E6672"/>
                </a:solidFill>
                <a:latin typeface="Helvetica Neue"/>
                <a:ea typeface="Helvetica Neue"/>
                <a:cs typeface="Helvetica Neue"/>
              </a:defRPr>
            </a:pPr>
            <a:r>
              <a:rPr sz="975" b="0">
                <a:solidFill>
                  <a:srgbClr val="5E6672"/>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F61EAF9F-8B8D-4DC4-86B4-1DABEC367461}"/>
              </a:ext>
            </a:extLst>
          </p:cNvPr>
          <p:cNvSpPr>
            <a:spLocks xmlns:a="http://schemas.openxmlformats.org/drawingml/2006/main" noGrp="1"/>
          </p:cNvSpPr>
          <p:nvPr/>
        </p:nvSpPr>
        <p:spPr>
          <a:xfrm xmlns:a="http://schemas.openxmlformats.org/drawingml/2006/main">
            <a:off x="400050" y="6667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Glyph evaluation is strongly task-dependent</a:t>
            </a:r>
          </a:p>
        </p:txBody>
      </p:sp>
      <p:sp>
        <p:nvSpPr>
          <p:cNvPr id="4" name="">
            <a:extLst xmlns:a="http://schemas.openxmlformats.org/drawingml/2006/main">
              <a:ext uri="{FF2B5EF4-FFF2-40B4-BE49-F238E27FC236}">
                <a16:creationId xmlns:a16="http://schemas.microsoft.com/office/drawing/2014/main" id="{8486F378-91CD-4F59-B15A-0B5610F76ADE}"/>
              </a:ext>
            </a:extLst>
          </p:cNvPr>
          <p:cNvSpPr>
            <a:spLocks xmlns:a="http://schemas.openxmlformats.org/drawingml/2006/main" noGrp="1"/>
          </p:cNvSpPr>
          <p:nvPr/>
        </p:nvSpPr>
        <p:spPr>
          <a:xfrm xmlns:a="http://schemas.openxmlformats.org/drawingml/2006/main">
            <a:off x="400050" y="1362075"/>
            <a:ext cx="1123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E6672"/>
                </a:solidFill>
                <a:latin typeface="Helvetica Neue"/>
                <a:ea typeface="Helvetica Neue"/>
                <a:cs typeface="Helvetica Neue"/>
              </a:defRPr>
            </a:pPr>
            <a:r>
              <a:rPr sz="1200" b="0">
                <a:solidFill>
                  <a:srgbClr val="5E6672"/>
                </a:solidFill>
                <a:latin typeface="Helvetica Neue"/>
                <a:ea typeface="Helvetica Neue"/>
                <a:cs typeface="Helvetica Neue"/>
              </a:rPr>
              <a:t>Fuchs, Isenberg, Bezerianos &amp; Keim · 2017</a:t>
            </a:r>
          </a:p>
        </p:txBody>
      </p:sp>
      <p:sp>
        <p:nvSpPr>
          <p:cNvPr id="5" name="">
            <a:extLst xmlns:a="http://schemas.openxmlformats.org/drawingml/2006/main">
              <a:ext uri="{FF2B5EF4-FFF2-40B4-BE49-F238E27FC236}">
                <a16:creationId xmlns:a16="http://schemas.microsoft.com/office/drawing/2014/main" id="{DEE067E8-D7FD-416F-8FB0-CB3C48E0BAF9}"/>
              </a:ext>
            </a:extLst>
          </p:cNvPr>
          <p:cNvSpPr>
            <a:spLocks xmlns:a="http://schemas.openxmlformats.org/drawingml/2006/main" noGrp="1"/>
          </p:cNvSpPr>
          <p:nvPr/>
        </p:nvSpPr>
        <p:spPr>
          <a:xfrm xmlns:a="http://schemas.openxmlformats.org/drawingml/2006/main">
            <a:off x="7810500" y="1790700"/>
            <a:ext cx="3981450" cy="4171950"/>
          </a:xfrm>
          <a:prstGeom xmlns:a="http://schemas.openxmlformats.org/drawingml/2006/main" prst="rect">
            <a:avLst/>
          </a:prstGeom>
          <a:solidFill xmlns:a="http://schemas.openxmlformats.org/drawingml/2006/main">
            <a:srgbClr val="F1F2F3"/>
          </a:solidFill>
          <a:ln xmlns:a="http://schemas.openxmlformats.org/drawingml/2006/main" w="9525">
            <a:solidFill>
              <a:srgbClr val="B8BCC4"/>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7efe6b5a5e546dc"/>
          <a:stretch xmlns:a="http://schemas.openxmlformats.org/drawingml/2006/main"/>
        </p:blipFill>
        <p:spPr>
          <a:xfrm xmlns:a="http://schemas.openxmlformats.org/drawingml/2006/main">
            <a:off x="8370920" y="1924050"/>
            <a:ext cx="286061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F262E76-0BE0-413C-BFCD-B18FB2BB3672}"/>
              </a:ext>
            </a:extLst>
          </p:cNvPr>
          <p:cNvSpPr>
            <a:spLocks xmlns:a="http://schemas.openxmlformats.org/drawingml/2006/main" noGrp="1"/>
          </p:cNvSpPr>
          <p:nvPr/>
        </p:nvSpPr>
        <p:spPr>
          <a:xfrm xmlns:a="http://schemas.openxmlformats.org/drawingml/2006/main">
            <a:off x="400050" y="18097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PURPOSE</a:t>
            </a:r>
          </a:p>
        </p:txBody>
      </p:sp>
      <p:sp>
        <p:nvSpPr>
          <p:cNvPr id="8" name="">
            <a:extLst xmlns:a="http://schemas.openxmlformats.org/drawingml/2006/main">
              <a:ext uri="{FF2B5EF4-FFF2-40B4-BE49-F238E27FC236}">
                <a16:creationId xmlns:a16="http://schemas.microsoft.com/office/drawing/2014/main" id="{DB377933-E226-4118-8FEB-40B045DC963F}"/>
              </a:ext>
            </a:extLst>
          </p:cNvPr>
          <p:cNvSpPr>
            <a:spLocks xmlns:a="http://schemas.openxmlformats.org/drawingml/2006/main" noGrp="1"/>
          </p:cNvSpPr>
          <p:nvPr/>
        </p:nvSpPr>
        <p:spPr>
          <a:xfrm xmlns:a="http://schemas.openxmlformats.org/drawingml/2006/main">
            <a:off x="400050" y="20859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Organize what controlled glyph studies tested, which tasks they used, and what design conclusions can be drawn.</a:t>
            </a:r>
          </a:p>
        </p:txBody>
      </p:sp>
      <p:sp>
        <p:nvSpPr>
          <p:cNvPr id="9" name="">
            <a:extLst xmlns:a="http://schemas.openxmlformats.org/drawingml/2006/main">
              <a:ext uri="{FF2B5EF4-FFF2-40B4-BE49-F238E27FC236}">
                <a16:creationId xmlns:a16="http://schemas.microsoft.com/office/drawing/2014/main" id="{2E4C582E-D299-45AA-AD5C-2502E3834353}"/>
              </a:ext>
            </a:extLst>
          </p:cNvPr>
          <p:cNvSpPr>
            <a:spLocks xmlns:a="http://schemas.openxmlformats.org/drawingml/2006/main" noGrp="1"/>
          </p:cNvSpPr>
          <p:nvPr/>
        </p:nvSpPr>
        <p:spPr>
          <a:xfrm xmlns:a="http://schemas.openxmlformats.org/drawingml/2006/main">
            <a:off x="400050" y="28384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METHOD</a:t>
            </a:r>
          </a:p>
        </p:txBody>
      </p:sp>
      <p:sp>
        <p:nvSpPr>
          <p:cNvPr id="10" name="">
            <a:extLst xmlns:a="http://schemas.openxmlformats.org/drawingml/2006/main">
              <a:ext uri="{FF2B5EF4-FFF2-40B4-BE49-F238E27FC236}">
                <a16:creationId xmlns:a16="http://schemas.microsoft.com/office/drawing/2014/main" id="{523E347D-B1E9-44AF-8041-353063CDCDA2}"/>
              </a:ext>
            </a:extLst>
          </p:cNvPr>
          <p:cNvSpPr>
            <a:spLocks xmlns:a="http://schemas.openxmlformats.org/drawingml/2006/main" noGrp="1"/>
          </p:cNvSpPr>
          <p:nvPr/>
        </p:nvSpPr>
        <p:spPr>
          <a:xfrm xmlns:a="http://schemas.openxmlformats.org/drawingml/2006/main">
            <a:off x="400050" y="31146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A systematic review and meta-analysis of 64 quantitative controlled user-study papers spanning roughly six decades.</a:t>
            </a:r>
          </a:p>
        </p:txBody>
      </p:sp>
      <p:sp>
        <p:nvSpPr>
          <p:cNvPr id="11" name="">
            <a:extLst xmlns:a="http://schemas.openxmlformats.org/drawingml/2006/main">
              <a:ext uri="{FF2B5EF4-FFF2-40B4-BE49-F238E27FC236}">
                <a16:creationId xmlns:a16="http://schemas.microsoft.com/office/drawing/2014/main" id="{72075698-8439-4385-905A-B1B1BAB7FAC8}"/>
              </a:ext>
            </a:extLst>
          </p:cNvPr>
          <p:cNvSpPr>
            <a:spLocks xmlns:a="http://schemas.openxmlformats.org/drawingml/2006/main" noGrp="1"/>
          </p:cNvSpPr>
          <p:nvPr/>
        </p:nvSpPr>
        <p:spPr>
          <a:xfrm xmlns:a="http://schemas.openxmlformats.org/drawingml/2006/main">
            <a:off x="400050" y="3867150"/>
            <a:ext cx="6838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MAIN FINDING</a:t>
            </a:r>
          </a:p>
        </p:txBody>
      </p:sp>
      <p:sp>
        <p:nvSpPr>
          <p:cNvPr id="12" name="">
            <a:extLst xmlns:a="http://schemas.openxmlformats.org/drawingml/2006/main">
              <a:ext uri="{FF2B5EF4-FFF2-40B4-BE49-F238E27FC236}">
                <a16:creationId xmlns:a16="http://schemas.microsoft.com/office/drawing/2014/main" id="{94BFF669-F004-4F7E-8CB2-BA25A409AADF}"/>
              </a:ext>
            </a:extLst>
          </p:cNvPr>
          <p:cNvSpPr>
            <a:spLocks xmlns:a="http://schemas.openxmlformats.org/drawingml/2006/main" noGrp="1"/>
          </p:cNvSpPr>
          <p:nvPr/>
        </p:nvSpPr>
        <p:spPr>
          <a:xfrm xmlns:a="http://schemas.openxmlformats.org/drawingml/2006/main">
            <a:off x="400050" y="4143375"/>
            <a:ext cx="6838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Glyph performance depends on design, task, presentation setting, and data; the review identifies evidence patterns and open research gaps.</a:t>
            </a:r>
          </a:p>
        </p:txBody>
      </p:sp>
      <p:sp>
        <p:nvSpPr>
          <p:cNvPr id="13" name="">
            <a:extLst xmlns:a="http://schemas.openxmlformats.org/drawingml/2006/main">
              <a:ext uri="{FF2B5EF4-FFF2-40B4-BE49-F238E27FC236}">
                <a16:creationId xmlns:a16="http://schemas.microsoft.com/office/drawing/2014/main" id="{8FD305F9-499D-43AD-B3EE-C5FBB938C0CA}"/>
              </a:ext>
            </a:extLst>
          </p:cNvPr>
          <p:cNvSpPr>
            <a:spLocks xmlns:a="http://schemas.openxmlformats.org/drawingml/2006/main" noGrp="1"/>
          </p:cNvSpPr>
          <p:nvPr/>
        </p:nvSpPr>
        <p:spPr>
          <a:xfrm xmlns:a="http://schemas.openxmlformats.org/drawingml/2006/main">
            <a:off x="400050" y="5038725"/>
            <a:ext cx="6838950" cy="9239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F6BE9F-EB32-4D74-8689-DC53C614C005}"/>
              </a:ext>
            </a:extLst>
          </p:cNvPr>
          <p:cNvSpPr>
            <a:spLocks xmlns:a="http://schemas.openxmlformats.org/drawingml/2006/main" noGrp="1"/>
          </p:cNvSpPr>
          <p:nvPr/>
        </p:nvSpPr>
        <p:spPr>
          <a:xfrm xmlns:a="http://schemas.openxmlformats.org/drawingml/2006/main">
            <a:off x="590550" y="5200650"/>
            <a:ext cx="6457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WHY IT MATTERS HERE</a:t>
            </a:r>
          </a:p>
        </p:txBody>
      </p:sp>
      <p:sp>
        <p:nvSpPr>
          <p:cNvPr id="15" name="">
            <a:extLst xmlns:a="http://schemas.openxmlformats.org/drawingml/2006/main">
              <a:ext uri="{FF2B5EF4-FFF2-40B4-BE49-F238E27FC236}">
                <a16:creationId xmlns:a16="http://schemas.microsoft.com/office/drawing/2014/main" id="{73D597A9-F82E-4B92-84F6-67F445F32E29}"/>
              </a:ext>
            </a:extLst>
          </p:cNvPr>
          <p:cNvSpPr>
            <a:spLocks xmlns:a="http://schemas.openxmlformats.org/drawingml/2006/main" noGrp="1"/>
          </p:cNvSpPr>
          <p:nvPr/>
        </p:nvSpPr>
        <p:spPr>
          <a:xfrm xmlns:a="http://schemas.openxmlformats.org/drawingml/2006/main">
            <a:off x="590550" y="5457825"/>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Supports a quantitative human study and helps separate identification, similarity, confusability, accuracy, and response time as different outcomes.</a:t>
            </a:r>
          </a:p>
        </p:txBody>
      </p:sp>
    </p:spTree>
    <p:extLst>
      <p:ext uri="{BB962C8B-B14F-4D97-AF65-F5344CB8AC3E}">
        <p14:creationId xmlns:p14="http://schemas.microsoft.com/office/powerpoint/2010/main" val="11995883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2026-08-10T20:25:07.2610000Z</dcterms:created>
  <dcterms:modified xsi:type="dcterms:W3CDTF">2026-08-10T20:25:07.2610000Z</dcterms:modified>
</coreProperties>
</file>