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c8c91a259d948c7" /><Relationship Type="http://schemas.openxmlformats.org/officeDocument/2006/relationships/extended-properties" Target="/docProps/app.xml" Id="R92f1d91526294ad5" /><Relationship Type="http://schemas.openxmlformats.org/officeDocument/2006/relationships/officeDocument" Target="/ppt/presentation.xml" Id="R51bccf5f28a64f36" /></Relationships>
</file>

<file path=ppt/presentation.xml><?xml version="1.0" encoding="utf-8"?>
<p:presentation xmlns:p="http://schemas.openxmlformats.org/presentationml/2006/main">
  <p:sldMasterIdLst>
    <p:sldMasterId xmlns:r="http://schemas.openxmlformats.org/officeDocument/2006/relationships" id="2147483648" r:id="R3eeaebcfa1874527"/>
  </p:sldMasterIdLst>
  <p:notesMasterIdLst>
    <p:notesMasterId xmlns:r="http://schemas.openxmlformats.org/officeDocument/2006/relationships" r:id="R441f9cd892dc47bc"/>
  </p:notesMasterIdLst>
  <p:sldIdLst>
    <p:sldId xmlns:r="http://schemas.openxmlformats.org/officeDocument/2006/relationships" id="256" r:id="R3dee6b6d4ad248bc"/>
    <p:sldId xmlns:r="http://schemas.openxmlformats.org/officeDocument/2006/relationships" id="257" r:id="Rd15e67b19c2d4b34"/>
    <p:sldId xmlns:r="http://schemas.openxmlformats.org/officeDocument/2006/relationships" id="258" r:id="R50aef8b101c44ba7"/>
    <p:sldId xmlns:r="http://schemas.openxmlformats.org/officeDocument/2006/relationships" id="259" r:id="R092642355f4245f6"/>
    <p:sldId xmlns:r="http://schemas.openxmlformats.org/officeDocument/2006/relationships" id="260" r:id="Reb4254909ba54264"/>
    <p:sldId xmlns:r="http://schemas.openxmlformats.org/officeDocument/2006/relationships" id="261" r:id="R9423487541bf48fe"/>
    <p:sldId xmlns:r="http://schemas.openxmlformats.org/officeDocument/2006/relationships" id="262" r:id="R430bcd49ef2e47f9"/>
    <p:sldId xmlns:r="http://schemas.openxmlformats.org/officeDocument/2006/relationships" id="263" r:id="R6f575c701c2f4e4b"/>
    <p:sldId xmlns:r="http://schemas.openxmlformats.org/officeDocument/2006/relationships" id="264" r:id="Rf546414a710246db"/>
    <p:sldId xmlns:r="http://schemas.openxmlformats.org/officeDocument/2006/relationships" id="265" r:id="Rf622bac6724446a3"/>
    <p:sldId xmlns:r="http://schemas.openxmlformats.org/officeDocument/2006/relationships" id="266" r:id="Ra25f430144604c3d"/>
    <p:sldId xmlns:r="http://schemas.openxmlformats.org/officeDocument/2006/relationships" id="267" r:id="R16b5f5ceb2184336"/>
    <p:sldId xmlns:r="http://schemas.openxmlformats.org/officeDocument/2006/relationships" id="268" r:id="Rd8bbb816d1784b9c"/>
    <p:sldId xmlns:r="http://schemas.openxmlformats.org/officeDocument/2006/relationships" id="269" r:id="R97a922d3d5614874"/>
    <p:sldId xmlns:r="http://schemas.openxmlformats.org/officeDocument/2006/relationships" id="270" r:id="R17faf060fe7e4567"/>
    <p:sldId xmlns:r="http://schemas.openxmlformats.org/officeDocument/2006/relationships" id="271" r:id="R43b632523d86479e"/>
    <p:sldId xmlns:r="http://schemas.openxmlformats.org/officeDocument/2006/relationships" id="272" r:id="R5c4c9c7c44d24b23"/>
    <p:sldId xmlns:r="http://schemas.openxmlformats.org/officeDocument/2006/relationships" id="273" r:id="R6ebf3f9d65764fae"/>
    <p:sldId xmlns:r="http://schemas.openxmlformats.org/officeDocument/2006/relationships" id="274" r:id="Rb019433b843f49a3"/>
    <p:sldId xmlns:r="http://schemas.openxmlformats.org/officeDocument/2006/relationships" id="275" r:id="Re1928c052d6e46aa"/>
    <p:sldId xmlns:r="http://schemas.openxmlformats.org/officeDocument/2006/relationships" id="276" r:id="R97bfc8b4208e464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f35d6703dd4eea" /><Relationship Type="http://schemas.openxmlformats.org/officeDocument/2006/relationships/slideMaster" Target="/ppt/slideMasters/slideMaster1.xml" Id="R3eeaebcfa1874527" /><Relationship Type="http://schemas.openxmlformats.org/officeDocument/2006/relationships/notesMaster" Target="/ppt/notesMasters/notesMaster1.xml" Id="R441f9cd892dc47bc" /><Relationship Type="http://schemas.openxmlformats.org/officeDocument/2006/relationships/presProps" Target="/ppt/presProps.xml" Id="R62d1a9a05dee4162" /><Relationship Type="http://schemas.openxmlformats.org/officeDocument/2006/relationships/tableStyles" Target="/ppt/tableStyles.xml" Id="R6557e9595a1f4027" /><Relationship Type="http://schemas.openxmlformats.org/officeDocument/2006/relationships/slide" Target="/ppt/slides/slide1.xml" Id="R3dee6b6d4ad248bc" /><Relationship Type="http://schemas.openxmlformats.org/officeDocument/2006/relationships/slide" Target="/ppt/slides/slide2.xml" Id="Rd15e67b19c2d4b34" /><Relationship Type="http://schemas.openxmlformats.org/officeDocument/2006/relationships/slide" Target="/ppt/slides/slide3.xml" Id="R50aef8b101c44ba7" /><Relationship Type="http://schemas.openxmlformats.org/officeDocument/2006/relationships/slide" Target="/ppt/slides/slide4.xml" Id="R092642355f4245f6" /><Relationship Type="http://schemas.openxmlformats.org/officeDocument/2006/relationships/slide" Target="/ppt/slides/slide5.xml" Id="Reb4254909ba54264" /><Relationship Type="http://schemas.openxmlformats.org/officeDocument/2006/relationships/slide" Target="/ppt/slides/slide6.xml" Id="R9423487541bf48fe" /><Relationship Type="http://schemas.openxmlformats.org/officeDocument/2006/relationships/slide" Target="/ppt/slides/slide7.xml" Id="R430bcd49ef2e47f9" /><Relationship Type="http://schemas.openxmlformats.org/officeDocument/2006/relationships/slide" Target="/ppt/slides/slide8.xml" Id="R6f575c701c2f4e4b" /><Relationship Type="http://schemas.openxmlformats.org/officeDocument/2006/relationships/slide" Target="/ppt/slides/slide9.xml" Id="Rf546414a710246db" /><Relationship Type="http://schemas.openxmlformats.org/officeDocument/2006/relationships/slide" Target="/ppt/slides/slide10.xml" Id="Rf622bac6724446a3" /><Relationship Type="http://schemas.openxmlformats.org/officeDocument/2006/relationships/slide" Target="/ppt/slides/slide11.xml" Id="Ra25f430144604c3d" /><Relationship Type="http://schemas.openxmlformats.org/officeDocument/2006/relationships/slide" Target="/ppt/slides/slide12.xml" Id="R16b5f5ceb2184336" /><Relationship Type="http://schemas.openxmlformats.org/officeDocument/2006/relationships/slide" Target="/ppt/slides/slide13.xml" Id="Rd8bbb816d1784b9c" /><Relationship Type="http://schemas.openxmlformats.org/officeDocument/2006/relationships/slide" Target="/ppt/slides/slide14.xml" Id="R97a922d3d5614874" /><Relationship Type="http://schemas.openxmlformats.org/officeDocument/2006/relationships/slide" Target="/ppt/slides/slide15.xml" Id="R17faf060fe7e4567" /><Relationship Type="http://schemas.openxmlformats.org/officeDocument/2006/relationships/slide" Target="/ppt/slides/slide16.xml" Id="R43b632523d86479e" /><Relationship Type="http://schemas.openxmlformats.org/officeDocument/2006/relationships/slide" Target="/ppt/slides/slide17.xml" Id="R5c4c9c7c44d24b23" /><Relationship Type="http://schemas.openxmlformats.org/officeDocument/2006/relationships/slide" Target="/ppt/slides/slide18.xml" Id="R6ebf3f9d65764fae" /><Relationship Type="http://schemas.openxmlformats.org/officeDocument/2006/relationships/slide" Target="/ppt/slides/slide19.xml" Id="Rb019433b843f49a3" /><Relationship Type="http://schemas.openxmlformats.org/officeDocument/2006/relationships/slide" Target="/ppt/slides/slide20.xml" Id="Re1928c052d6e46aa" /><Relationship Type="http://schemas.openxmlformats.org/officeDocument/2006/relationships/slide" Target="/ppt/slides/slide21.xml" Id="R97bfc8b4208e46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e29754995da48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e6c1a714224492" /><Relationship Type="http://schemas.openxmlformats.org/officeDocument/2006/relationships/notesMaster" Target="/ppt/notesMasters/notesMaster1.xml" Id="Rc0952a1050994a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97175ff2c34453b" /><Relationship Type="http://schemas.openxmlformats.org/officeDocument/2006/relationships/notesMaster" Target="/ppt/notesMasters/notesMaster1.xml" Id="Rb1c1e4844397487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ffd93f48674c10" /><Relationship Type="http://schemas.openxmlformats.org/officeDocument/2006/relationships/notesMaster" Target="/ppt/notesMasters/notesMaster1.xml" Id="R061f5298448a42e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0515c82fc3491a" /><Relationship Type="http://schemas.openxmlformats.org/officeDocument/2006/relationships/notesMaster" Target="/ppt/notesMasters/notesMaster1.xml" Id="Rb741c5df678c4b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eb7c4cb96a459b" /><Relationship Type="http://schemas.openxmlformats.org/officeDocument/2006/relationships/notesMaster" Target="/ppt/notesMasters/notesMaster1.xml" Id="R42591e5cceb240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027f6962ca429c" /><Relationship Type="http://schemas.openxmlformats.org/officeDocument/2006/relationships/notesMaster" Target="/ppt/notesMasters/notesMaster1.xml" Id="R5cdb536d25724c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902bf1d713b043e3" /><Relationship Type="http://schemas.openxmlformats.org/officeDocument/2006/relationships/notesMaster" Target="/ppt/notesMasters/notesMaster1.xml" Id="R291ccae0f63d4449" /></Relationships>
</file>

<file path=ppt/notesSlides/_rels/notesSlide8.xml.rels>&#65279;<?xml version="1.0" encoding="utf-8"?><Relationships xmlns="http://schemas.openxmlformats.org/package/2006/relationships"><Relationship Type="http://schemas.openxmlformats.org/officeDocument/2006/relationships/slide" Target="/ppt/slides/slide8.xml" Id="Rcdfb82fa33b441d4" /><Relationship Type="http://schemas.openxmlformats.org/officeDocument/2006/relationships/notesMaster" Target="/ppt/notesMasters/notesMaster1.xml" Id="R397f5dbac5034427" /></Relationships>
</file>

<file path=ppt/notesSlides/_rels/notesSlide9.xml.rels>&#65279;<?xml version="1.0" encoding="utf-8"?><Relationships xmlns="http://schemas.openxmlformats.org/package/2006/relationships"><Relationship Type="http://schemas.openxmlformats.org/officeDocument/2006/relationships/slide" Target="/ppt/slides/slide9.xml" Id="R5b698407c9d54047" /><Relationship Type="http://schemas.openxmlformats.org/officeDocument/2006/relationships/notesMaster" Target="/ppt/notesMasters/notesMaster1.xml" Id="R0961a15988ad43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99692ffcf624ab6" /><Relationship Type="http://schemas.openxmlformats.org/officeDocument/2006/relationships/notesMaster" Target="/ppt/notesMasters/notesMaster1.xml" Id="R688ebc3f6d6248d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7c07851efa945e2" /><Relationship Type="http://schemas.openxmlformats.org/officeDocument/2006/relationships/notesMaster" Target="/ppt/notesMasters/notesMaster1.xml" Id="R43e53c9789bb4eb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5c051a9cb1049fa" /><Relationship Type="http://schemas.openxmlformats.org/officeDocument/2006/relationships/notesMaster" Target="/ppt/notesMasters/notesMaster1.xml" Id="Re5af2d543162447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b0c7662df5543cb" /><Relationship Type="http://schemas.openxmlformats.org/officeDocument/2006/relationships/notesMaster" Target="/ppt/notesMasters/notesMaster1.xml" Id="R44610db9892c487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0a46ca3961440d5" /><Relationship Type="http://schemas.openxmlformats.org/officeDocument/2006/relationships/notesMaster" Target="/ppt/notesMasters/notesMaster1.xml" Id="R49b59e09167e4f2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5b832021a6b47dd" /><Relationship Type="http://schemas.openxmlformats.org/officeDocument/2006/relationships/notesMaster" Target="/ppt/notesMasters/notesMaster1.xml" Id="R0496630bc2594b0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4ddcead48894356" /><Relationship Type="http://schemas.openxmlformats.org/officeDocument/2006/relationships/notesMaster" Target="/ppt/notesMasters/notesMaster1.xml" Id="R54d7c9166cdb4da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8c47291644b4ece" /><Relationship Type="http://schemas.openxmlformats.org/officeDocument/2006/relationships/notesMaster" Target="/ppt/notesMasters/notesMaster1.xml" Id="R6155c7f5dd35424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18955fa8b4f4177" /><Relationship Type="http://schemas.openxmlformats.org/officeDocument/2006/relationships/notesMaster" Target="/ppt/notesMasters/notesMaster1.xml" Id="Ra388345210aa4e6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2255f84f14f4407" /><Relationship Type="http://schemas.openxmlformats.org/officeDocument/2006/relationships/notesMaster" Target="/ppt/notesMasters/notesMaster1.xml" Id="R35bb28e6edc0486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5efec539e144981" /><Relationship Type="http://schemas.openxmlformats.org/officeDocument/2006/relationships/notesMaster" Target="/ppt/notesMasters/notesMaster1.xml" Id="Rb3cca3a29bf24ae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32a525c0ff54a6f" /><Relationship Type="http://schemas.openxmlformats.org/officeDocument/2006/relationships/notesMaster" Target="/ppt/notesMasters/notesMaster1.xml" Id="R414c6cc24b3f4b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the title and identity line when the final thesis wording is confirmed.</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 wiki/thesis-overview.md</a:t>
            </a:r>
          </a:p>
          <a:p xmlns:a="http://schemas.openxmlformats.org/drawingml/2006/main">
            <a:r>
              <a:t>- icon_data/analysis/similarity/closest_cross_set_pairs_euclidean.png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 wiki/thesis-overview.md</a:t>
            </a:r>
          </a:p>
          <a:p xmlns:a="http://schemas.openxmlformats.org/drawingml/2006/main">
            <a:r>
              <a:t>- wiki/evaluation-and-human-study.md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 wiki/literature-and-evidence.md</a:t>
            </a:r>
          </a:p>
          <a:p xmlns:a="http://schemas.openxmlformats.org/drawingml/2006/main">
            <a:r>
              <a:t>- notes/paper_feature_review.md</a:t>
            </a:r>
          </a:p>
          <a:p xmlns:a="http://schemas.openxmlformats.org/drawingml/2006/main">
            <a:r>
              <a:t>- papers/extracted_text/README.md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claim narrow: the paper supports complexity estimation, not semantic understanding.</a:t>
            </a:r>
          </a:p>
          <a:p xmlns:a="http://schemas.openxmlformats.org/drawingml/2006/main">
            <a:r>
              <a:t/>
            </a:r>
          </a:p>
          <a:p xmlns:a="http://schemas.openxmlformats.org/drawingml/2006/main">
            <a:r>
              <a:t>[Sources]</a:t>
            </a:r>
          </a:p>
          <a:p xmlns:a="http://schemas.openxmlformats.org/drawingml/2006/main">
            <a:r>
              <a:t>- papers/Forsythe-Measuring_cion_complexity_automated.pdf, pp.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paper combines a structural metric with subjective ranking and identification tasks.</a:t>
            </a:r>
          </a:p>
          <a:p xmlns:a="http://schemas.openxmlformats.org/drawingml/2006/main">
            <a:r>
              <a:t/>
            </a:r>
          </a:p>
          <a:p xmlns:a="http://schemas.openxmlformats.org/drawingml/2006/main">
            <a:r>
              <a:t>[Sources]</a:t>
            </a:r>
          </a:p>
          <a:p xmlns:a="http://schemas.openxmlformats.org/drawingml/2006/main">
            <a:r>
              <a:t>- papers/Garcia-Development_validation_icons_abstractness.pdf, pp. 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review and design synthesis, not a single controlled participant experiment.</a:t>
            </a:r>
          </a:p>
          <a:p xmlns:a="http://schemas.openxmlformats.org/drawingml/2006/main">
            <a:r>
              <a:t/>
            </a:r>
          </a:p>
          <a:p xmlns:a="http://schemas.openxmlformats.org/drawingml/2006/main">
            <a:r>
              <a:t>[Sources]</a:t>
            </a:r>
          </a:p>
          <a:p xmlns:a="http://schemas.openxmlformats.org/drawingml/2006/main">
            <a:r>
              <a:t>- papers/Glyph-based_Visualization_Foundations_Design_Guidelines_Techniques_Applications.pdf, pp. 1–26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quasi-Hamming distance as an inspiration for set-relative distinguishability, not as the implemented metric itself.</a:t>
            </a:r>
          </a:p>
          <a:p xmlns:a="http://schemas.openxmlformats.org/drawingml/2006/main">
            <a:r>
              <a:t/>
            </a:r>
          </a:p>
          <a:p xmlns:a="http://schemas.openxmlformats.org/drawingml/2006/main">
            <a:r>
              <a:t>[Sources]</a:t>
            </a:r>
          </a:p>
          <a:p xmlns:a="http://schemas.openxmlformats.org/drawingml/2006/main">
            <a:r>
              <a:t>- papers/Glyph_Visualization_A_Fail-Safe_Design_Scheme_Based_on_Quasi-Hamming_Distances.pdf, pp. 1–11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taxonomy and semantic mapping outside the computer-vision feature families.</a:t>
            </a:r>
          </a:p>
          <a:p xmlns:a="http://schemas.openxmlformats.org/drawingml/2006/main">
            <a:r>
              <a:t/>
            </a:r>
          </a:p>
          <a:p xmlns:a="http://schemas.openxmlformats.org/drawingml/2006/main">
            <a:r>
              <a:t>[Sources]</a:t>
            </a:r>
          </a:p>
          <a:p xmlns:a="http://schemas.openxmlformats.org/drawingml/2006/main">
            <a:r>
              <a:t>- papers/Taxonomy-Based_Glyph_Designwith_a_Case_Study_on_Visualizing_Workflows_of_Biological_Experiments.pdf, pp. 1–10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Experiment 1 included 12 novices and 12 experts; Experiment 2 retained 36 online participants after controls.</a:t>
            </a:r>
          </a:p>
          <a:p xmlns:a="http://schemas.openxmlformats.org/drawingml/2006/main">
            <a:r>
              <a:t/>
            </a:r>
          </a:p>
          <a:p xmlns:a="http://schemas.openxmlformats.org/drawingml/2006/main">
            <a:r>
              <a:t>[Sources]</a:t>
            </a:r>
          </a:p>
          <a:p xmlns:a="http://schemas.openxmlformats.org/drawingml/2006/main">
            <a:r>
              <a:t>- papers/The_Influence_of_Contour_on_Similarity_Perception_of_Star_Glyphs.pdf, pp. 1–11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paper to justify the study-design layer rather than an individual image-feature formula.</a:t>
            </a:r>
          </a:p>
          <a:p xmlns:a="http://schemas.openxmlformats.org/drawingml/2006/main">
            <a:r>
              <a:t/>
            </a:r>
          </a:p>
          <a:p xmlns:a="http://schemas.openxmlformats.org/drawingml/2006/main">
            <a:r>
              <a:t>[Sources]</a:t>
            </a:r>
          </a:p>
          <a:p xmlns:a="http://schemas.openxmlformats.org/drawingml/2006/main">
            <a:r>
              <a:t>- papers/A_Systematic_Review_of_Experimental_Studies_on_Data_Glyphs.pdf, pp. 1–17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 Git history: 4e5d7d64a (2026-06-01), c9616aed2 (2026-07-21), 31e075b7b (2026-07-28), fce7512f1 (2026-08-10)</a:t>
            </a:r>
          </a:p>
          <a:p xmlns:a="http://schemas.openxmlformats.org/drawingml/2006/main">
            <a:r>
              <a:t>- wiki/README.md</a:t>
            </a:r>
          </a:p>
          <a:p xmlns:a="http://schemas.openxmlformats.org/drawingml/2006/main">
            <a:r>
              <a:t>- wiki/dashboard-implementation.md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 wiki/README.md</a:t>
            </a:r>
          </a:p>
          <a:p xmlns:a="http://schemas.openxmlformats.org/drawingml/2006/main">
            <a:r>
              <a:t>- wiki/pipeline.md</a:t>
            </a:r>
          </a:p>
          <a:p xmlns:a="http://schemas.openxmlformats.org/drawingml/2006/main">
            <a:r>
              <a:t>- wiki/datasets-and-provenance.md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 code/thesis_pipeline/features/registry.py</a:t>
            </a:r>
          </a:p>
          <a:p xmlns:a="http://schemas.openxmlformats.org/drawingml/2006/main">
            <a:r>
              <a:t>- wiki/features-and-metrics.md</a:t>
            </a:r>
          </a:p>
          <a:p xmlns:a="http://schemas.openxmlformats.org/drawingml/2006/main">
            <a:r>
              <a:t>- wiki/literature-and-evidence.md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 wiki/README.md</a:t>
            </a:r>
          </a:p>
          <a:p xmlns:a="http://schemas.openxmlformats.org/drawingml/2006/main">
            <a:r>
              <a:t>- wiki/features-and-metrics.md</a:t>
            </a:r>
          </a:p>
          <a:p xmlns:a="http://schemas.openxmlformats.org/drawingml/2006/main">
            <a:r>
              <a:t>- wiki/evaluation-and-human-study.md</a:t>
            </a:r>
          </a:p>
          <a:p xmlns:a="http://schemas.openxmlformats.org/drawingml/2006/main">
            <a:r>
              <a:t>- icon_data/analysis/feature_v2_mask_overlays/082c5e659f3a2ac9.png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 icon_data/analysis/analysis_dashboard/index.html (served and browser-verified 2026-08-13)</a:t>
            </a:r>
          </a:p>
          <a:p xmlns:a="http://schemas.openxmlformats.org/drawingml/2006/main">
            <a:r>
              <a:t>- code/build_analysis_dashboard.py</a:t>
            </a:r>
          </a:p>
          <a:p xmlns:a="http://schemas.openxmlformats.org/drawingml/2006/main">
            <a:r>
              <a:t>- wiki/dashboard-ui.md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 icon_data/analysis/analysis_dashboard/index.html (served and browser-verified 2026-08-13)</a:t>
            </a:r>
          </a:p>
          <a:p xmlns:a="http://schemas.openxmlformats.org/drawingml/2006/main">
            <a:r>
              <a:t>- icon_data/analysis/analysis_dashboard/dashboard_data.json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 icon_data/analysis/analysis_dashboard/index.html (served and browser-verified 2026-08-13)</a:t>
            </a:r>
          </a:p>
          <a:p xmlns:a="http://schemas.openxmlformats.org/drawingml/2006/main">
            <a:r>
              <a:t>- wiki/dashboard-ui.md</a:t>
            </a:r>
          </a:p>
          <a:p xmlns:a="http://schemas.openxmlformats.org/drawingml/2006/main">
            <a:r>
              <a:t>- wiki/limitations-and-backlog.md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 wiki/README.md</a:t>
            </a:r>
          </a:p>
          <a:p xmlns:a="http://schemas.openxmlformats.org/drawingml/2006/main">
            <a:r>
              <a:t>- wiki/evaluation-and-human-study.md</a:t>
            </a:r>
          </a:p>
          <a:p xmlns:a="http://schemas.openxmlformats.org/drawingml/2006/main">
            <a:r>
              <a:t>- wiki/limitations-and-backlog.md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next-step design, not a completed or approved protocol.</a:t>
            </a:r>
          </a:p>
          <a:p xmlns:a="http://schemas.openxmlformats.org/drawingml/2006/main">
            <a:r>
              <a:t/>
            </a:r>
          </a:p>
          <a:p xmlns:a="http://schemas.openxmlformats.org/drawingml/2006/main">
            <a:r>
              <a:t>[Sources]</a:t>
            </a:r>
          </a:p>
          <a:p xmlns:a="http://schemas.openxmlformats.org/drawingml/2006/main">
            <a:r>
              <a:t>- wiki/evaluation-and-human-study.md</a:t>
            </a:r>
          </a:p>
          <a:p xmlns:a="http://schemas.openxmlformats.org/drawingml/2006/main">
            <a:r>
              <a:t>- wiki/literature-and-evidence.md</a:t>
            </a:r>
          </a:p>
          <a:p xmlns:a="http://schemas.openxmlformats.org/drawingml/2006/main">
            <a:r>
              <a:t>- papers/A_Systematic_Review_of_Experimental_Studies_on_Data_Glyphs.pdf</a:t>
            </a:r>
          </a:p>
          <a:p xmlns:a="http://schemas.openxmlformats.org/drawingml/2006/main">
            <a:r>
              <a:t>- papers/The_Influence_of_Contour_on_Similarity_Perception_of_Star_Glyphs.pdf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 wiki/thesis-overview.md</a:t>
            </a:r>
          </a:p>
          <a:p xmlns:a="http://schemas.openxmlformats.org/drawingml/2006/main">
            <a:r>
              <a:t>- wiki/evaluation-and-human-study.md</a:t>
            </a:r>
          </a:p>
          <a:p xmlns:a="http://schemas.openxmlformats.org/drawingml/2006/main">
            <a:r>
              <a:t>- wiki/limitations-and-backlog.md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e66f2785a048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ee83eea73e4f3a" /><Relationship Type="http://schemas.openxmlformats.org/officeDocument/2006/relationships/slideLayout" Target="/ppt/slideLayouts/slideLayout1.xml" Id="R98bbf4d6535241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bbf4d6535241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543751886854b1a" /><Relationship Type="http://schemas.openxmlformats.org/officeDocument/2006/relationships/notesSlide" Target="/ppt/notesSlides/notesSlide1.xml" Id="R12c6e11159304c4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da0e7caf48f4a73" /><Relationship Type="http://schemas.openxmlformats.org/officeDocument/2006/relationships/image" Target="/ppt/media/image.png" Id="R503075eff6444413" /><Relationship Type="http://schemas.openxmlformats.org/officeDocument/2006/relationships/notesSlide" Target="/ppt/notesSlides/notesSlide2.xml" Id="R290870703a4c48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fbd32a60cdf4e74" /><Relationship Type="http://schemas.openxmlformats.org/officeDocument/2006/relationships/notesSlide" Target="/ppt/notesSlides/notesSlide3.xml" Id="Ra3d174443ae84b0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0b6efec2cb94452" /><Relationship Type="http://schemas.openxmlformats.org/officeDocument/2006/relationships/notesSlide" Target="/ppt/notesSlides/notesSlide4.xml" Id="Re0a183e62daf49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13410e7db834629" /><Relationship Type="http://schemas.openxmlformats.org/officeDocument/2006/relationships/image" Target="/ppt/media/image2.png" Id="Rdd5670399428498e" /><Relationship Type="http://schemas.openxmlformats.org/officeDocument/2006/relationships/notesSlide" Target="/ppt/notesSlides/notesSlide5.xml" Id="R61b76e55932c46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89269cc33254a8d" /><Relationship Type="http://schemas.openxmlformats.org/officeDocument/2006/relationships/image" Target="/ppt/media/image3.png" Id="R5241367608af4d4f" /><Relationship Type="http://schemas.openxmlformats.org/officeDocument/2006/relationships/notesSlide" Target="/ppt/notesSlides/notesSlide6.xml" Id="R8d3841766012465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cb12a6c034243ec" /><Relationship Type="http://schemas.openxmlformats.org/officeDocument/2006/relationships/image" Target="/ppt/media/image4.png" Id="R179f643269954274" /><Relationship Type="http://schemas.openxmlformats.org/officeDocument/2006/relationships/notesSlide" Target="/ppt/notesSlides/notesSlide7.xml" Id="Re41784906a954d4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a7aa237a7ca4f2f" /><Relationship Type="http://schemas.openxmlformats.org/officeDocument/2006/relationships/image" Target="/ppt/media/image5.png" Id="R074bb903a9ab4e9d" /><Relationship Type="http://schemas.openxmlformats.org/officeDocument/2006/relationships/notesSlide" Target="/ppt/notesSlides/notesSlide8.xml" Id="R0ddc35533d1c475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1cd2c784ac14e86" /><Relationship Type="http://schemas.openxmlformats.org/officeDocument/2006/relationships/image" Target="/ppt/media/image6.png" Id="Rc92c9d0697b24eb0" /><Relationship Type="http://schemas.openxmlformats.org/officeDocument/2006/relationships/notesSlide" Target="/ppt/notesSlides/notesSlide9.xml" Id="Rd14b9f09013947c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e9834602a3e46ff" /><Relationship Type="http://schemas.openxmlformats.org/officeDocument/2006/relationships/image" Target="/ppt/media/image7.png" Id="R2c9348936b564673" /><Relationship Type="http://schemas.openxmlformats.org/officeDocument/2006/relationships/notesSlide" Target="/ppt/notesSlides/notesSlide10.xml" Id="R1dd8396fdbcf4de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dbfbc4663e54432" /><Relationship Type="http://schemas.openxmlformats.org/officeDocument/2006/relationships/image" Target="/ppt/media/image8.png" Id="R81b24504d56d495d" /><Relationship Type="http://schemas.openxmlformats.org/officeDocument/2006/relationships/notesSlide" Target="/ppt/notesSlides/notesSlide11.xml" Id="R63b91074694f49f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4840245c8ff4a94" /><Relationship Type="http://schemas.openxmlformats.org/officeDocument/2006/relationships/notesSlide" Target="/ppt/notesSlides/notesSlide12.xml" Id="Rddc79f3eab5f4c7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6397585aed5425a" /><Relationship Type="http://schemas.openxmlformats.org/officeDocument/2006/relationships/notesSlide" Target="/ppt/notesSlides/notesSlide13.xml" Id="Rbfd7f4bb40e74b4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439b51a27e7434a" /><Relationship Type="http://schemas.openxmlformats.org/officeDocument/2006/relationships/notesSlide" Target="/ppt/notesSlides/notesSlide14.xml" Id="R50702da61bf9425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cb8a0510daf4865" /><Relationship Type="http://schemas.openxmlformats.org/officeDocument/2006/relationships/image" Target="/ppt/media/image9.png" Id="R74c7bfa5252844d1" /><Relationship Type="http://schemas.openxmlformats.org/officeDocument/2006/relationships/notesSlide" Target="/ppt/notesSlides/notesSlide15.xml" Id="Rf040be7ba66b473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21a12c249344c0d" /><Relationship Type="http://schemas.openxmlformats.org/officeDocument/2006/relationships/image" Target="/ppt/media/image.jpeg" Id="Rcd43c4c4b4c64500" /><Relationship Type="http://schemas.openxmlformats.org/officeDocument/2006/relationships/notesSlide" Target="/ppt/notesSlides/notesSlide16.xml" Id="R271b2c8c66c34c6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fd88a7b55564e71" /><Relationship Type="http://schemas.openxmlformats.org/officeDocument/2006/relationships/image" Target="/ppt/media/image2.jpeg" Id="Ra1d53ef8743d45b3" /><Relationship Type="http://schemas.openxmlformats.org/officeDocument/2006/relationships/image" Target="/ppt/media/image3.jpeg" Id="R99f67cc5b1e24c56" /><Relationship Type="http://schemas.openxmlformats.org/officeDocument/2006/relationships/notesSlide" Target="/ppt/notesSlides/notesSlide17.xml" Id="R28130582ec7044c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c6031cf235a4a40" /><Relationship Type="http://schemas.openxmlformats.org/officeDocument/2006/relationships/image" Target="/ppt/media/image4.jpeg" Id="R4a7a487680914b27" /><Relationship Type="http://schemas.openxmlformats.org/officeDocument/2006/relationships/notesSlide" Target="/ppt/notesSlides/notesSlide18.xml" Id="Rf9ce396ca24b4e9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609246886a24dd8" /><Relationship Type="http://schemas.openxmlformats.org/officeDocument/2006/relationships/notesSlide" Target="/ppt/notesSlides/notesSlide19.xml" Id="Rdfc4e12be00b449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7a4241de1044d51" /><Relationship Type="http://schemas.openxmlformats.org/officeDocument/2006/relationships/notesSlide" Target="/ppt/notesSlides/notesSlide20.xml" Id="R1ff72f384dee4e1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85329613c664567" /><Relationship Type="http://schemas.openxmlformats.org/officeDocument/2006/relationships/notesSlide" Target="/ppt/notesSlides/notesSlide21.xml" Id="R3c3d00a7b593470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7A7AEE5-9C7A-4477-A5F4-941C0BFB2CDF}"/>
              </a:ext>
            </a:extLst>
          </p:cNvPr>
          <p:cNvSpPr>
            <a:spLocks xmlns:a="http://schemas.openxmlformats.org/drawingml/2006/main" noGrp="1"/>
          </p:cNvSpPr>
          <p:nvPr/>
        </p:nvSpPr>
        <p:spPr>
          <a:xfrm xmlns:a="http://schemas.openxmlformats.org/drawingml/2006/main">
            <a:off x="40005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THESIS PROGRESS PRESENTATION</a:t>
            </a:r>
          </a:p>
        </p:txBody>
      </p:sp>
      <p:sp>
        <p:nvSpPr>
          <p:cNvPr id="2" name="">
            <a:extLst xmlns:a="http://schemas.openxmlformats.org/drawingml/2006/main">
              <a:ext uri="{FF2B5EF4-FFF2-40B4-BE49-F238E27FC236}">
                <a16:creationId xmlns:a16="http://schemas.microsoft.com/office/drawing/2014/main" id="{E81C5F12-DCB8-4B94-94FD-536FF7E5803B}"/>
              </a:ext>
            </a:extLst>
          </p:cNvPr>
          <p:cNvSpPr>
            <a:spLocks xmlns:a="http://schemas.openxmlformats.org/drawingml/2006/main" noGrp="1"/>
          </p:cNvSpPr>
          <p:nvPr/>
        </p:nvSpPr>
        <p:spPr>
          <a:xfrm xmlns:a="http://schemas.openxmlformats.org/drawingml/2006/main">
            <a:off x="400050" y="1952625"/>
            <a:ext cx="10287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defRPr sz="5400" b="1">
                <a:solidFill>
                  <a:srgbClr val="111111"/>
                </a:solidFill>
                <a:latin typeface="Helvetica Neue"/>
                <a:ea typeface="Helvetica Neue"/>
                <a:cs typeface="Helvetica Neue"/>
              </a:defRPr>
            </a:pPr>
            <a:r>
              <a:rPr sz="5400" b="1">
                <a:solidFill>
                  <a:srgbClr val="111111"/>
                </a:solidFill>
                <a:latin typeface="Helvetica Neue"/>
                <a:ea typeface="Helvetica Neue"/>
                <a:cs typeface="Helvetica Neue"/>
              </a:rPr>
              <a:t>[THESIS TITLE]</a:t>
            </a:r>
          </a:p>
        </p:txBody>
      </p:sp>
      <p:sp>
        <p:nvSpPr>
          <p:cNvPr id="3" name="">
            <a:extLst xmlns:a="http://schemas.openxmlformats.org/drawingml/2006/main">
              <a:ext uri="{FF2B5EF4-FFF2-40B4-BE49-F238E27FC236}">
                <a16:creationId xmlns:a16="http://schemas.microsoft.com/office/drawing/2014/main" id="{5EF9EC8B-6F4D-45BE-AE3E-2E02D0663C84}"/>
              </a:ext>
            </a:extLst>
          </p:cNvPr>
          <p:cNvSpPr>
            <a:spLocks xmlns:a="http://schemas.openxmlformats.org/drawingml/2006/main" noGrp="1"/>
          </p:cNvSpPr>
          <p:nvPr/>
        </p:nvSpPr>
        <p:spPr>
          <a:xfrm xmlns:a="http://schemas.openxmlformats.org/drawingml/2006/main">
            <a:off x="400050" y="3533775"/>
            <a:ext cx="1790700" cy="47625"/>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6D3BAD0-8E1F-475E-A8B1-943BC9A912B1}"/>
              </a:ext>
            </a:extLst>
          </p:cNvPr>
          <p:cNvSpPr>
            <a:spLocks xmlns:a="http://schemas.openxmlformats.org/drawingml/2006/main" noGrp="1"/>
          </p:cNvSpPr>
          <p:nvPr/>
        </p:nvSpPr>
        <p:spPr>
          <a:xfrm xmlns:a="http://schemas.openxmlformats.org/drawingml/2006/main">
            <a:off x="400050" y="3943350"/>
            <a:ext cx="8096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0">
                <a:solidFill>
                  <a:srgbClr val="111111"/>
                </a:solidFill>
                <a:latin typeface="Helvetica Neue"/>
                <a:ea typeface="Helvetica Neue"/>
                <a:cs typeface="Helvetica Neue"/>
              </a:defRPr>
            </a:pPr>
            <a:r>
              <a:rPr sz="2250" b="0">
                <a:solidFill>
                  <a:srgbClr val="111111"/>
                </a:solidFill>
                <a:latin typeface="Helvetica Neue"/>
                <a:ea typeface="Helvetica Neue"/>
                <a:cs typeface="Helvetica Neue"/>
              </a:rPr>
              <a:t>Research journey, current progress, and next study</a:t>
            </a:r>
          </a:p>
        </p:txBody>
      </p:sp>
      <p:sp>
        <p:nvSpPr>
          <p:cNvPr id="5" name="">
            <a:extLst xmlns:a="http://schemas.openxmlformats.org/drawingml/2006/main">
              <a:ext uri="{FF2B5EF4-FFF2-40B4-BE49-F238E27FC236}">
                <a16:creationId xmlns:a16="http://schemas.microsoft.com/office/drawing/2014/main" id="{F0AABC99-599D-4B33-90B3-73ADDD814D79}"/>
              </a:ext>
            </a:extLst>
          </p:cNvPr>
          <p:cNvSpPr>
            <a:spLocks xmlns:a="http://schemas.openxmlformats.org/drawingml/2006/main" noGrp="1"/>
          </p:cNvSpPr>
          <p:nvPr/>
        </p:nvSpPr>
        <p:spPr>
          <a:xfrm xmlns:a="http://schemas.openxmlformats.org/drawingml/2006/main">
            <a:off x="400050" y="56007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E6672"/>
                </a:solidFill>
                <a:latin typeface="Helvetica Neue"/>
                <a:ea typeface="Helvetica Neue"/>
                <a:cs typeface="Helvetica Neue"/>
              </a:defRPr>
            </a:pPr>
            <a:r>
              <a:rPr sz="1350" b="0">
                <a:solidFill>
                  <a:srgbClr val="5E6672"/>
                </a:solidFill>
                <a:latin typeface="Helvetica Neue"/>
                <a:ea typeface="Helvetica Neue"/>
                <a:cs typeface="Helvetica Neue"/>
              </a:rPr>
              <a:t>Name · Programme · Supervisor · August 2026</a:t>
            </a:r>
          </a:p>
        </p:txBody>
      </p:sp>
    </p:spTree>
    <p:extLst>
      <p:ext uri="{BB962C8B-B14F-4D97-AF65-F5344CB8AC3E}">
        <p14:creationId xmlns:p14="http://schemas.microsoft.com/office/powerpoint/2010/main" val="18783937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6CD5A69-DEFD-4858-97E4-CFBEDC785713}"/>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01 · THE PROBLEM</a:t>
            </a:r>
          </a:p>
        </p:txBody>
      </p:sp>
      <p:sp>
        <p:nvSpPr>
          <p:cNvPr id="2" name="">
            <a:extLst xmlns:a="http://schemas.openxmlformats.org/drawingml/2006/main">
              <a:ext uri="{FF2B5EF4-FFF2-40B4-BE49-F238E27FC236}">
                <a16:creationId xmlns:a16="http://schemas.microsoft.com/office/drawing/2014/main" id="{CD4B0A3D-FBAF-4AF5-96AF-009445ABA392}"/>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D0B759C4-849C-48D9-812E-4B5B80239C6D}"/>
              </a:ext>
            </a:extLst>
          </p:cNvPr>
          <p:cNvSpPr>
            <a:spLocks xmlns:a="http://schemas.openxmlformats.org/drawingml/2006/main" noGrp="1"/>
          </p:cNvSpPr>
          <p:nvPr/>
        </p:nvSpPr>
        <p:spPr>
          <a:xfrm xmlns:a="http://schemas.openxmlformats.org/drawingml/2006/main">
            <a:off x="400050" y="742950"/>
            <a:ext cx="11391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75" b="1">
                <a:solidFill>
                  <a:srgbClr val="111111"/>
                </a:solidFill>
                <a:latin typeface="Helvetica Neue"/>
                <a:ea typeface="Helvetica Neue"/>
                <a:cs typeface="Helvetica Neue"/>
              </a:defRPr>
            </a:pPr>
            <a:r>
              <a:rPr sz="3375" b="1">
                <a:solidFill>
                  <a:srgbClr val="111111"/>
                </a:solidFill>
                <a:latin typeface="Helvetica Neue"/>
                <a:ea typeface="Helvetica Neue"/>
                <a:cs typeface="Helvetica Neue"/>
              </a:rPr>
              <a:t>Visual similarity creates a practical comparison problem</a:t>
            </a:r>
          </a:p>
        </p:txBody>
      </p:sp>
      <p:sp>
        <p:nvSpPr>
          <p:cNvPr id="4" name="">
            <a:extLst xmlns:a="http://schemas.openxmlformats.org/drawingml/2006/main">
              <a:ext uri="{FF2B5EF4-FFF2-40B4-BE49-F238E27FC236}">
                <a16:creationId xmlns:a16="http://schemas.microsoft.com/office/drawing/2014/main" id="{F033A9B5-2B3C-42E6-950B-81253B28B48E}"/>
              </a:ext>
            </a:extLst>
          </p:cNvPr>
          <p:cNvSpPr>
            <a:spLocks xmlns:a="http://schemas.openxmlformats.org/drawingml/2006/main" noGrp="1"/>
          </p:cNvSpPr>
          <p:nvPr/>
        </p:nvSpPr>
        <p:spPr>
          <a:xfrm xmlns:a="http://schemas.openxmlformats.org/drawingml/2006/main">
            <a:off x="400050" y="2133600"/>
            <a:ext cx="485775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a:solidFill>
                  <a:srgbClr val="111111"/>
                </a:solidFill>
                <a:latin typeface="Helvetica Neue"/>
                <a:ea typeface="Helvetica Neue"/>
                <a:cs typeface="Helvetica Neue"/>
              </a:defRPr>
            </a:pPr>
            <a:r>
              <a:rPr sz="1875" b="0">
                <a:solidFill>
                  <a:srgbClr val="111111"/>
                </a:solidFill>
                <a:latin typeface="Helvetica Neue"/>
                <a:ea typeface="Helvetica Neue"/>
                <a:cs typeface="Helvetica Neue"/>
              </a:rPr>
              <a:t>Large icon collections contain repeated shapes, subtle variations, and icons that may become difficult to distinguish. Manual inspection cannot consistently explain which visible properties make two icons appear close or different.</a:t>
            </a:r>
          </a:p>
        </p:txBody>
      </p:sp>
      <p:sp>
        <p:nvSpPr>
          <p:cNvPr id="5" name="">
            <a:extLst xmlns:a="http://schemas.openxmlformats.org/drawingml/2006/main">
              <a:ext uri="{FF2B5EF4-FFF2-40B4-BE49-F238E27FC236}">
                <a16:creationId xmlns:a16="http://schemas.microsoft.com/office/drawing/2014/main" id="{435A60B1-27AC-4328-A634-D242F2F08907}"/>
              </a:ext>
            </a:extLst>
          </p:cNvPr>
          <p:cNvSpPr>
            <a:spLocks xmlns:a="http://schemas.openxmlformats.org/drawingml/2006/main" noGrp="1"/>
          </p:cNvSpPr>
          <p:nvPr/>
        </p:nvSpPr>
        <p:spPr>
          <a:xfrm xmlns:a="http://schemas.openxmlformats.org/drawingml/2006/main">
            <a:off x="400050" y="4171950"/>
            <a:ext cx="4857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E6672"/>
                </a:solidFill>
                <a:latin typeface="Helvetica Neue"/>
                <a:ea typeface="Helvetica Neue"/>
                <a:cs typeface="Helvetica Neue"/>
              </a:defRPr>
            </a:pPr>
            <a:r>
              <a:rPr sz="1650" b="0">
                <a:solidFill>
                  <a:srgbClr val="5E6672"/>
                </a:solidFill>
                <a:latin typeface="Helvetica Neue"/>
                <a:ea typeface="Helvetica Neue"/>
                <a:cs typeface="Helvetica Neue"/>
              </a:rPr>
              <a:t>The thesis therefore needs an auditable bridge between visible pixels and later human judgments—without confusing visual similarity with semantic meaning.</a:t>
            </a:r>
          </a:p>
        </p:txBody>
      </p:sp>
      <p:sp>
        <p:nvSpPr>
          <p:cNvPr id="6" name="">
            <a:extLst xmlns:a="http://schemas.openxmlformats.org/drawingml/2006/main">
              <a:ext uri="{FF2B5EF4-FFF2-40B4-BE49-F238E27FC236}">
                <a16:creationId xmlns:a16="http://schemas.microsoft.com/office/drawing/2014/main" id="{1419E979-4A9F-4E41-8356-D18C13FCE345}"/>
              </a:ext>
            </a:extLst>
          </p:cNvPr>
          <p:cNvSpPr>
            <a:spLocks xmlns:a="http://schemas.openxmlformats.org/drawingml/2006/main" noGrp="1"/>
          </p:cNvSpPr>
          <p:nvPr/>
        </p:nvSpPr>
        <p:spPr>
          <a:xfrm xmlns:a="http://schemas.openxmlformats.org/drawingml/2006/main">
            <a:off x="5810250" y="1676400"/>
            <a:ext cx="5981700" cy="4305300"/>
          </a:xfrm>
          <a:prstGeom xmlns:a="http://schemas.openxmlformats.org/drawingml/2006/main" prst="rect">
            <a:avLst/>
          </a:prstGeom>
          <a:solidFill xmlns:a="http://schemas.openxmlformats.org/drawingml/2006/main">
            <a:srgbClr val="F1F2F3"/>
          </a:solidFill>
          <a:ln xmlns:a="http://schemas.openxmlformats.org/drawingml/2006/main" w="9525">
            <a:solidFill>
              <a:srgbClr val="B8BCC4"/>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03075eff6444413"/>
          <a:srcRect xmlns:a="http://schemas.openxmlformats.org/drawingml/2006/main" l="0" t="23556" r="0" b="23556"/>
          <a:stretch xmlns:a="http://schemas.openxmlformats.org/drawingml/2006/main">
            <a:fillRect l="0" t="0" r="0" b="0"/>
          </a:stretch>
        </p:blipFill>
        <p:spPr>
          <a:xfrm xmlns:a="http://schemas.openxmlformats.org/drawingml/2006/main">
            <a:off x="5962650" y="1819275"/>
            <a:ext cx="5676900" cy="4029075"/>
          </a:xfrm>
          <a:prstGeom xmlns:a="http://schemas.openxmlformats.org/drawingml/2006/main" prst="rect">
            <a:avLst/>
          </a:prstGeom>
        </p:spPr>
      </p:pic>
    </p:spTree>
    <p:extLst>
      <p:ext uri="{BB962C8B-B14F-4D97-AF65-F5344CB8AC3E}">
        <p14:creationId xmlns:p14="http://schemas.microsoft.com/office/powerpoint/2010/main" val="79005668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961EEF6-7A3C-446A-916D-9D69BEB6362D}"/>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02–03 · AIM AND RESEARCH QUESTIONS</a:t>
            </a:r>
          </a:p>
        </p:txBody>
      </p:sp>
      <p:sp>
        <p:nvSpPr>
          <p:cNvPr id="2" name="">
            <a:extLst xmlns:a="http://schemas.openxmlformats.org/drawingml/2006/main">
              <a:ext uri="{FF2B5EF4-FFF2-40B4-BE49-F238E27FC236}">
                <a16:creationId xmlns:a16="http://schemas.microsoft.com/office/drawing/2014/main" id="{8D3E517A-5E5B-4BD5-809B-8D6A670A73B2}"/>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43D56CF5-B4E1-46C9-9A9F-BD9B76A21499}"/>
              </a:ext>
            </a:extLst>
          </p:cNvPr>
          <p:cNvSpPr>
            <a:spLocks xmlns:a="http://schemas.openxmlformats.org/drawingml/2006/main" noGrp="1"/>
          </p:cNvSpPr>
          <p:nvPr/>
        </p:nvSpPr>
        <p:spPr>
          <a:xfrm xmlns:a="http://schemas.openxmlformats.org/drawingml/2006/main">
            <a:off x="400050" y="742950"/>
            <a:ext cx="113919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00" b="1">
                <a:solidFill>
                  <a:srgbClr val="111111"/>
                </a:solidFill>
                <a:latin typeface="Helvetica Neue"/>
                <a:ea typeface="Helvetica Neue"/>
                <a:cs typeface="Helvetica Neue"/>
              </a:defRPr>
            </a:pPr>
            <a:r>
              <a:rPr sz="3300" b="1">
                <a:solidFill>
                  <a:srgbClr val="111111"/>
                </a:solidFill>
                <a:latin typeface="Helvetica Neue"/>
                <a:ea typeface="Helvetica Neue"/>
                <a:cs typeface="Helvetica Neue"/>
              </a:rPr>
              <a:t>The study connects computer measurements with human responses</a:t>
            </a:r>
          </a:p>
        </p:txBody>
      </p:sp>
      <p:sp>
        <p:nvSpPr>
          <p:cNvPr id="4" name="">
            <a:extLst xmlns:a="http://schemas.openxmlformats.org/drawingml/2006/main">
              <a:ext uri="{FF2B5EF4-FFF2-40B4-BE49-F238E27FC236}">
                <a16:creationId xmlns:a16="http://schemas.microsoft.com/office/drawing/2014/main" id="{F3D90F3F-5FDF-4AF5-92A5-D32B4A3221AE}"/>
              </a:ext>
            </a:extLst>
          </p:cNvPr>
          <p:cNvSpPr>
            <a:spLocks xmlns:a="http://schemas.openxmlformats.org/drawingml/2006/main" noGrp="1"/>
          </p:cNvSpPr>
          <p:nvPr/>
        </p:nvSpPr>
        <p:spPr>
          <a:xfrm xmlns:a="http://schemas.openxmlformats.org/drawingml/2006/main">
            <a:off x="400050" y="1628775"/>
            <a:ext cx="108394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5E6672"/>
                </a:solidFill>
                <a:latin typeface="Helvetica Neue"/>
                <a:ea typeface="Helvetica Neue"/>
                <a:cs typeface="Helvetica Neue"/>
              </a:defRPr>
            </a:pPr>
            <a:r>
              <a:rPr sz="1725" b="0">
                <a:solidFill>
                  <a:srgbClr val="5E6672"/>
                </a:solidFill>
                <a:latin typeface="Helvetica Neue"/>
                <a:ea typeface="Helvetica Neue"/>
                <a:cs typeface="Helvetica Neue"/>
              </a:rPr>
              <a:t>Working aim: organize literature-supported visible icon properties into measurable feature families, then test where those measurements agree—or disagree—with human identification and perception.</a:t>
            </a:r>
          </a:p>
        </p:txBody>
      </p:sp>
      <p:sp>
        <p:nvSpPr>
          <p:cNvPr id="5" name="">
            <a:extLst xmlns:a="http://schemas.openxmlformats.org/drawingml/2006/main">
              <a:ext uri="{FF2B5EF4-FFF2-40B4-BE49-F238E27FC236}">
                <a16:creationId xmlns:a16="http://schemas.microsoft.com/office/drawing/2014/main" id="{334D1702-E355-4BEE-A94E-D1AF88DD2883}"/>
              </a:ext>
            </a:extLst>
          </p:cNvPr>
          <p:cNvSpPr>
            <a:spLocks xmlns:a="http://schemas.openxmlformats.org/drawingml/2006/main" noGrp="1"/>
          </p:cNvSpPr>
          <p:nvPr/>
        </p:nvSpPr>
        <p:spPr>
          <a:xfrm xmlns:a="http://schemas.openxmlformats.org/drawingml/2006/main">
            <a:off x="400050" y="2809875"/>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RQ1</a:t>
            </a:r>
          </a:p>
        </p:txBody>
      </p:sp>
      <p:sp>
        <p:nvSpPr>
          <p:cNvPr id="6" name="">
            <a:extLst xmlns:a="http://schemas.openxmlformats.org/drawingml/2006/main">
              <a:ext uri="{FF2B5EF4-FFF2-40B4-BE49-F238E27FC236}">
                <a16:creationId xmlns:a16="http://schemas.microsoft.com/office/drawing/2014/main" id="{F16F1FBD-0CD7-4BE9-B9CE-70F17285B862}"/>
              </a:ext>
            </a:extLst>
          </p:cNvPr>
          <p:cNvSpPr>
            <a:spLocks xmlns:a="http://schemas.openxmlformats.org/drawingml/2006/main" noGrp="1"/>
          </p:cNvSpPr>
          <p:nvPr/>
        </p:nvSpPr>
        <p:spPr>
          <a:xfrm xmlns:a="http://schemas.openxmlformats.org/drawingml/2006/main">
            <a:off x="1600200" y="28003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a:solidFill>
                  <a:srgbClr val="111111"/>
                </a:solidFill>
                <a:latin typeface="Helvetica Neue"/>
                <a:ea typeface="Helvetica Neue"/>
                <a:cs typeface="Helvetica Neue"/>
              </a:defRPr>
            </a:pPr>
            <a:r>
              <a:rPr sz="1875" b="0">
                <a:solidFill>
                  <a:srgbClr val="111111"/>
                </a:solidFill>
                <a:latin typeface="Helvetica Neue"/>
                <a:ea typeface="Helvetica Neue"/>
                <a:cs typeface="Helvetica Neue"/>
              </a:rPr>
              <a:t>Which visible properties can be measured consistently from normalized icon images?</a:t>
            </a:r>
          </a:p>
        </p:txBody>
      </p:sp>
      <p:sp>
        <p:nvSpPr>
          <p:cNvPr id="7" name="">
            <a:extLst xmlns:a="http://schemas.openxmlformats.org/drawingml/2006/main">
              <a:ext uri="{FF2B5EF4-FFF2-40B4-BE49-F238E27FC236}">
                <a16:creationId xmlns:a16="http://schemas.microsoft.com/office/drawing/2014/main" id="{D163A5FE-7F6A-44E6-871C-A8CBC6A45C08}"/>
              </a:ext>
            </a:extLst>
          </p:cNvPr>
          <p:cNvSpPr>
            <a:spLocks xmlns:a="http://schemas.openxmlformats.org/drawingml/2006/main" noGrp="1"/>
          </p:cNvSpPr>
          <p:nvPr/>
        </p:nvSpPr>
        <p:spPr>
          <a:xfrm xmlns:a="http://schemas.openxmlformats.org/drawingml/2006/main">
            <a:off x="400050" y="3533775"/>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AF42519-4A1B-44D5-89CE-1BF61A2A2F77}"/>
              </a:ext>
            </a:extLst>
          </p:cNvPr>
          <p:cNvSpPr>
            <a:spLocks xmlns:a="http://schemas.openxmlformats.org/drawingml/2006/main" noGrp="1"/>
          </p:cNvSpPr>
          <p:nvPr/>
        </p:nvSpPr>
        <p:spPr>
          <a:xfrm xmlns:a="http://schemas.openxmlformats.org/drawingml/2006/main">
            <a:off x="400050" y="382905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RQ2</a:t>
            </a:r>
          </a:p>
        </p:txBody>
      </p:sp>
      <p:sp>
        <p:nvSpPr>
          <p:cNvPr id="9" name="">
            <a:extLst xmlns:a="http://schemas.openxmlformats.org/drawingml/2006/main">
              <a:ext uri="{FF2B5EF4-FFF2-40B4-BE49-F238E27FC236}">
                <a16:creationId xmlns:a16="http://schemas.microsoft.com/office/drawing/2014/main" id="{AB85C23B-D421-4D5C-AD1C-577983CF9493}"/>
              </a:ext>
            </a:extLst>
          </p:cNvPr>
          <p:cNvSpPr>
            <a:spLocks xmlns:a="http://schemas.openxmlformats.org/drawingml/2006/main" noGrp="1"/>
          </p:cNvSpPr>
          <p:nvPr/>
        </p:nvSpPr>
        <p:spPr>
          <a:xfrm xmlns:a="http://schemas.openxmlformats.org/drawingml/2006/main">
            <a:off x="1600200" y="3819525"/>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a:solidFill>
                  <a:srgbClr val="111111"/>
                </a:solidFill>
                <a:latin typeface="Helvetica Neue"/>
                <a:ea typeface="Helvetica Neue"/>
                <a:cs typeface="Helvetica Neue"/>
              </a:defRPr>
            </a:pPr>
            <a:r>
              <a:rPr sz="1875" b="0">
                <a:solidFill>
                  <a:srgbClr val="111111"/>
                </a:solidFill>
                <a:latin typeface="Helvetica Neue"/>
                <a:ea typeface="Helvetica Neue"/>
                <a:cs typeface="Helvetica Neue"/>
              </a:rPr>
              <a:t>How can those measurements describe similarity, distance, and potential confusability?</a:t>
            </a:r>
          </a:p>
        </p:txBody>
      </p:sp>
      <p:sp>
        <p:nvSpPr>
          <p:cNvPr id="10" name="">
            <a:extLst xmlns:a="http://schemas.openxmlformats.org/drawingml/2006/main">
              <a:ext uri="{FF2B5EF4-FFF2-40B4-BE49-F238E27FC236}">
                <a16:creationId xmlns:a16="http://schemas.microsoft.com/office/drawing/2014/main" id="{2CF59C9D-A296-4348-9D57-6778A136EF4B}"/>
              </a:ext>
            </a:extLst>
          </p:cNvPr>
          <p:cNvSpPr>
            <a:spLocks xmlns:a="http://schemas.openxmlformats.org/drawingml/2006/main" noGrp="1"/>
          </p:cNvSpPr>
          <p:nvPr/>
        </p:nvSpPr>
        <p:spPr>
          <a:xfrm xmlns:a="http://schemas.openxmlformats.org/drawingml/2006/main">
            <a:off x="400050" y="4552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7949220-8FAF-43EF-BCA4-26B2F8C1AFF3}"/>
              </a:ext>
            </a:extLst>
          </p:cNvPr>
          <p:cNvSpPr>
            <a:spLocks xmlns:a="http://schemas.openxmlformats.org/drawingml/2006/main" noGrp="1"/>
          </p:cNvSpPr>
          <p:nvPr/>
        </p:nvSpPr>
        <p:spPr>
          <a:xfrm xmlns:a="http://schemas.openxmlformats.org/drawingml/2006/main">
            <a:off x="400050" y="4848225"/>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RQ3</a:t>
            </a:r>
          </a:p>
        </p:txBody>
      </p:sp>
      <p:sp>
        <p:nvSpPr>
          <p:cNvPr id="12" name="">
            <a:extLst xmlns:a="http://schemas.openxmlformats.org/drawingml/2006/main">
              <a:ext uri="{FF2B5EF4-FFF2-40B4-BE49-F238E27FC236}">
                <a16:creationId xmlns:a16="http://schemas.microsoft.com/office/drawing/2014/main" id="{7A16E0DB-03F8-42C9-834F-BECEEC774ADD}"/>
              </a:ext>
            </a:extLst>
          </p:cNvPr>
          <p:cNvSpPr>
            <a:spLocks xmlns:a="http://schemas.openxmlformats.org/drawingml/2006/main" noGrp="1"/>
          </p:cNvSpPr>
          <p:nvPr/>
        </p:nvSpPr>
        <p:spPr>
          <a:xfrm xmlns:a="http://schemas.openxmlformats.org/drawingml/2006/main">
            <a:off x="1600200" y="483870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a:solidFill>
                  <a:srgbClr val="111111"/>
                </a:solidFill>
                <a:latin typeface="Helvetica Neue"/>
                <a:ea typeface="Helvetica Neue"/>
                <a:cs typeface="Helvetica Neue"/>
              </a:defRPr>
            </a:pPr>
            <a:r>
              <a:rPr sz="1875" b="0">
                <a:solidFill>
                  <a:srgbClr val="111111"/>
                </a:solidFill>
                <a:latin typeface="Helvetica Neue"/>
                <a:ea typeface="Helvetica Neue"/>
                <a:cs typeface="Helvetica Neue"/>
              </a:rPr>
              <a:t>How well do computer-side measurements correspond to human identification and similarity judgments?</a:t>
            </a:r>
          </a:p>
        </p:txBody>
      </p:sp>
    </p:spTree>
    <p:extLst>
      <p:ext uri="{BB962C8B-B14F-4D97-AF65-F5344CB8AC3E}">
        <p14:creationId xmlns:p14="http://schemas.microsoft.com/office/powerpoint/2010/main" val="45035896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62B6078-7F93-4A9C-AB23-DE2FAEA1586A}"/>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04 · LITERATURE REVIEW</a:t>
            </a:r>
          </a:p>
        </p:txBody>
      </p:sp>
      <p:sp>
        <p:nvSpPr>
          <p:cNvPr id="2" name="">
            <a:extLst xmlns:a="http://schemas.openxmlformats.org/drawingml/2006/main">
              <a:ext uri="{FF2B5EF4-FFF2-40B4-BE49-F238E27FC236}">
                <a16:creationId xmlns:a16="http://schemas.microsoft.com/office/drawing/2014/main" id="{D4DECE00-6A33-469E-A5F7-F81B8F17164F}"/>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A94209F5-CCA4-424A-AAF5-3D5CC4B2CC95}"/>
              </a:ext>
            </a:extLst>
          </p:cNvPr>
          <p:cNvSpPr>
            <a:spLocks xmlns:a="http://schemas.openxmlformats.org/drawingml/2006/main" noGrp="1"/>
          </p:cNvSpPr>
          <p:nvPr/>
        </p:nvSpPr>
        <p:spPr>
          <a:xfrm xmlns:a="http://schemas.openxmlformats.org/drawingml/2006/main">
            <a:off x="400050" y="742950"/>
            <a:ext cx="11391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00" b="1">
                <a:solidFill>
                  <a:srgbClr val="111111"/>
                </a:solidFill>
                <a:latin typeface="Helvetica Neue"/>
                <a:ea typeface="Helvetica Neue"/>
                <a:cs typeface="Helvetica Neue"/>
              </a:defRPr>
            </a:pPr>
            <a:r>
              <a:rPr sz="3300" b="1">
                <a:solidFill>
                  <a:srgbClr val="111111"/>
                </a:solidFill>
                <a:latin typeface="Helvetica Neue"/>
                <a:ea typeface="Helvetica Neue"/>
                <a:cs typeface="Helvetica Neue"/>
              </a:rPr>
              <a:t>Seven papers define four parts of the thesis</a:t>
            </a:r>
          </a:p>
        </p:txBody>
      </p:sp>
      <p:sp>
        <p:nvSpPr>
          <p:cNvPr id="4" name="">
            <a:extLst xmlns:a="http://schemas.openxmlformats.org/drawingml/2006/main">
              <a:ext uri="{FF2B5EF4-FFF2-40B4-BE49-F238E27FC236}">
                <a16:creationId xmlns:a16="http://schemas.microsoft.com/office/drawing/2014/main" id="{11F413E7-E3C5-47DD-9FEF-85FD591749FB}"/>
              </a:ext>
            </a:extLst>
          </p:cNvPr>
          <p:cNvSpPr>
            <a:spLocks xmlns:a="http://schemas.openxmlformats.org/drawingml/2006/main" noGrp="1"/>
          </p:cNvSpPr>
          <p:nvPr/>
        </p:nvSpPr>
        <p:spPr>
          <a:xfrm xmlns:a="http://schemas.openxmlformats.org/drawingml/2006/main">
            <a:off x="400050" y="15430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E6672"/>
                </a:solidFill>
                <a:latin typeface="Helvetica Neue"/>
                <a:ea typeface="Helvetica Neue"/>
                <a:cs typeface="Helvetica Neue"/>
              </a:defRPr>
            </a:pPr>
            <a:r>
              <a:rPr sz="1650" b="0">
                <a:solidFill>
                  <a:srgbClr val="5E6672"/>
                </a:solidFill>
                <a:latin typeface="Helvetica Neue"/>
                <a:ea typeface="Helvetica Neue"/>
                <a:cs typeface="Helvetica Neue"/>
              </a:rPr>
              <a:t>The literature does not provide one complete model. Instead, it contributes complementary evidence for measurement, perceptual design, distinguishability, and evaluation.</a:t>
            </a:r>
          </a:p>
        </p:txBody>
      </p:sp>
      <p:sp>
        <p:nvSpPr>
          <p:cNvPr id="5" name="">
            <a:extLst xmlns:a="http://schemas.openxmlformats.org/drawingml/2006/main">
              <a:ext uri="{FF2B5EF4-FFF2-40B4-BE49-F238E27FC236}">
                <a16:creationId xmlns:a16="http://schemas.microsoft.com/office/drawing/2014/main" id="{7C5481FC-C5A3-47B2-A22A-9E744B7A529C}"/>
              </a:ext>
            </a:extLst>
          </p:cNvPr>
          <p:cNvSpPr>
            <a:spLocks xmlns:a="http://schemas.openxmlformats.org/drawingml/2006/main" noGrp="1"/>
          </p:cNvSpPr>
          <p:nvPr/>
        </p:nvSpPr>
        <p:spPr>
          <a:xfrm xmlns:a="http://schemas.openxmlformats.org/drawingml/2006/main">
            <a:off x="400050" y="2571750"/>
            <a:ext cx="2247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MEASUREMENT</a:t>
            </a:r>
          </a:p>
        </p:txBody>
      </p:sp>
      <p:sp>
        <p:nvSpPr>
          <p:cNvPr id="6" name="">
            <a:extLst xmlns:a="http://schemas.openxmlformats.org/drawingml/2006/main">
              <a:ext uri="{FF2B5EF4-FFF2-40B4-BE49-F238E27FC236}">
                <a16:creationId xmlns:a16="http://schemas.microsoft.com/office/drawing/2014/main" id="{89257EED-138A-4143-9D14-141099037DDA}"/>
              </a:ext>
            </a:extLst>
          </p:cNvPr>
          <p:cNvSpPr>
            <a:spLocks xmlns:a="http://schemas.openxmlformats.org/drawingml/2006/main" noGrp="1"/>
          </p:cNvSpPr>
          <p:nvPr/>
        </p:nvSpPr>
        <p:spPr>
          <a:xfrm xmlns:a="http://schemas.openxmlformats.org/drawingml/2006/main">
            <a:off x="2781300" y="255270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Forsythe · Garcia</a:t>
            </a:r>
          </a:p>
        </p:txBody>
      </p:sp>
      <p:sp>
        <p:nvSpPr>
          <p:cNvPr id="7" name="">
            <a:extLst xmlns:a="http://schemas.openxmlformats.org/drawingml/2006/main">
              <a:ext uri="{FF2B5EF4-FFF2-40B4-BE49-F238E27FC236}">
                <a16:creationId xmlns:a16="http://schemas.microsoft.com/office/drawing/2014/main" id="{6D8BA9C4-11B7-4DEB-B415-FB10CF14B747}"/>
              </a:ext>
            </a:extLst>
          </p:cNvPr>
          <p:cNvSpPr>
            <a:spLocks xmlns:a="http://schemas.openxmlformats.org/drawingml/2006/main" noGrp="1"/>
          </p:cNvSpPr>
          <p:nvPr/>
        </p:nvSpPr>
        <p:spPr>
          <a:xfrm xmlns:a="http://schemas.openxmlformats.org/drawingml/2006/main">
            <a:off x="6667500" y="2543175"/>
            <a:ext cx="476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E6672"/>
                </a:solidFill>
                <a:latin typeface="Helvetica Neue"/>
                <a:ea typeface="Helvetica Neue"/>
                <a:cs typeface="Helvetica Neue"/>
              </a:defRPr>
            </a:pPr>
            <a:r>
              <a:rPr sz="1350" b="0">
                <a:solidFill>
                  <a:srgbClr val="5E6672"/>
                </a:solidFill>
                <a:latin typeface="Helvetica Neue"/>
                <a:ea typeface="Helvetica Neue"/>
                <a:cs typeface="Helvetica Neue"/>
              </a:rPr>
              <a:t>Complexity, structure, abstractness, and the boundary between pixels and context.</a:t>
            </a:r>
          </a:p>
        </p:txBody>
      </p:sp>
      <p:sp>
        <p:nvSpPr>
          <p:cNvPr id="8" name="">
            <a:extLst xmlns:a="http://schemas.openxmlformats.org/drawingml/2006/main">
              <a:ext uri="{FF2B5EF4-FFF2-40B4-BE49-F238E27FC236}">
                <a16:creationId xmlns:a16="http://schemas.microsoft.com/office/drawing/2014/main" id="{A88F889B-A1E2-450E-AB55-0CFFA469F1F3}"/>
              </a:ext>
            </a:extLst>
          </p:cNvPr>
          <p:cNvSpPr>
            <a:spLocks xmlns:a="http://schemas.openxmlformats.org/drawingml/2006/main" noGrp="1"/>
          </p:cNvSpPr>
          <p:nvPr/>
        </p:nvSpPr>
        <p:spPr>
          <a:xfrm xmlns:a="http://schemas.openxmlformats.org/drawingml/2006/main">
            <a:off x="400050" y="31432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A1D87B9-B000-4F82-B0A0-471600931B34}"/>
              </a:ext>
            </a:extLst>
          </p:cNvPr>
          <p:cNvSpPr>
            <a:spLocks xmlns:a="http://schemas.openxmlformats.org/drawingml/2006/main" noGrp="1"/>
          </p:cNvSpPr>
          <p:nvPr/>
        </p:nvSpPr>
        <p:spPr>
          <a:xfrm xmlns:a="http://schemas.openxmlformats.org/drawingml/2006/main">
            <a:off x="400050" y="3419475"/>
            <a:ext cx="2247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VISUAL FOUNDATIONS</a:t>
            </a:r>
          </a:p>
        </p:txBody>
      </p:sp>
      <p:sp>
        <p:nvSpPr>
          <p:cNvPr id="10" name="">
            <a:extLst xmlns:a="http://schemas.openxmlformats.org/drawingml/2006/main">
              <a:ext uri="{FF2B5EF4-FFF2-40B4-BE49-F238E27FC236}">
                <a16:creationId xmlns:a16="http://schemas.microsoft.com/office/drawing/2014/main" id="{21669228-94DA-4EA0-98E4-7F81ACF461B5}"/>
              </a:ext>
            </a:extLst>
          </p:cNvPr>
          <p:cNvSpPr>
            <a:spLocks xmlns:a="http://schemas.openxmlformats.org/drawingml/2006/main" noGrp="1"/>
          </p:cNvSpPr>
          <p:nvPr/>
        </p:nvSpPr>
        <p:spPr>
          <a:xfrm xmlns:a="http://schemas.openxmlformats.org/drawingml/2006/main">
            <a:off x="2781300" y="3400425"/>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Borgo et al.</a:t>
            </a:r>
          </a:p>
        </p:txBody>
      </p:sp>
      <p:sp>
        <p:nvSpPr>
          <p:cNvPr id="11" name="">
            <a:extLst xmlns:a="http://schemas.openxmlformats.org/drawingml/2006/main">
              <a:ext uri="{FF2B5EF4-FFF2-40B4-BE49-F238E27FC236}">
                <a16:creationId xmlns:a16="http://schemas.microsoft.com/office/drawing/2014/main" id="{E0D6EE4B-3C19-430B-911E-7A41C384AA05}"/>
              </a:ext>
            </a:extLst>
          </p:cNvPr>
          <p:cNvSpPr>
            <a:spLocks xmlns:a="http://schemas.openxmlformats.org/drawingml/2006/main" noGrp="1"/>
          </p:cNvSpPr>
          <p:nvPr/>
        </p:nvSpPr>
        <p:spPr>
          <a:xfrm xmlns:a="http://schemas.openxmlformats.org/drawingml/2006/main">
            <a:off x="6667500" y="3390900"/>
            <a:ext cx="476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E6672"/>
                </a:solidFill>
                <a:latin typeface="Helvetica Neue"/>
                <a:ea typeface="Helvetica Neue"/>
                <a:cs typeface="Helvetica Neue"/>
              </a:defRPr>
            </a:pPr>
            <a:r>
              <a:rPr sz="1350" b="0">
                <a:solidFill>
                  <a:srgbClr val="5E6672"/>
                </a:solidFill>
                <a:latin typeface="Helvetica Neue"/>
                <a:ea typeface="Helvetica Neue"/>
                <a:cs typeface="Helvetica Neue"/>
              </a:rPr>
              <a:t>Visual channels, Gestalt organization, and task-dependent glyph design.</a:t>
            </a:r>
          </a:p>
        </p:txBody>
      </p:sp>
      <p:sp>
        <p:nvSpPr>
          <p:cNvPr id="12" name="">
            <a:extLst xmlns:a="http://schemas.openxmlformats.org/drawingml/2006/main">
              <a:ext uri="{FF2B5EF4-FFF2-40B4-BE49-F238E27FC236}">
                <a16:creationId xmlns:a16="http://schemas.microsoft.com/office/drawing/2014/main" id="{59917A49-85B7-40FB-AE87-2D6E84B098BA}"/>
              </a:ext>
            </a:extLst>
          </p:cNvPr>
          <p:cNvSpPr>
            <a:spLocks xmlns:a="http://schemas.openxmlformats.org/drawingml/2006/main" noGrp="1"/>
          </p:cNvSpPr>
          <p:nvPr/>
        </p:nvSpPr>
        <p:spPr>
          <a:xfrm xmlns:a="http://schemas.openxmlformats.org/drawingml/2006/main">
            <a:off x="400050" y="3990975"/>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4204742-B150-4777-89B8-E6FD833D90C1}"/>
              </a:ext>
            </a:extLst>
          </p:cNvPr>
          <p:cNvSpPr>
            <a:spLocks xmlns:a="http://schemas.openxmlformats.org/drawingml/2006/main" noGrp="1"/>
          </p:cNvSpPr>
          <p:nvPr/>
        </p:nvSpPr>
        <p:spPr>
          <a:xfrm xmlns:a="http://schemas.openxmlformats.org/drawingml/2006/main">
            <a:off x="400050" y="4267200"/>
            <a:ext cx="2247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DISTINGUISHABILITY</a:t>
            </a:r>
          </a:p>
        </p:txBody>
      </p:sp>
      <p:sp>
        <p:nvSpPr>
          <p:cNvPr id="14" name="">
            <a:extLst xmlns:a="http://schemas.openxmlformats.org/drawingml/2006/main">
              <a:ext uri="{FF2B5EF4-FFF2-40B4-BE49-F238E27FC236}">
                <a16:creationId xmlns:a16="http://schemas.microsoft.com/office/drawing/2014/main" id="{2AC31B4C-8C71-46CB-82BD-BF0C7621804A}"/>
              </a:ext>
            </a:extLst>
          </p:cNvPr>
          <p:cNvSpPr>
            <a:spLocks xmlns:a="http://schemas.openxmlformats.org/drawingml/2006/main" noGrp="1"/>
          </p:cNvSpPr>
          <p:nvPr/>
        </p:nvSpPr>
        <p:spPr>
          <a:xfrm xmlns:a="http://schemas.openxmlformats.org/drawingml/2006/main">
            <a:off x="2781300" y="42481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Legg et al. · Fuchs et al. (contour)</a:t>
            </a:r>
          </a:p>
        </p:txBody>
      </p:sp>
      <p:sp>
        <p:nvSpPr>
          <p:cNvPr id="15" name="">
            <a:extLst xmlns:a="http://schemas.openxmlformats.org/drawingml/2006/main">
              <a:ext uri="{FF2B5EF4-FFF2-40B4-BE49-F238E27FC236}">
                <a16:creationId xmlns:a16="http://schemas.microsoft.com/office/drawing/2014/main" id="{042F5A4E-1EF5-4245-903E-2693C7702B45}"/>
              </a:ext>
            </a:extLst>
          </p:cNvPr>
          <p:cNvSpPr>
            <a:spLocks xmlns:a="http://schemas.openxmlformats.org/drawingml/2006/main" noGrp="1"/>
          </p:cNvSpPr>
          <p:nvPr/>
        </p:nvSpPr>
        <p:spPr>
          <a:xfrm xmlns:a="http://schemas.openxmlformats.org/drawingml/2006/main">
            <a:off x="6667500" y="4238625"/>
            <a:ext cx="476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E6672"/>
                </a:solidFill>
                <a:latin typeface="Helvetica Neue"/>
                <a:ea typeface="Helvetica Neue"/>
                <a:cs typeface="Helvetica Neue"/>
              </a:defRPr>
            </a:pPr>
            <a:r>
              <a:rPr sz="1350" b="0">
                <a:solidFill>
                  <a:srgbClr val="5E6672"/>
                </a:solidFill>
                <a:latin typeface="Helvetica Neue"/>
                <a:ea typeface="Helvetica Neue"/>
                <a:cs typeface="Helvetica Neue"/>
              </a:rPr>
              <a:t>Distance across channels, contour, closure, and similarity strategy.</a:t>
            </a:r>
          </a:p>
        </p:txBody>
      </p:sp>
      <p:sp>
        <p:nvSpPr>
          <p:cNvPr id="16" name="">
            <a:extLst xmlns:a="http://schemas.openxmlformats.org/drawingml/2006/main">
              <a:ext uri="{FF2B5EF4-FFF2-40B4-BE49-F238E27FC236}">
                <a16:creationId xmlns:a16="http://schemas.microsoft.com/office/drawing/2014/main" id="{661AF019-B0B9-4C2C-BDA6-717E711FE776}"/>
              </a:ext>
            </a:extLst>
          </p:cNvPr>
          <p:cNvSpPr>
            <a:spLocks xmlns:a="http://schemas.openxmlformats.org/drawingml/2006/main" noGrp="1"/>
          </p:cNvSpPr>
          <p:nvPr/>
        </p:nvSpPr>
        <p:spPr>
          <a:xfrm xmlns:a="http://schemas.openxmlformats.org/drawingml/2006/main">
            <a:off x="400050" y="483870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81F324A-8697-4B80-A819-DD8B4CC62C75}"/>
              </a:ext>
            </a:extLst>
          </p:cNvPr>
          <p:cNvSpPr>
            <a:spLocks xmlns:a="http://schemas.openxmlformats.org/drawingml/2006/main" noGrp="1"/>
          </p:cNvSpPr>
          <p:nvPr/>
        </p:nvSpPr>
        <p:spPr>
          <a:xfrm xmlns:a="http://schemas.openxmlformats.org/drawingml/2006/main">
            <a:off x="400050" y="5114925"/>
            <a:ext cx="2247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DESIGN &amp; EVALUATION</a:t>
            </a:r>
          </a:p>
        </p:txBody>
      </p:sp>
      <p:sp>
        <p:nvSpPr>
          <p:cNvPr id="18" name="">
            <a:extLst xmlns:a="http://schemas.openxmlformats.org/drawingml/2006/main">
              <a:ext uri="{FF2B5EF4-FFF2-40B4-BE49-F238E27FC236}">
                <a16:creationId xmlns:a16="http://schemas.microsoft.com/office/drawing/2014/main" id="{59719F2C-1F23-44E7-AA67-3DA1DC3F4884}"/>
              </a:ext>
            </a:extLst>
          </p:cNvPr>
          <p:cNvSpPr>
            <a:spLocks xmlns:a="http://schemas.openxmlformats.org/drawingml/2006/main" noGrp="1"/>
          </p:cNvSpPr>
          <p:nvPr/>
        </p:nvSpPr>
        <p:spPr>
          <a:xfrm xmlns:a="http://schemas.openxmlformats.org/drawingml/2006/main">
            <a:off x="2781300" y="5095875"/>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Maguire et al. · Fuchs et al. (review)</a:t>
            </a:r>
          </a:p>
        </p:txBody>
      </p:sp>
      <p:sp>
        <p:nvSpPr>
          <p:cNvPr id="19" name="">
            <a:extLst xmlns:a="http://schemas.openxmlformats.org/drawingml/2006/main">
              <a:ext uri="{FF2B5EF4-FFF2-40B4-BE49-F238E27FC236}">
                <a16:creationId xmlns:a16="http://schemas.microsoft.com/office/drawing/2014/main" id="{3468ACB8-7E85-48AA-BF30-0DFC57B8447A}"/>
              </a:ext>
            </a:extLst>
          </p:cNvPr>
          <p:cNvSpPr>
            <a:spLocks xmlns:a="http://schemas.openxmlformats.org/drawingml/2006/main" noGrp="1"/>
          </p:cNvSpPr>
          <p:nvPr/>
        </p:nvSpPr>
        <p:spPr>
          <a:xfrm xmlns:a="http://schemas.openxmlformats.org/drawingml/2006/main">
            <a:off x="6667500" y="5086350"/>
            <a:ext cx="476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E6672"/>
                </a:solidFill>
                <a:latin typeface="Helvetica Neue"/>
                <a:ea typeface="Helvetica Neue"/>
                <a:cs typeface="Helvetica Neue"/>
              </a:defRPr>
            </a:pPr>
            <a:r>
              <a:rPr sz="1350" b="0">
                <a:solidFill>
                  <a:srgbClr val="5E6672"/>
                </a:solidFill>
                <a:latin typeface="Helvetica Neue"/>
                <a:ea typeface="Helvetica Neue"/>
                <a:cs typeface="Helvetica Neue"/>
              </a:rPr>
              <a:t>Systematic glyph design and evidence-based user-study planning.</a:t>
            </a:r>
          </a:p>
        </p:txBody>
      </p:sp>
    </p:spTree>
    <p:extLst>
      <p:ext uri="{BB962C8B-B14F-4D97-AF65-F5344CB8AC3E}">
        <p14:creationId xmlns:p14="http://schemas.microsoft.com/office/powerpoint/2010/main" val="194504026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BCC6B92-0104-431D-A241-A0CFDC33CE95}"/>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04 · LITERATURE REVIEW</a:t>
            </a:r>
          </a:p>
        </p:txBody>
      </p:sp>
      <p:sp>
        <p:nvSpPr>
          <p:cNvPr id="2" name="">
            <a:extLst xmlns:a="http://schemas.openxmlformats.org/drawingml/2006/main">
              <a:ext uri="{FF2B5EF4-FFF2-40B4-BE49-F238E27FC236}">
                <a16:creationId xmlns:a16="http://schemas.microsoft.com/office/drawing/2014/main" id="{769A99FA-666C-4D9F-BE77-E463E630EFB4}"/>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94A271CA-2B92-49ED-9B01-7A08D53C7648}"/>
              </a:ext>
            </a:extLst>
          </p:cNvPr>
          <p:cNvSpPr>
            <a:spLocks xmlns:a="http://schemas.openxmlformats.org/drawingml/2006/main" noGrp="1"/>
          </p:cNvSpPr>
          <p:nvPr/>
        </p:nvSpPr>
        <p:spPr>
          <a:xfrm xmlns:a="http://schemas.openxmlformats.org/drawingml/2006/main">
            <a:off x="400050" y="6667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Measuring icon complexity automatically</a:t>
            </a:r>
          </a:p>
        </p:txBody>
      </p:sp>
      <p:sp>
        <p:nvSpPr>
          <p:cNvPr id="4" name="">
            <a:extLst xmlns:a="http://schemas.openxmlformats.org/drawingml/2006/main">
              <a:ext uri="{FF2B5EF4-FFF2-40B4-BE49-F238E27FC236}">
                <a16:creationId xmlns:a16="http://schemas.microsoft.com/office/drawing/2014/main" id="{AA171B4B-2B93-4061-9363-57AAECE7CBA6}"/>
              </a:ext>
            </a:extLst>
          </p:cNvPr>
          <p:cNvSpPr>
            <a:spLocks xmlns:a="http://schemas.openxmlformats.org/drawingml/2006/main" noGrp="1"/>
          </p:cNvSpPr>
          <p:nvPr/>
        </p:nvSpPr>
        <p:spPr>
          <a:xfrm xmlns:a="http://schemas.openxmlformats.org/drawingml/2006/main">
            <a:off x="400050" y="136207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E6672"/>
                </a:solidFill>
                <a:latin typeface="Helvetica Neue"/>
                <a:ea typeface="Helvetica Neue"/>
                <a:cs typeface="Helvetica Neue"/>
              </a:defRPr>
            </a:pPr>
            <a:r>
              <a:rPr sz="1200" b="0">
                <a:solidFill>
                  <a:srgbClr val="5E6672"/>
                </a:solidFill>
                <a:latin typeface="Helvetica Neue"/>
                <a:ea typeface="Helvetica Neue"/>
                <a:cs typeface="Helvetica Neue"/>
              </a:rPr>
              <a:t>Forsythe, Sheehy &amp; Sawey · 2003</a:t>
            </a:r>
          </a:p>
        </p:txBody>
      </p:sp>
      <p:sp>
        <p:nvSpPr>
          <p:cNvPr id="5" name="">
            <a:extLst xmlns:a="http://schemas.openxmlformats.org/drawingml/2006/main">
              <a:ext uri="{FF2B5EF4-FFF2-40B4-BE49-F238E27FC236}">
                <a16:creationId xmlns:a16="http://schemas.microsoft.com/office/drawing/2014/main" id="{A6E825EF-BD46-4B6A-9DAD-8790A21C1389}"/>
              </a:ext>
            </a:extLst>
          </p:cNvPr>
          <p:cNvSpPr>
            <a:spLocks xmlns:a="http://schemas.openxmlformats.org/drawingml/2006/main" noGrp="1"/>
          </p:cNvSpPr>
          <p:nvPr/>
        </p:nvSpPr>
        <p:spPr>
          <a:xfrm xmlns:a="http://schemas.openxmlformats.org/drawingml/2006/main">
            <a:off x="7810500" y="1790700"/>
            <a:ext cx="3981450" cy="4171950"/>
          </a:xfrm>
          <a:prstGeom xmlns:a="http://schemas.openxmlformats.org/drawingml/2006/main" prst="rect">
            <a:avLst/>
          </a:prstGeom>
          <a:solidFill xmlns:a="http://schemas.openxmlformats.org/drawingml/2006/main">
            <a:srgbClr val="F1F2F3"/>
          </a:solidFill>
          <a:ln xmlns:a="http://schemas.openxmlformats.org/drawingml/2006/main" w="9525">
            <a:solidFill>
              <a:srgbClr val="B8BCC4"/>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d5670399428498e"/>
          <a:stretch xmlns:a="http://schemas.openxmlformats.org/drawingml/2006/main"/>
        </p:blipFill>
        <p:spPr>
          <a:xfrm xmlns:a="http://schemas.openxmlformats.org/drawingml/2006/main">
            <a:off x="8292378" y="1924050"/>
            <a:ext cx="3017693" cy="3905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B8398A8-B4AE-4B9E-9449-A3955AF6365C}"/>
              </a:ext>
            </a:extLst>
          </p:cNvPr>
          <p:cNvSpPr>
            <a:spLocks xmlns:a="http://schemas.openxmlformats.org/drawingml/2006/main" noGrp="1"/>
          </p:cNvSpPr>
          <p:nvPr/>
        </p:nvSpPr>
        <p:spPr>
          <a:xfrm xmlns:a="http://schemas.openxmlformats.org/drawingml/2006/main">
            <a:off x="400050" y="18097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PURPOSE</a:t>
            </a:r>
          </a:p>
        </p:txBody>
      </p:sp>
      <p:sp>
        <p:nvSpPr>
          <p:cNvPr id="8" name="">
            <a:extLst xmlns:a="http://schemas.openxmlformats.org/drawingml/2006/main">
              <a:ext uri="{FF2B5EF4-FFF2-40B4-BE49-F238E27FC236}">
                <a16:creationId xmlns:a16="http://schemas.microsoft.com/office/drawing/2014/main" id="{580262C9-7E1B-40B6-915F-1AB998C69B93}"/>
              </a:ext>
            </a:extLst>
          </p:cNvPr>
          <p:cNvSpPr>
            <a:spLocks xmlns:a="http://schemas.openxmlformats.org/drawingml/2006/main" noGrp="1"/>
          </p:cNvSpPr>
          <p:nvPr/>
        </p:nvSpPr>
        <p:spPr>
          <a:xfrm xmlns:a="http://schemas.openxmlformats.org/drawingml/2006/main">
            <a:off x="400050" y="20859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Test whether image-processing measurements can estimate human judgments of icon complexity.</a:t>
            </a:r>
          </a:p>
        </p:txBody>
      </p:sp>
      <p:sp>
        <p:nvSpPr>
          <p:cNvPr id="9" name="">
            <a:extLst xmlns:a="http://schemas.openxmlformats.org/drawingml/2006/main">
              <a:ext uri="{FF2B5EF4-FFF2-40B4-BE49-F238E27FC236}">
                <a16:creationId xmlns:a16="http://schemas.microsoft.com/office/drawing/2014/main" id="{B68E5981-F453-4B52-BCC5-7D2D634BC688}"/>
              </a:ext>
            </a:extLst>
          </p:cNvPr>
          <p:cNvSpPr>
            <a:spLocks xmlns:a="http://schemas.openxmlformats.org/drawingml/2006/main" noGrp="1"/>
          </p:cNvSpPr>
          <p:nvPr/>
        </p:nvSpPr>
        <p:spPr>
          <a:xfrm xmlns:a="http://schemas.openxmlformats.org/drawingml/2006/main">
            <a:off x="400050" y="28384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METHOD</a:t>
            </a:r>
          </a:p>
        </p:txBody>
      </p:sp>
      <p:sp>
        <p:nvSpPr>
          <p:cNvPr id="10" name="">
            <a:extLst xmlns:a="http://schemas.openxmlformats.org/drawingml/2006/main">
              <a:ext uri="{FF2B5EF4-FFF2-40B4-BE49-F238E27FC236}">
                <a16:creationId xmlns:a16="http://schemas.microsoft.com/office/drawing/2014/main" id="{BD5E9DA2-9CEF-4D6F-97D2-13C864727762}"/>
              </a:ext>
            </a:extLst>
          </p:cNvPr>
          <p:cNvSpPr>
            <a:spLocks xmlns:a="http://schemas.openxmlformats.org/drawingml/2006/main" noGrp="1"/>
          </p:cNvSpPr>
          <p:nvPr/>
        </p:nvSpPr>
        <p:spPr>
          <a:xfrm xmlns:a="http://schemas.openxmlformats.org/drawingml/2006/main">
            <a:off x="400050" y="31146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Six pixel-derived properties were correlated with established human complexity ratings for a random sample of 68 icons.</a:t>
            </a:r>
          </a:p>
        </p:txBody>
      </p:sp>
      <p:sp>
        <p:nvSpPr>
          <p:cNvPr id="11" name="">
            <a:extLst xmlns:a="http://schemas.openxmlformats.org/drawingml/2006/main">
              <a:ext uri="{FF2B5EF4-FFF2-40B4-BE49-F238E27FC236}">
                <a16:creationId xmlns:a16="http://schemas.microsoft.com/office/drawing/2014/main" id="{DEE072B6-AB0E-479E-8CBF-C08EE6A295D8}"/>
              </a:ext>
            </a:extLst>
          </p:cNvPr>
          <p:cNvSpPr>
            <a:spLocks xmlns:a="http://schemas.openxmlformats.org/drawingml/2006/main" noGrp="1"/>
          </p:cNvSpPr>
          <p:nvPr/>
        </p:nvSpPr>
        <p:spPr>
          <a:xfrm xmlns:a="http://schemas.openxmlformats.org/drawingml/2006/main">
            <a:off x="400050" y="38671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MAIN FINDING</a:t>
            </a:r>
          </a:p>
        </p:txBody>
      </p:sp>
      <p:sp>
        <p:nvSpPr>
          <p:cNvPr id="12" name="">
            <a:extLst xmlns:a="http://schemas.openxmlformats.org/drawingml/2006/main">
              <a:ext uri="{FF2B5EF4-FFF2-40B4-BE49-F238E27FC236}">
                <a16:creationId xmlns:a16="http://schemas.microsoft.com/office/drawing/2014/main" id="{7AAC8923-70C8-469F-8098-782C4089458D}"/>
              </a:ext>
            </a:extLst>
          </p:cNvPr>
          <p:cNvSpPr>
            <a:spLocks xmlns:a="http://schemas.openxmlformats.org/drawingml/2006/main" noGrp="1"/>
          </p:cNvSpPr>
          <p:nvPr/>
        </p:nvSpPr>
        <p:spPr>
          <a:xfrm xmlns:a="http://schemas.openxmlformats.org/drawingml/2006/main">
            <a:off x="400050" y="41433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Structural variability and edge information showed the strongest relationships with perceived complexity (ρ = .65 and .64).</a:t>
            </a:r>
          </a:p>
        </p:txBody>
      </p:sp>
      <p:sp>
        <p:nvSpPr>
          <p:cNvPr id="13" name="">
            <a:extLst xmlns:a="http://schemas.openxmlformats.org/drawingml/2006/main">
              <a:ext uri="{FF2B5EF4-FFF2-40B4-BE49-F238E27FC236}">
                <a16:creationId xmlns:a16="http://schemas.microsoft.com/office/drawing/2014/main" id="{EDDE79BD-CD8E-4971-8756-AE00F0BBBD9F}"/>
              </a:ext>
            </a:extLst>
          </p:cNvPr>
          <p:cNvSpPr>
            <a:spLocks xmlns:a="http://schemas.openxmlformats.org/drawingml/2006/main" noGrp="1"/>
          </p:cNvSpPr>
          <p:nvPr/>
        </p:nvSpPr>
        <p:spPr>
          <a:xfrm xmlns:a="http://schemas.openxmlformats.org/drawingml/2006/main">
            <a:off x="400050" y="5038725"/>
            <a:ext cx="6838950" cy="92392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743FAF2-31F1-43A5-BF0C-7181FD2B2F1F}"/>
              </a:ext>
            </a:extLst>
          </p:cNvPr>
          <p:cNvSpPr>
            <a:spLocks xmlns:a="http://schemas.openxmlformats.org/drawingml/2006/main" noGrp="1"/>
          </p:cNvSpPr>
          <p:nvPr/>
        </p:nvSpPr>
        <p:spPr>
          <a:xfrm xmlns:a="http://schemas.openxmlformats.org/drawingml/2006/main">
            <a:off x="590550" y="5200650"/>
            <a:ext cx="6457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WHY IT MATTERS HERE</a:t>
            </a:r>
          </a:p>
        </p:txBody>
      </p:sp>
      <p:sp>
        <p:nvSpPr>
          <p:cNvPr id="15" name="">
            <a:extLst xmlns:a="http://schemas.openxmlformats.org/drawingml/2006/main">
              <a:ext uri="{FF2B5EF4-FFF2-40B4-BE49-F238E27FC236}">
                <a16:creationId xmlns:a16="http://schemas.microsoft.com/office/drawing/2014/main" id="{AD1F3C09-AACB-4638-ADE2-FCC7EFB8799A}"/>
              </a:ext>
            </a:extLst>
          </p:cNvPr>
          <p:cNvSpPr>
            <a:spLocks xmlns:a="http://schemas.openxmlformats.org/drawingml/2006/main" noGrp="1"/>
          </p:cNvSpPr>
          <p:nvPr/>
        </p:nvSpPr>
        <p:spPr>
          <a:xfrm xmlns:a="http://schemas.openxmlformats.org/drawingml/2006/main">
            <a:off x="590550" y="5457825"/>
            <a:ext cx="6457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Provides the strongest direct basis for edge density and structural variability as computational complexity proxies.</a:t>
            </a:r>
          </a:p>
        </p:txBody>
      </p:sp>
    </p:spTree>
    <p:extLst>
      <p:ext uri="{BB962C8B-B14F-4D97-AF65-F5344CB8AC3E}">
        <p14:creationId xmlns:p14="http://schemas.microsoft.com/office/powerpoint/2010/main" val="145328217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2729FBC-F69F-4D65-B63C-A61BDB958FA3}"/>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04 · LITERATURE REVIEW</a:t>
            </a:r>
          </a:p>
        </p:txBody>
      </p:sp>
      <p:sp>
        <p:nvSpPr>
          <p:cNvPr id="2" name="">
            <a:extLst xmlns:a="http://schemas.openxmlformats.org/drawingml/2006/main">
              <a:ext uri="{FF2B5EF4-FFF2-40B4-BE49-F238E27FC236}">
                <a16:creationId xmlns:a16="http://schemas.microsoft.com/office/drawing/2014/main" id="{D2FD146F-57E3-40AE-9545-01E6149FD154}"/>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6563902A-E467-4E4C-96ED-8A45EC25DFAE}"/>
              </a:ext>
            </a:extLst>
          </p:cNvPr>
          <p:cNvSpPr>
            <a:spLocks xmlns:a="http://schemas.openxmlformats.org/drawingml/2006/main" noGrp="1"/>
          </p:cNvSpPr>
          <p:nvPr/>
        </p:nvSpPr>
        <p:spPr>
          <a:xfrm xmlns:a="http://schemas.openxmlformats.org/drawingml/2006/main">
            <a:off x="400050" y="6667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Abstractness affects identification</a:t>
            </a:r>
          </a:p>
        </p:txBody>
      </p:sp>
      <p:sp>
        <p:nvSpPr>
          <p:cNvPr id="4" name="">
            <a:extLst xmlns:a="http://schemas.openxmlformats.org/drawingml/2006/main">
              <a:ext uri="{FF2B5EF4-FFF2-40B4-BE49-F238E27FC236}">
                <a16:creationId xmlns:a16="http://schemas.microsoft.com/office/drawing/2014/main" id="{B352E848-078F-492A-9613-F892788C300A}"/>
              </a:ext>
            </a:extLst>
          </p:cNvPr>
          <p:cNvSpPr>
            <a:spLocks xmlns:a="http://schemas.openxmlformats.org/drawingml/2006/main" noGrp="1"/>
          </p:cNvSpPr>
          <p:nvPr/>
        </p:nvSpPr>
        <p:spPr>
          <a:xfrm xmlns:a="http://schemas.openxmlformats.org/drawingml/2006/main">
            <a:off x="400050" y="136207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E6672"/>
                </a:solidFill>
                <a:latin typeface="Helvetica Neue"/>
                <a:ea typeface="Helvetica Neue"/>
                <a:cs typeface="Helvetica Neue"/>
              </a:defRPr>
            </a:pPr>
            <a:r>
              <a:rPr sz="1200" b="0">
                <a:solidFill>
                  <a:srgbClr val="5E6672"/>
                </a:solidFill>
                <a:latin typeface="Helvetica Neue"/>
                <a:ea typeface="Helvetica Neue"/>
                <a:cs typeface="Helvetica Neue"/>
              </a:rPr>
              <a:t>Garcia, Badre &amp; Stasko · 1994</a:t>
            </a:r>
          </a:p>
        </p:txBody>
      </p:sp>
      <p:sp>
        <p:nvSpPr>
          <p:cNvPr id="5" name="">
            <a:extLst xmlns:a="http://schemas.openxmlformats.org/drawingml/2006/main">
              <a:ext uri="{FF2B5EF4-FFF2-40B4-BE49-F238E27FC236}">
                <a16:creationId xmlns:a16="http://schemas.microsoft.com/office/drawing/2014/main" id="{6CEA50DC-6403-4F5B-97C1-D4B61EDAD518}"/>
              </a:ext>
            </a:extLst>
          </p:cNvPr>
          <p:cNvSpPr>
            <a:spLocks xmlns:a="http://schemas.openxmlformats.org/drawingml/2006/main" noGrp="1"/>
          </p:cNvSpPr>
          <p:nvPr/>
        </p:nvSpPr>
        <p:spPr>
          <a:xfrm xmlns:a="http://schemas.openxmlformats.org/drawingml/2006/main">
            <a:off x="400050" y="1790700"/>
            <a:ext cx="3981450" cy="4171950"/>
          </a:xfrm>
          <a:prstGeom xmlns:a="http://schemas.openxmlformats.org/drawingml/2006/main" prst="rect">
            <a:avLst/>
          </a:prstGeom>
          <a:solidFill xmlns:a="http://schemas.openxmlformats.org/drawingml/2006/main">
            <a:srgbClr val="F1F2F3"/>
          </a:solidFill>
          <a:ln xmlns:a="http://schemas.openxmlformats.org/drawingml/2006/main" w="9525">
            <a:solidFill>
              <a:srgbClr val="B8BCC4"/>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241367608af4d4f"/>
          <a:stretch xmlns:a="http://schemas.openxmlformats.org/drawingml/2006/main"/>
        </p:blipFill>
        <p:spPr>
          <a:xfrm xmlns:a="http://schemas.openxmlformats.org/drawingml/2006/main">
            <a:off x="1054768" y="1924050"/>
            <a:ext cx="2672013" cy="3905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D8DBC3D-15AF-4A9A-9CC5-5D71ED424280}"/>
              </a:ext>
            </a:extLst>
          </p:cNvPr>
          <p:cNvSpPr>
            <a:spLocks xmlns:a="http://schemas.openxmlformats.org/drawingml/2006/main" noGrp="1"/>
          </p:cNvSpPr>
          <p:nvPr/>
        </p:nvSpPr>
        <p:spPr>
          <a:xfrm xmlns:a="http://schemas.openxmlformats.org/drawingml/2006/main">
            <a:off x="4552950" y="18097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PURPOSE</a:t>
            </a:r>
          </a:p>
        </p:txBody>
      </p:sp>
      <p:sp>
        <p:nvSpPr>
          <p:cNvPr id="8" name="">
            <a:extLst xmlns:a="http://schemas.openxmlformats.org/drawingml/2006/main">
              <a:ext uri="{FF2B5EF4-FFF2-40B4-BE49-F238E27FC236}">
                <a16:creationId xmlns:a16="http://schemas.microsoft.com/office/drawing/2014/main" id="{AF1F2724-BCE1-416A-9F18-A935BA3B9E0D}"/>
              </a:ext>
            </a:extLst>
          </p:cNvPr>
          <p:cNvSpPr>
            <a:spLocks xmlns:a="http://schemas.openxmlformats.org/drawingml/2006/main" noGrp="1"/>
          </p:cNvSpPr>
          <p:nvPr/>
        </p:nvSpPr>
        <p:spPr>
          <a:xfrm xmlns:a="http://schemas.openxmlformats.org/drawingml/2006/main">
            <a:off x="4552950" y="20859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Develop a quantitative abstractness–concreteness metric and test whether it matches users’ judgments and task performance.</a:t>
            </a:r>
          </a:p>
        </p:txBody>
      </p:sp>
      <p:sp>
        <p:nvSpPr>
          <p:cNvPr id="9" name="">
            <a:extLst xmlns:a="http://schemas.openxmlformats.org/drawingml/2006/main">
              <a:ext uri="{FF2B5EF4-FFF2-40B4-BE49-F238E27FC236}">
                <a16:creationId xmlns:a16="http://schemas.microsoft.com/office/drawing/2014/main" id="{0B98DACF-0DE9-4A38-B6B6-385BC8634287}"/>
              </a:ext>
            </a:extLst>
          </p:cNvPr>
          <p:cNvSpPr>
            <a:spLocks xmlns:a="http://schemas.openxmlformats.org/drawingml/2006/main" noGrp="1"/>
          </p:cNvSpPr>
          <p:nvPr/>
        </p:nvSpPr>
        <p:spPr>
          <a:xfrm xmlns:a="http://schemas.openxmlformats.org/drawingml/2006/main">
            <a:off x="4552950" y="28384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METHOD</a:t>
            </a:r>
          </a:p>
        </p:txBody>
      </p:sp>
      <p:sp>
        <p:nvSpPr>
          <p:cNvPr id="10" name="">
            <a:extLst xmlns:a="http://schemas.openxmlformats.org/drawingml/2006/main">
              <a:ext uri="{FF2B5EF4-FFF2-40B4-BE49-F238E27FC236}">
                <a16:creationId xmlns:a16="http://schemas.microsoft.com/office/drawing/2014/main" id="{21B7A4E1-209E-451E-A180-D327C61EB67D}"/>
              </a:ext>
            </a:extLst>
          </p:cNvPr>
          <p:cNvSpPr>
            <a:spLocks xmlns:a="http://schemas.openxmlformats.org/drawingml/2006/main" noGrp="1"/>
          </p:cNvSpPr>
          <p:nvPr/>
        </p:nvSpPr>
        <p:spPr>
          <a:xfrm xmlns:a="http://schemas.openxmlformats.org/drawingml/2006/main">
            <a:off x="4552950" y="31146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Different participant groups ranked abstract and concrete icon sets, matched icons to Pascal constructs, and completed context conditions.</a:t>
            </a:r>
          </a:p>
        </p:txBody>
      </p:sp>
      <p:sp>
        <p:nvSpPr>
          <p:cNvPr id="11" name="">
            <a:extLst xmlns:a="http://schemas.openxmlformats.org/drawingml/2006/main">
              <a:ext uri="{FF2B5EF4-FFF2-40B4-BE49-F238E27FC236}">
                <a16:creationId xmlns:a16="http://schemas.microsoft.com/office/drawing/2014/main" id="{B7DD27D5-D2E3-4FF6-8FCB-EB5F04DF4C27}"/>
              </a:ext>
            </a:extLst>
          </p:cNvPr>
          <p:cNvSpPr>
            <a:spLocks xmlns:a="http://schemas.openxmlformats.org/drawingml/2006/main" noGrp="1"/>
          </p:cNvSpPr>
          <p:nvPr/>
        </p:nvSpPr>
        <p:spPr>
          <a:xfrm xmlns:a="http://schemas.openxmlformats.org/drawingml/2006/main">
            <a:off x="4552950" y="38671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MAIN FINDING</a:t>
            </a:r>
          </a:p>
        </p:txBody>
      </p:sp>
      <p:sp>
        <p:nvSpPr>
          <p:cNvPr id="12" name="">
            <a:extLst xmlns:a="http://schemas.openxmlformats.org/drawingml/2006/main">
              <a:ext uri="{FF2B5EF4-FFF2-40B4-BE49-F238E27FC236}">
                <a16:creationId xmlns:a16="http://schemas.microsoft.com/office/drawing/2014/main" id="{D259DBF5-D6BD-4161-A873-B33DAD37ECC2}"/>
              </a:ext>
            </a:extLst>
          </p:cNvPr>
          <p:cNvSpPr>
            <a:spLocks xmlns:a="http://schemas.openxmlformats.org/drawingml/2006/main" noGrp="1"/>
          </p:cNvSpPr>
          <p:nvPr/>
        </p:nvSpPr>
        <p:spPr>
          <a:xfrm xmlns:a="http://schemas.openxmlformats.org/drawingml/2006/main">
            <a:off x="4552950" y="41433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The metric aligned with subjective judgments; concrete icons were identified better, and context changed identification performance.</a:t>
            </a:r>
          </a:p>
        </p:txBody>
      </p:sp>
      <p:sp>
        <p:nvSpPr>
          <p:cNvPr id="13" name="">
            <a:extLst xmlns:a="http://schemas.openxmlformats.org/drawingml/2006/main">
              <a:ext uri="{FF2B5EF4-FFF2-40B4-BE49-F238E27FC236}">
                <a16:creationId xmlns:a16="http://schemas.microsoft.com/office/drawing/2014/main" id="{E3869F46-1616-4270-B9E3-A613CFAB8AB8}"/>
              </a:ext>
            </a:extLst>
          </p:cNvPr>
          <p:cNvSpPr>
            <a:spLocks xmlns:a="http://schemas.openxmlformats.org/drawingml/2006/main" noGrp="1"/>
          </p:cNvSpPr>
          <p:nvPr/>
        </p:nvSpPr>
        <p:spPr>
          <a:xfrm xmlns:a="http://schemas.openxmlformats.org/drawingml/2006/main">
            <a:off x="4552950" y="5038725"/>
            <a:ext cx="6838950" cy="92392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658D19D-05DE-4631-B510-B2F0745F103F}"/>
              </a:ext>
            </a:extLst>
          </p:cNvPr>
          <p:cNvSpPr>
            <a:spLocks xmlns:a="http://schemas.openxmlformats.org/drawingml/2006/main" noGrp="1"/>
          </p:cNvSpPr>
          <p:nvPr/>
        </p:nvSpPr>
        <p:spPr>
          <a:xfrm xmlns:a="http://schemas.openxmlformats.org/drawingml/2006/main">
            <a:off x="4743450" y="5200650"/>
            <a:ext cx="6457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WHY IT MATTERS HERE</a:t>
            </a:r>
          </a:p>
        </p:txBody>
      </p:sp>
      <p:sp>
        <p:nvSpPr>
          <p:cNvPr id="15" name="">
            <a:extLst xmlns:a="http://schemas.openxmlformats.org/drawingml/2006/main">
              <a:ext uri="{FF2B5EF4-FFF2-40B4-BE49-F238E27FC236}">
                <a16:creationId xmlns:a16="http://schemas.microsoft.com/office/drawing/2014/main" id="{8AE2F350-A8EB-4F5B-877C-7B2B95ADB8B7}"/>
              </a:ext>
            </a:extLst>
          </p:cNvPr>
          <p:cNvSpPr>
            <a:spLocks xmlns:a="http://schemas.openxmlformats.org/drawingml/2006/main" noGrp="1"/>
          </p:cNvSpPr>
          <p:nvPr/>
        </p:nvSpPr>
        <p:spPr>
          <a:xfrm xmlns:a="http://schemas.openxmlformats.org/drawingml/2006/main">
            <a:off x="4743450" y="5457825"/>
            <a:ext cx="6457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Shows that measurable structure matters, but meaning and context cannot be inferred reliably from pixels alone.</a:t>
            </a:r>
          </a:p>
        </p:txBody>
      </p:sp>
    </p:spTree>
    <p:extLst>
      <p:ext uri="{BB962C8B-B14F-4D97-AF65-F5344CB8AC3E}">
        <p14:creationId xmlns:p14="http://schemas.microsoft.com/office/powerpoint/2010/main" val="18648124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4425C06-FF4A-491B-A6AB-83B597D0A0C7}"/>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04 · LITERATURE REVIEW</a:t>
            </a:r>
          </a:p>
        </p:txBody>
      </p:sp>
      <p:sp>
        <p:nvSpPr>
          <p:cNvPr id="2" name="">
            <a:extLst xmlns:a="http://schemas.openxmlformats.org/drawingml/2006/main">
              <a:ext uri="{FF2B5EF4-FFF2-40B4-BE49-F238E27FC236}">
                <a16:creationId xmlns:a16="http://schemas.microsoft.com/office/drawing/2014/main" id="{6BB956E5-86C0-406B-B700-C98238BAE0DC}"/>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C264E981-27A7-4DA3-8F3D-EE5F81F438D7}"/>
              </a:ext>
            </a:extLst>
          </p:cNvPr>
          <p:cNvSpPr>
            <a:spLocks xmlns:a="http://schemas.openxmlformats.org/drawingml/2006/main" noGrp="1"/>
          </p:cNvSpPr>
          <p:nvPr/>
        </p:nvSpPr>
        <p:spPr>
          <a:xfrm xmlns:a="http://schemas.openxmlformats.org/drawingml/2006/main">
            <a:off x="400050" y="6667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Glyph design needs perceptual foundations</a:t>
            </a:r>
          </a:p>
        </p:txBody>
      </p:sp>
      <p:sp>
        <p:nvSpPr>
          <p:cNvPr id="4" name="">
            <a:extLst xmlns:a="http://schemas.openxmlformats.org/drawingml/2006/main">
              <a:ext uri="{FF2B5EF4-FFF2-40B4-BE49-F238E27FC236}">
                <a16:creationId xmlns:a16="http://schemas.microsoft.com/office/drawing/2014/main" id="{27A997E5-A51E-4AED-A8CF-C1E0CA5CED99}"/>
              </a:ext>
            </a:extLst>
          </p:cNvPr>
          <p:cNvSpPr>
            <a:spLocks xmlns:a="http://schemas.openxmlformats.org/drawingml/2006/main" noGrp="1"/>
          </p:cNvSpPr>
          <p:nvPr/>
        </p:nvSpPr>
        <p:spPr>
          <a:xfrm xmlns:a="http://schemas.openxmlformats.org/drawingml/2006/main">
            <a:off x="400050" y="136207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E6672"/>
                </a:solidFill>
                <a:latin typeface="Helvetica Neue"/>
                <a:ea typeface="Helvetica Neue"/>
                <a:cs typeface="Helvetica Neue"/>
              </a:defRPr>
            </a:pPr>
            <a:r>
              <a:rPr sz="1200" b="0">
                <a:solidFill>
                  <a:srgbClr val="5E6672"/>
                </a:solidFill>
                <a:latin typeface="Helvetica Neue"/>
                <a:ea typeface="Helvetica Neue"/>
                <a:cs typeface="Helvetica Neue"/>
              </a:rPr>
              <a:t>Borgo et al. · 2013</a:t>
            </a:r>
          </a:p>
        </p:txBody>
      </p:sp>
      <p:sp>
        <p:nvSpPr>
          <p:cNvPr id="5" name="">
            <a:extLst xmlns:a="http://schemas.openxmlformats.org/drawingml/2006/main">
              <a:ext uri="{FF2B5EF4-FFF2-40B4-BE49-F238E27FC236}">
                <a16:creationId xmlns:a16="http://schemas.microsoft.com/office/drawing/2014/main" id="{1046881D-8793-47AC-B1D4-5294175E64CF}"/>
              </a:ext>
            </a:extLst>
          </p:cNvPr>
          <p:cNvSpPr>
            <a:spLocks xmlns:a="http://schemas.openxmlformats.org/drawingml/2006/main" noGrp="1"/>
          </p:cNvSpPr>
          <p:nvPr/>
        </p:nvSpPr>
        <p:spPr>
          <a:xfrm xmlns:a="http://schemas.openxmlformats.org/drawingml/2006/main">
            <a:off x="7810500" y="1790700"/>
            <a:ext cx="3981450" cy="4171950"/>
          </a:xfrm>
          <a:prstGeom xmlns:a="http://schemas.openxmlformats.org/drawingml/2006/main" prst="rect">
            <a:avLst/>
          </a:prstGeom>
          <a:solidFill xmlns:a="http://schemas.openxmlformats.org/drawingml/2006/main">
            <a:srgbClr val="F1F2F3"/>
          </a:solidFill>
          <a:ln xmlns:a="http://schemas.openxmlformats.org/drawingml/2006/main" w="9525">
            <a:solidFill>
              <a:srgbClr val="B8BCC4"/>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79f643269954274"/>
          <a:stretch xmlns:a="http://schemas.openxmlformats.org/drawingml/2006/main"/>
        </p:blipFill>
        <p:spPr>
          <a:xfrm xmlns:a="http://schemas.openxmlformats.org/drawingml/2006/main">
            <a:off x="8421593" y="1924050"/>
            <a:ext cx="2759265" cy="3905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E2D669E-16E3-436F-B6E8-33C9EBCEC27F}"/>
              </a:ext>
            </a:extLst>
          </p:cNvPr>
          <p:cNvSpPr>
            <a:spLocks xmlns:a="http://schemas.openxmlformats.org/drawingml/2006/main" noGrp="1"/>
          </p:cNvSpPr>
          <p:nvPr/>
        </p:nvSpPr>
        <p:spPr>
          <a:xfrm xmlns:a="http://schemas.openxmlformats.org/drawingml/2006/main">
            <a:off x="400050" y="18097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PURPOSE</a:t>
            </a:r>
          </a:p>
        </p:txBody>
      </p:sp>
      <p:sp>
        <p:nvSpPr>
          <p:cNvPr id="8" name="">
            <a:extLst xmlns:a="http://schemas.openxmlformats.org/drawingml/2006/main">
              <a:ext uri="{FF2B5EF4-FFF2-40B4-BE49-F238E27FC236}">
                <a16:creationId xmlns:a16="http://schemas.microsoft.com/office/drawing/2014/main" id="{68C455AE-9564-4330-9631-D465B2E300A7}"/>
              </a:ext>
            </a:extLst>
          </p:cNvPr>
          <p:cNvSpPr>
            <a:spLocks xmlns:a="http://schemas.openxmlformats.org/drawingml/2006/main" noGrp="1"/>
          </p:cNvSpPr>
          <p:nvPr/>
        </p:nvSpPr>
        <p:spPr>
          <a:xfrm xmlns:a="http://schemas.openxmlformats.org/drawingml/2006/main">
            <a:off x="400050" y="20859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Connect glyph visualization to semiotics, perception, design guidelines, implementation techniques, and application practice.</a:t>
            </a:r>
          </a:p>
        </p:txBody>
      </p:sp>
      <p:sp>
        <p:nvSpPr>
          <p:cNvPr id="9" name="">
            <a:extLst xmlns:a="http://schemas.openxmlformats.org/drawingml/2006/main">
              <a:ext uri="{FF2B5EF4-FFF2-40B4-BE49-F238E27FC236}">
                <a16:creationId xmlns:a16="http://schemas.microsoft.com/office/drawing/2014/main" id="{46377B96-D03B-4316-AAEC-1424C9D3F6BA}"/>
              </a:ext>
            </a:extLst>
          </p:cNvPr>
          <p:cNvSpPr>
            <a:spLocks xmlns:a="http://schemas.openxmlformats.org/drawingml/2006/main" noGrp="1"/>
          </p:cNvSpPr>
          <p:nvPr/>
        </p:nvSpPr>
        <p:spPr>
          <a:xfrm xmlns:a="http://schemas.openxmlformats.org/drawingml/2006/main">
            <a:off x="400050" y="28384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METHOD</a:t>
            </a:r>
          </a:p>
        </p:txBody>
      </p:sp>
      <p:sp>
        <p:nvSpPr>
          <p:cNvPr id="10" name="">
            <a:extLst xmlns:a="http://schemas.openxmlformats.org/drawingml/2006/main">
              <a:ext uri="{FF2B5EF4-FFF2-40B4-BE49-F238E27FC236}">
                <a16:creationId xmlns:a16="http://schemas.microsoft.com/office/drawing/2014/main" id="{1FB2EFEC-0221-401A-8E96-42BD364AA8B5}"/>
              </a:ext>
            </a:extLst>
          </p:cNvPr>
          <p:cNvSpPr>
            <a:spLocks xmlns:a="http://schemas.openxmlformats.org/drawingml/2006/main" noGrp="1"/>
          </p:cNvSpPr>
          <p:nvPr/>
        </p:nvSpPr>
        <p:spPr>
          <a:xfrm xmlns:a="http://schemas.openxmlformats.org/drawingml/2006/main">
            <a:off x="400050" y="31146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A state-of-the-art review synthesizing foundations and design knowledge across glyph-based visualization research.</a:t>
            </a:r>
          </a:p>
        </p:txBody>
      </p:sp>
      <p:sp>
        <p:nvSpPr>
          <p:cNvPr id="11" name="">
            <a:extLst xmlns:a="http://schemas.openxmlformats.org/drawingml/2006/main">
              <a:ext uri="{FF2B5EF4-FFF2-40B4-BE49-F238E27FC236}">
                <a16:creationId xmlns:a16="http://schemas.microsoft.com/office/drawing/2014/main" id="{FE64B7CB-A009-4B00-8F1C-3FDBBC8CB503}"/>
              </a:ext>
            </a:extLst>
          </p:cNvPr>
          <p:cNvSpPr>
            <a:spLocks xmlns:a="http://schemas.openxmlformats.org/drawingml/2006/main" noGrp="1"/>
          </p:cNvSpPr>
          <p:nvPr/>
        </p:nvSpPr>
        <p:spPr>
          <a:xfrm xmlns:a="http://schemas.openxmlformats.org/drawingml/2006/main">
            <a:off x="400050" y="38671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MAIN FINDING</a:t>
            </a:r>
          </a:p>
        </p:txBody>
      </p:sp>
      <p:sp>
        <p:nvSpPr>
          <p:cNvPr id="12" name="">
            <a:extLst xmlns:a="http://schemas.openxmlformats.org/drawingml/2006/main">
              <a:ext uri="{FF2B5EF4-FFF2-40B4-BE49-F238E27FC236}">
                <a16:creationId xmlns:a16="http://schemas.microsoft.com/office/drawing/2014/main" id="{F71BDDEC-E4B7-45DF-A4F8-C3696A4B2772}"/>
              </a:ext>
            </a:extLst>
          </p:cNvPr>
          <p:cNvSpPr>
            <a:spLocks xmlns:a="http://schemas.openxmlformats.org/drawingml/2006/main" noGrp="1"/>
          </p:cNvSpPr>
          <p:nvPr/>
        </p:nvSpPr>
        <p:spPr>
          <a:xfrm xmlns:a="http://schemas.openxmlformats.org/drawingml/2006/main">
            <a:off x="400050" y="41433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Shape, colour, texture, size, orientation, curvature, and grouping act as visual channels whose effectiveness depends on task and context.</a:t>
            </a:r>
          </a:p>
        </p:txBody>
      </p:sp>
      <p:sp>
        <p:nvSpPr>
          <p:cNvPr id="13" name="">
            <a:extLst xmlns:a="http://schemas.openxmlformats.org/drawingml/2006/main">
              <a:ext uri="{FF2B5EF4-FFF2-40B4-BE49-F238E27FC236}">
                <a16:creationId xmlns:a16="http://schemas.microsoft.com/office/drawing/2014/main" id="{FC2DAD2C-F16E-4A4C-907A-F9BE6AD3BA32}"/>
              </a:ext>
            </a:extLst>
          </p:cNvPr>
          <p:cNvSpPr>
            <a:spLocks xmlns:a="http://schemas.openxmlformats.org/drawingml/2006/main" noGrp="1"/>
          </p:cNvSpPr>
          <p:nvPr/>
        </p:nvSpPr>
        <p:spPr>
          <a:xfrm xmlns:a="http://schemas.openxmlformats.org/drawingml/2006/main">
            <a:off x="400050" y="5038725"/>
            <a:ext cx="6838950" cy="92392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F7B1F8D-1F1F-49CF-AF06-0AB0E9DC54E5}"/>
              </a:ext>
            </a:extLst>
          </p:cNvPr>
          <p:cNvSpPr>
            <a:spLocks xmlns:a="http://schemas.openxmlformats.org/drawingml/2006/main" noGrp="1"/>
          </p:cNvSpPr>
          <p:nvPr/>
        </p:nvSpPr>
        <p:spPr>
          <a:xfrm xmlns:a="http://schemas.openxmlformats.org/drawingml/2006/main">
            <a:off x="590550" y="5200650"/>
            <a:ext cx="6457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WHY IT MATTERS HERE</a:t>
            </a:r>
          </a:p>
        </p:txBody>
      </p:sp>
      <p:sp>
        <p:nvSpPr>
          <p:cNvPr id="15" name="">
            <a:extLst xmlns:a="http://schemas.openxmlformats.org/drawingml/2006/main">
              <a:ext uri="{FF2B5EF4-FFF2-40B4-BE49-F238E27FC236}">
                <a16:creationId xmlns:a16="http://schemas.microsoft.com/office/drawing/2014/main" id="{6787CDDD-0BB1-4E03-8A41-5197A266A402}"/>
              </a:ext>
            </a:extLst>
          </p:cNvPr>
          <p:cNvSpPr>
            <a:spLocks xmlns:a="http://schemas.openxmlformats.org/drawingml/2006/main" noGrp="1"/>
          </p:cNvSpPr>
          <p:nvPr/>
        </p:nvSpPr>
        <p:spPr>
          <a:xfrm xmlns:a="http://schemas.openxmlformats.org/drawingml/2006/main">
            <a:off x="590550" y="5457825"/>
            <a:ext cx="6457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Provides the conceptual map for the thesis’s visual families while warning against treating feature distance as a complete perceptual model.</a:t>
            </a:r>
          </a:p>
        </p:txBody>
      </p:sp>
    </p:spTree>
    <p:extLst>
      <p:ext uri="{BB962C8B-B14F-4D97-AF65-F5344CB8AC3E}">
        <p14:creationId xmlns:p14="http://schemas.microsoft.com/office/powerpoint/2010/main" val="16198211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01E88AC-AC15-45D4-8379-94CADEC0ACEC}"/>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04 · LITERATURE REVIEW</a:t>
            </a:r>
          </a:p>
        </p:txBody>
      </p:sp>
      <p:sp>
        <p:nvSpPr>
          <p:cNvPr id="2" name="">
            <a:extLst xmlns:a="http://schemas.openxmlformats.org/drawingml/2006/main">
              <a:ext uri="{FF2B5EF4-FFF2-40B4-BE49-F238E27FC236}">
                <a16:creationId xmlns:a16="http://schemas.microsoft.com/office/drawing/2014/main" id="{B1CFFC9C-5D16-4BA3-9038-3E2FD74ED0FF}"/>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7C77560B-1527-4201-9952-E6297F229C0F}"/>
              </a:ext>
            </a:extLst>
          </p:cNvPr>
          <p:cNvSpPr>
            <a:spLocks xmlns:a="http://schemas.openxmlformats.org/drawingml/2006/main" noGrp="1"/>
          </p:cNvSpPr>
          <p:nvPr/>
        </p:nvSpPr>
        <p:spPr>
          <a:xfrm xmlns:a="http://schemas.openxmlformats.org/drawingml/2006/main">
            <a:off x="400050" y="6667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Channel distance can reduce glyph confusion</a:t>
            </a:r>
          </a:p>
        </p:txBody>
      </p:sp>
      <p:sp>
        <p:nvSpPr>
          <p:cNvPr id="4" name="">
            <a:extLst xmlns:a="http://schemas.openxmlformats.org/drawingml/2006/main">
              <a:ext uri="{FF2B5EF4-FFF2-40B4-BE49-F238E27FC236}">
                <a16:creationId xmlns:a16="http://schemas.microsoft.com/office/drawing/2014/main" id="{5BB96863-EBCC-4D90-9EFA-1C6B85F3A040}"/>
              </a:ext>
            </a:extLst>
          </p:cNvPr>
          <p:cNvSpPr>
            <a:spLocks xmlns:a="http://schemas.openxmlformats.org/drawingml/2006/main" noGrp="1"/>
          </p:cNvSpPr>
          <p:nvPr/>
        </p:nvSpPr>
        <p:spPr>
          <a:xfrm xmlns:a="http://schemas.openxmlformats.org/drawingml/2006/main">
            <a:off x="400050" y="136207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E6672"/>
                </a:solidFill>
                <a:latin typeface="Helvetica Neue"/>
                <a:ea typeface="Helvetica Neue"/>
                <a:cs typeface="Helvetica Neue"/>
              </a:defRPr>
            </a:pPr>
            <a:r>
              <a:rPr sz="1200" b="0">
                <a:solidFill>
                  <a:srgbClr val="5E6672"/>
                </a:solidFill>
                <a:latin typeface="Helvetica Neue"/>
                <a:ea typeface="Helvetica Neue"/>
                <a:cs typeface="Helvetica Neue"/>
              </a:rPr>
              <a:t>Legg, Maguire, Walton &amp; Chen · 2016</a:t>
            </a:r>
          </a:p>
        </p:txBody>
      </p:sp>
      <p:sp>
        <p:nvSpPr>
          <p:cNvPr id="5" name="">
            <a:extLst xmlns:a="http://schemas.openxmlformats.org/drawingml/2006/main">
              <a:ext uri="{FF2B5EF4-FFF2-40B4-BE49-F238E27FC236}">
                <a16:creationId xmlns:a16="http://schemas.microsoft.com/office/drawing/2014/main" id="{6056EBE9-E045-4F91-BB5C-32D69ED619B3}"/>
              </a:ext>
            </a:extLst>
          </p:cNvPr>
          <p:cNvSpPr>
            <a:spLocks xmlns:a="http://schemas.openxmlformats.org/drawingml/2006/main" noGrp="1"/>
          </p:cNvSpPr>
          <p:nvPr/>
        </p:nvSpPr>
        <p:spPr>
          <a:xfrm xmlns:a="http://schemas.openxmlformats.org/drawingml/2006/main">
            <a:off x="400050" y="1790700"/>
            <a:ext cx="3981450" cy="4171950"/>
          </a:xfrm>
          <a:prstGeom xmlns:a="http://schemas.openxmlformats.org/drawingml/2006/main" prst="rect">
            <a:avLst/>
          </a:prstGeom>
          <a:solidFill xmlns:a="http://schemas.openxmlformats.org/drawingml/2006/main">
            <a:srgbClr val="F1F2F3"/>
          </a:solidFill>
          <a:ln xmlns:a="http://schemas.openxmlformats.org/drawingml/2006/main" w="9525">
            <a:solidFill>
              <a:srgbClr val="B8BCC4"/>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074bb903a9ab4e9d"/>
          <a:stretch xmlns:a="http://schemas.openxmlformats.org/drawingml/2006/main"/>
        </p:blipFill>
        <p:spPr>
          <a:xfrm xmlns:a="http://schemas.openxmlformats.org/drawingml/2006/main">
            <a:off x="922794" y="1924050"/>
            <a:ext cx="2935961" cy="3905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87A199D-90B2-4F38-9112-AF4D0607EF7A}"/>
              </a:ext>
            </a:extLst>
          </p:cNvPr>
          <p:cNvSpPr>
            <a:spLocks xmlns:a="http://schemas.openxmlformats.org/drawingml/2006/main" noGrp="1"/>
          </p:cNvSpPr>
          <p:nvPr/>
        </p:nvSpPr>
        <p:spPr>
          <a:xfrm xmlns:a="http://schemas.openxmlformats.org/drawingml/2006/main">
            <a:off x="4552950" y="18097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PURPOSE</a:t>
            </a:r>
          </a:p>
        </p:txBody>
      </p:sp>
      <p:sp>
        <p:nvSpPr>
          <p:cNvPr id="8" name="">
            <a:extLst xmlns:a="http://schemas.openxmlformats.org/drawingml/2006/main">
              <a:ext uri="{FF2B5EF4-FFF2-40B4-BE49-F238E27FC236}">
                <a16:creationId xmlns:a16="http://schemas.microsoft.com/office/drawing/2014/main" id="{1F52284C-A7F9-4C21-9F50-E87FAF096C5B}"/>
              </a:ext>
            </a:extLst>
          </p:cNvPr>
          <p:cNvSpPr>
            <a:spLocks xmlns:a="http://schemas.openxmlformats.org/drawingml/2006/main" noGrp="1"/>
          </p:cNvSpPr>
          <p:nvPr/>
        </p:nvSpPr>
        <p:spPr>
          <a:xfrm xmlns:a="http://schemas.openxmlformats.org/drawingml/2006/main">
            <a:off x="4552950" y="20859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Adapt Hamming distance to glyph design so visually separable glyph sets can be designed more systematically.</a:t>
            </a:r>
          </a:p>
        </p:txBody>
      </p:sp>
      <p:sp>
        <p:nvSpPr>
          <p:cNvPr id="9" name="">
            <a:extLst xmlns:a="http://schemas.openxmlformats.org/drawingml/2006/main">
              <a:ext uri="{FF2B5EF4-FFF2-40B4-BE49-F238E27FC236}">
                <a16:creationId xmlns:a16="http://schemas.microsoft.com/office/drawing/2014/main" id="{18AE32EA-3703-48A5-ACCD-7D2DD1AC466F}"/>
              </a:ext>
            </a:extLst>
          </p:cNvPr>
          <p:cNvSpPr>
            <a:spLocks xmlns:a="http://schemas.openxmlformats.org/drawingml/2006/main" noGrp="1"/>
          </p:cNvSpPr>
          <p:nvPr/>
        </p:nvSpPr>
        <p:spPr>
          <a:xfrm xmlns:a="http://schemas.openxmlformats.org/drawingml/2006/main">
            <a:off x="4552950" y="28384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METHOD</a:t>
            </a:r>
          </a:p>
        </p:txBody>
      </p:sp>
      <p:sp>
        <p:nvSpPr>
          <p:cNvPr id="10" name="">
            <a:extLst xmlns:a="http://schemas.openxmlformats.org/drawingml/2006/main">
              <a:ext uri="{FF2B5EF4-FFF2-40B4-BE49-F238E27FC236}">
                <a16:creationId xmlns:a16="http://schemas.microsoft.com/office/drawing/2014/main" id="{F73615B3-A987-4078-84AE-0615A12FD6FD}"/>
              </a:ext>
            </a:extLst>
          </p:cNvPr>
          <p:cNvSpPr>
            <a:spLocks xmlns:a="http://schemas.openxmlformats.org/drawingml/2006/main" noGrp="1"/>
          </p:cNvSpPr>
          <p:nvPr/>
        </p:nvSpPr>
        <p:spPr>
          <a:xfrm xmlns:a="http://schemas.openxmlformats.org/drawingml/2006/main">
            <a:off x="4552950" y="31146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The authors define quasi-Hamming distance, estimate channel separability with a 20-participant survey, and demonstrate it in a file-event glyph system.</a:t>
            </a:r>
          </a:p>
        </p:txBody>
      </p:sp>
      <p:sp>
        <p:nvSpPr>
          <p:cNvPr id="11" name="">
            <a:extLst xmlns:a="http://schemas.openxmlformats.org/drawingml/2006/main">
              <a:ext uri="{FF2B5EF4-FFF2-40B4-BE49-F238E27FC236}">
                <a16:creationId xmlns:a16="http://schemas.microsoft.com/office/drawing/2014/main" id="{E2F7A22C-FC7D-4AE7-B2FF-9A514AEABD40}"/>
              </a:ext>
            </a:extLst>
          </p:cNvPr>
          <p:cNvSpPr>
            <a:spLocks xmlns:a="http://schemas.openxmlformats.org/drawingml/2006/main" noGrp="1"/>
          </p:cNvSpPr>
          <p:nvPr/>
        </p:nvSpPr>
        <p:spPr>
          <a:xfrm xmlns:a="http://schemas.openxmlformats.org/drawingml/2006/main">
            <a:off x="4552950" y="38671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MAIN FINDING</a:t>
            </a:r>
          </a:p>
        </p:txBody>
      </p:sp>
      <p:sp>
        <p:nvSpPr>
          <p:cNvPr id="12" name="">
            <a:extLst xmlns:a="http://schemas.openxmlformats.org/drawingml/2006/main">
              <a:ext uri="{FF2B5EF4-FFF2-40B4-BE49-F238E27FC236}">
                <a16:creationId xmlns:a16="http://schemas.microsoft.com/office/drawing/2014/main" id="{16591538-A784-4541-A74C-FD57FA021DA7}"/>
              </a:ext>
            </a:extLst>
          </p:cNvPr>
          <p:cNvSpPr>
            <a:spLocks xmlns:a="http://schemas.openxmlformats.org/drawingml/2006/main" noGrp="1"/>
          </p:cNvSpPr>
          <p:nvPr/>
        </p:nvSpPr>
        <p:spPr>
          <a:xfrm xmlns:a="http://schemas.openxmlformats.org/drawingml/2006/main">
            <a:off x="4552950" y="41433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Increasing differences across visual channels can reduce vulnerability to perceptual errors, although separability varies by channel.</a:t>
            </a:r>
          </a:p>
        </p:txBody>
      </p:sp>
      <p:sp>
        <p:nvSpPr>
          <p:cNvPr id="13" name="">
            <a:extLst xmlns:a="http://schemas.openxmlformats.org/drawingml/2006/main">
              <a:ext uri="{FF2B5EF4-FFF2-40B4-BE49-F238E27FC236}">
                <a16:creationId xmlns:a16="http://schemas.microsoft.com/office/drawing/2014/main" id="{3549D09E-7ECD-4A9D-AFCB-6BF636522B53}"/>
              </a:ext>
            </a:extLst>
          </p:cNvPr>
          <p:cNvSpPr>
            <a:spLocks xmlns:a="http://schemas.openxmlformats.org/drawingml/2006/main" noGrp="1"/>
          </p:cNvSpPr>
          <p:nvPr/>
        </p:nvSpPr>
        <p:spPr>
          <a:xfrm xmlns:a="http://schemas.openxmlformats.org/drawingml/2006/main">
            <a:off x="4552950" y="5038725"/>
            <a:ext cx="6838950" cy="92392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B0C4CFA-FC9B-4B73-A3EA-932C665EDBEB}"/>
              </a:ext>
            </a:extLst>
          </p:cNvPr>
          <p:cNvSpPr>
            <a:spLocks xmlns:a="http://schemas.openxmlformats.org/drawingml/2006/main" noGrp="1"/>
          </p:cNvSpPr>
          <p:nvPr/>
        </p:nvSpPr>
        <p:spPr>
          <a:xfrm xmlns:a="http://schemas.openxmlformats.org/drawingml/2006/main">
            <a:off x="4743450" y="5200650"/>
            <a:ext cx="6457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WHY IT MATTERS HERE</a:t>
            </a:r>
          </a:p>
        </p:txBody>
      </p:sp>
      <p:sp>
        <p:nvSpPr>
          <p:cNvPr id="15" name="">
            <a:extLst xmlns:a="http://schemas.openxmlformats.org/drawingml/2006/main">
              <a:ext uri="{FF2B5EF4-FFF2-40B4-BE49-F238E27FC236}">
                <a16:creationId xmlns:a16="http://schemas.microsoft.com/office/drawing/2014/main" id="{7E4BE243-5313-4378-982A-4D52833E6E09}"/>
              </a:ext>
            </a:extLst>
          </p:cNvPr>
          <p:cNvSpPr>
            <a:spLocks xmlns:a="http://schemas.openxmlformats.org/drawingml/2006/main" noGrp="1"/>
          </p:cNvSpPr>
          <p:nvPr/>
        </p:nvSpPr>
        <p:spPr>
          <a:xfrm xmlns:a="http://schemas.openxmlformats.org/drawingml/2006/main">
            <a:off x="4743450" y="5457825"/>
            <a:ext cx="6457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Motivates pairwise distinguishability and family-wise distance, but does not validate the thesis’s exact continuous feature formulas.</a:t>
            </a:r>
          </a:p>
        </p:txBody>
      </p:sp>
    </p:spTree>
    <p:extLst>
      <p:ext uri="{BB962C8B-B14F-4D97-AF65-F5344CB8AC3E}">
        <p14:creationId xmlns:p14="http://schemas.microsoft.com/office/powerpoint/2010/main" val="99649424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C36D361-0A3D-4EDA-95FF-BD9792F920B5}"/>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04 · LITERATURE REVIEW</a:t>
            </a:r>
          </a:p>
        </p:txBody>
      </p:sp>
      <p:sp>
        <p:nvSpPr>
          <p:cNvPr id="2" name="">
            <a:extLst xmlns:a="http://schemas.openxmlformats.org/drawingml/2006/main">
              <a:ext uri="{FF2B5EF4-FFF2-40B4-BE49-F238E27FC236}">
                <a16:creationId xmlns:a16="http://schemas.microsoft.com/office/drawing/2014/main" id="{3FC85362-B4DC-4FAE-B5DB-D70C55133D02}"/>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51C4E027-1178-43B6-B037-504BA5C7AAFC}"/>
              </a:ext>
            </a:extLst>
          </p:cNvPr>
          <p:cNvSpPr>
            <a:spLocks xmlns:a="http://schemas.openxmlformats.org/drawingml/2006/main" noGrp="1"/>
          </p:cNvSpPr>
          <p:nvPr/>
        </p:nvSpPr>
        <p:spPr>
          <a:xfrm xmlns:a="http://schemas.openxmlformats.org/drawingml/2006/main">
            <a:off x="400050" y="6667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A taxonomy can guide scalable glyph design</a:t>
            </a:r>
          </a:p>
        </p:txBody>
      </p:sp>
      <p:sp>
        <p:nvSpPr>
          <p:cNvPr id="4" name="">
            <a:extLst xmlns:a="http://schemas.openxmlformats.org/drawingml/2006/main">
              <a:ext uri="{FF2B5EF4-FFF2-40B4-BE49-F238E27FC236}">
                <a16:creationId xmlns:a16="http://schemas.microsoft.com/office/drawing/2014/main" id="{8CA8A959-FE65-4DB1-940F-8BA61A844623}"/>
              </a:ext>
            </a:extLst>
          </p:cNvPr>
          <p:cNvSpPr>
            <a:spLocks xmlns:a="http://schemas.openxmlformats.org/drawingml/2006/main" noGrp="1"/>
          </p:cNvSpPr>
          <p:nvPr/>
        </p:nvSpPr>
        <p:spPr>
          <a:xfrm xmlns:a="http://schemas.openxmlformats.org/drawingml/2006/main">
            <a:off x="400050" y="136207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E6672"/>
                </a:solidFill>
                <a:latin typeface="Helvetica Neue"/>
                <a:ea typeface="Helvetica Neue"/>
                <a:cs typeface="Helvetica Neue"/>
              </a:defRPr>
            </a:pPr>
            <a:r>
              <a:rPr sz="1200" b="0">
                <a:solidFill>
                  <a:srgbClr val="5E6672"/>
                </a:solidFill>
                <a:latin typeface="Helvetica Neue"/>
                <a:ea typeface="Helvetica Neue"/>
                <a:cs typeface="Helvetica Neue"/>
              </a:rPr>
              <a:t>Maguire et al. · 2012</a:t>
            </a:r>
          </a:p>
        </p:txBody>
      </p:sp>
      <p:sp>
        <p:nvSpPr>
          <p:cNvPr id="5" name="">
            <a:extLst xmlns:a="http://schemas.openxmlformats.org/drawingml/2006/main">
              <a:ext uri="{FF2B5EF4-FFF2-40B4-BE49-F238E27FC236}">
                <a16:creationId xmlns:a16="http://schemas.microsoft.com/office/drawing/2014/main" id="{1AEB9EED-651E-4ADE-AC13-EE92D95B5696}"/>
              </a:ext>
            </a:extLst>
          </p:cNvPr>
          <p:cNvSpPr>
            <a:spLocks xmlns:a="http://schemas.openxmlformats.org/drawingml/2006/main" noGrp="1"/>
          </p:cNvSpPr>
          <p:nvPr/>
        </p:nvSpPr>
        <p:spPr>
          <a:xfrm xmlns:a="http://schemas.openxmlformats.org/drawingml/2006/main">
            <a:off x="7810500" y="1790700"/>
            <a:ext cx="3981450" cy="4171950"/>
          </a:xfrm>
          <a:prstGeom xmlns:a="http://schemas.openxmlformats.org/drawingml/2006/main" prst="rect">
            <a:avLst/>
          </a:prstGeom>
          <a:solidFill xmlns:a="http://schemas.openxmlformats.org/drawingml/2006/main">
            <a:srgbClr val="F1F2F3"/>
          </a:solidFill>
          <a:ln xmlns:a="http://schemas.openxmlformats.org/drawingml/2006/main" w="9525">
            <a:solidFill>
              <a:srgbClr val="B8BCC4"/>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c92c9d0697b24eb0"/>
          <a:stretch xmlns:a="http://schemas.openxmlformats.org/drawingml/2006/main"/>
        </p:blipFill>
        <p:spPr>
          <a:xfrm xmlns:a="http://schemas.openxmlformats.org/drawingml/2006/main">
            <a:off x="8370814" y="1924050"/>
            <a:ext cx="2860823" cy="3905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BD8C6F8-60A1-4A89-8DB4-D6D2C961E6A2}"/>
              </a:ext>
            </a:extLst>
          </p:cNvPr>
          <p:cNvSpPr>
            <a:spLocks xmlns:a="http://schemas.openxmlformats.org/drawingml/2006/main" noGrp="1"/>
          </p:cNvSpPr>
          <p:nvPr/>
        </p:nvSpPr>
        <p:spPr>
          <a:xfrm xmlns:a="http://schemas.openxmlformats.org/drawingml/2006/main">
            <a:off x="400050" y="18097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PURPOSE</a:t>
            </a:r>
          </a:p>
        </p:txBody>
      </p:sp>
      <p:sp>
        <p:nvSpPr>
          <p:cNvPr id="8" name="">
            <a:extLst xmlns:a="http://schemas.openxmlformats.org/drawingml/2006/main">
              <a:ext uri="{FF2B5EF4-FFF2-40B4-BE49-F238E27FC236}">
                <a16:creationId xmlns:a16="http://schemas.microsoft.com/office/drawing/2014/main" id="{4B3B195B-4750-4FC4-910E-A368538FEBCD}"/>
              </a:ext>
            </a:extLst>
          </p:cNvPr>
          <p:cNvSpPr>
            <a:spLocks xmlns:a="http://schemas.openxmlformats.org/drawingml/2006/main" noGrp="1"/>
          </p:cNvSpPr>
          <p:nvPr/>
        </p:nvSpPr>
        <p:spPr>
          <a:xfrm xmlns:a="http://schemas.openxmlformats.org/drawingml/2006/main">
            <a:off x="400050" y="20859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Replace ad-hoc glyph creation with a systematic process that scales to many domain concepts.</a:t>
            </a:r>
          </a:p>
        </p:txBody>
      </p:sp>
      <p:sp>
        <p:nvSpPr>
          <p:cNvPr id="9" name="">
            <a:extLst xmlns:a="http://schemas.openxmlformats.org/drawingml/2006/main">
              <a:ext uri="{FF2B5EF4-FFF2-40B4-BE49-F238E27FC236}">
                <a16:creationId xmlns:a16="http://schemas.microsoft.com/office/drawing/2014/main" id="{BFA82DA1-AF68-46AF-AA51-6DA9D702153A}"/>
              </a:ext>
            </a:extLst>
          </p:cNvPr>
          <p:cNvSpPr>
            <a:spLocks xmlns:a="http://schemas.openxmlformats.org/drawingml/2006/main" noGrp="1"/>
          </p:cNvSpPr>
          <p:nvPr/>
        </p:nvSpPr>
        <p:spPr>
          <a:xfrm xmlns:a="http://schemas.openxmlformats.org/drawingml/2006/main">
            <a:off x="400050" y="28384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METHOD</a:t>
            </a:r>
          </a:p>
        </p:txBody>
      </p:sp>
      <p:sp>
        <p:nvSpPr>
          <p:cNvPr id="10" name="">
            <a:extLst xmlns:a="http://schemas.openxmlformats.org/drawingml/2006/main">
              <a:ext uri="{FF2B5EF4-FFF2-40B4-BE49-F238E27FC236}">
                <a16:creationId xmlns:a16="http://schemas.microsoft.com/office/drawing/2014/main" id="{3A0D7455-4005-4CBE-9690-4CCB16F63DB3}"/>
              </a:ext>
            </a:extLst>
          </p:cNvPr>
          <p:cNvSpPr>
            <a:spLocks xmlns:a="http://schemas.openxmlformats.org/drawingml/2006/main" noGrp="1"/>
          </p:cNvSpPr>
          <p:nvPr/>
        </p:nvSpPr>
        <p:spPr>
          <a:xfrm xmlns:a="http://schemas.openxmlformats.org/drawingml/2006/main">
            <a:off x="400050" y="31146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A design methodology combines a concept taxonomy, a hierarchy of visual channels, and a biological-workflow case study.</a:t>
            </a:r>
          </a:p>
        </p:txBody>
      </p:sp>
      <p:sp>
        <p:nvSpPr>
          <p:cNvPr id="11" name="">
            <a:extLst xmlns:a="http://schemas.openxmlformats.org/drawingml/2006/main">
              <a:ext uri="{FF2B5EF4-FFF2-40B4-BE49-F238E27FC236}">
                <a16:creationId xmlns:a16="http://schemas.microsoft.com/office/drawing/2014/main" id="{6D681CB6-6DC7-4026-860C-8A68984E7BEC}"/>
              </a:ext>
            </a:extLst>
          </p:cNvPr>
          <p:cNvSpPr>
            <a:spLocks xmlns:a="http://schemas.openxmlformats.org/drawingml/2006/main" noGrp="1"/>
          </p:cNvSpPr>
          <p:nvPr/>
        </p:nvSpPr>
        <p:spPr>
          <a:xfrm xmlns:a="http://schemas.openxmlformats.org/drawingml/2006/main">
            <a:off x="400050" y="38671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MAIN FINDING</a:t>
            </a:r>
          </a:p>
        </p:txBody>
      </p:sp>
      <p:sp>
        <p:nvSpPr>
          <p:cNvPr id="12" name="">
            <a:extLst xmlns:a="http://schemas.openxmlformats.org/drawingml/2006/main">
              <a:ext uri="{FF2B5EF4-FFF2-40B4-BE49-F238E27FC236}">
                <a16:creationId xmlns:a16="http://schemas.microsoft.com/office/drawing/2014/main" id="{EAF8459B-6298-4210-938E-F16F3772B40F}"/>
              </a:ext>
            </a:extLst>
          </p:cNvPr>
          <p:cNvSpPr>
            <a:spLocks xmlns:a="http://schemas.openxmlformats.org/drawingml/2006/main" noGrp="1"/>
          </p:cNvSpPr>
          <p:nvPr/>
        </p:nvSpPr>
        <p:spPr>
          <a:xfrm xmlns:a="http://schemas.openxmlformats.org/drawingml/2006/main">
            <a:off x="400050" y="41433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Structured categorization and deliberate visual-channel assignment can produce a more scalable, application-specific glyph language.</a:t>
            </a:r>
          </a:p>
        </p:txBody>
      </p:sp>
      <p:sp>
        <p:nvSpPr>
          <p:cNvPr id="13" name="">
            <a:extLst xmlns:a="http://schemas.openxmlformats.org/drawingml/2006/main">
              <a:ext uri="{FF2B5EF4-FFF2-40B4-BE49-F238E27FC236}">
                <a16:creationId xmlns:a16="http://schemas.microsoft.com/office/drawing/2014/main" id="{D788EA25-6EAA-47AC-9D6E-84AA0D69C3BD}"/>
              </a:ext>
            </a:extLst>
          </p:cNvPr>
          <p:cNvSpPr>
            <a:spLocks xmlns:a="http://schemas.openxmlformats.org/drawingml/2006/main" noGrp="1"/>
          </p:cNvSpPr>
          <p:nvPr/>
        </p:nvSpPr>
        <p:spPr>
          <a:xfrm xmlns:a="http://schemas.openxmlformats.org/drawingml/2006/main">
            <a:off x="400050" y="5038725"/>
            <a:ext cx="6838950" cy="92392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4E611D8-9D8D-4A35-B981-31DC6ED998C0}"/>
              </a:ext>
            </a:extLst>
          </p:cNvPr>
          <p:cNvSpPr>
            <a:spLocks xmlns:a="http://schemas.openxmlformats.org/drawingml/2006/main" noGrp="1"/>
          </p:cNvSpPr>
          <p:nvPr/>
        </p:nvSpPr>
        <p:spPr>
          <a:xfrm xmlns:a="http://schemas.openxmlformats.org/drawingml/2006/main">
            <a:off x="590550" y="5200650"/>
            <a:ext cx="6457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WHY IT MATTERS HERE</a:t>
            </a:r>
          </a:p>
        </p:txBody>
      </p:sp>
      <p:sp>
        <p:nvSpPr>
          <p:cNvPr id="15" name="">
            <a:extLst xmlns:a="http://schemas.openxmlformats.org/drawingml/2006/main">
              <a:ext uri="{FF2B5EF4-FFF2-40B4-BE49-F238E27FC236}">
                <a16:creationId xmlns:a16="http://schemas.microsoft.com/office/drawing/2014/main" id="{8331ECE7-396B-4F6F-9B48-E576B3F067AC}"/>
              </a:ext>
            </a:extLst>
          </p:cNvPr>
          <p:cNvSpPr>
            <a:spLocks xmlns:a="http://schemas.openxmlformats.org/drawingml/2006/main" noGrp="1"/>
          </p:cNvSpPr>
          <p:nvPr/>
        </p:nvSpPr>
        <p:spPr>
          <a:xfrm xmlns:a="http://schemas.openxmlformats.org/drawingml/2006/main">
            <a:off x="590550" y="5457825"/>
            <a:ext cx="6457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Supports organizing semantic categories as metadata and design context—not claiming that low-level image features recover meaning.</a:t>
            </a:r>
          </a:p>
        </p:txBody>
      </p:sp>
    </p:spTree>
    <p:extLst>
      <p:ext uri="{BB962C8B-B14F-4D97-AF65-F5344CB8AC3E}">
        <p14:creationId xmlns:p14="http://schemas.microsoft.com/office/powerpoint/2010/main" val="74043569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41372BF-AFD8-43FE-843B-496A63F8DB27}"/>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04 · LITERATURE REVIEW</a:t>
            </a:r>
          </a:p>
        </p:txBody>
      </p:sp>
      <p:sp>
        <p:nvSpPr>
          <p:cNvPr id="2" name="">
            <a:extLst xmlns:a="http://schemas.openxmlformats.org/drawingml/2006/main">
              <a:ext uri="{FF2B5EF4-FFF2-40B4-BE49-F238E27FC236}">
                <a16:creationId xmlns:a16="http://schemas.microsoft.com/office/drawing/2014/main" id="{09F3B8AD-15FC-43C3-8B82-6391E2DA3FF5}"/>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9348BCB0-3DA1-4024-BD1A-6449285580C8}"/>
              </a:ext>
            </a:extLst>
          </p:cNvPr>
          <p:cNvSpPr>
            <a:spLocks xmlns:a="http://schemas.openxmlformats.org/drawingml/2006/main" noGrp="1"/>
          </p:cNvSpPr>
          <p:nvPr/>
        </p:nvSpPr>
        <p:spPr>
          <a:xfrm xmlns:a="http://schemas.openxmlformats.org/drawingml/2006/main">
            <a:off x="400050" y="6667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Contours shift perceived similarity</a:t>
            </a:r>
          </a:p>
        </p:txBody>
      </p:sp>
      <p:sp>
        <p:nvSpPr>
          <p:cNvPr id="4" name="">
            <a:extLst xmlns:a="http://schemas.openxmlformats.org/drawingml/2006/main">
              <a:ext uri="{FF2B5EF4-FFF2-40B4-BE49-F238E27FC236}">
                <a16:creationId xmlns:a16="http://schemas.microsoft.com/office/drawing/2014/main" id="{29EC85CF-CD5D-40F5-B898-CBACE095C949}"/>
              </a:ext>
            </a:extLst>
          </p:cNvPr>
          <p:cNvSpPr>
            <a:spLocks xmlns:a="http://schemas.openxmlformats.org/drawingml/2006/main" noGrp="1"/>
          </p:cNvSpPr>
          <p:nvPr/>
        </p:nvSpPr>
        <p:spPr>
          <a:xfrm xmlns:a="http://schemas.openxmlformats.org/drawingml/2006/main">
            <a:off x="400050" y="136207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E6672"/>
                </a:solidFill>
                <a:latin typeface="Helvetica Neue"/>
                <a:ea typeface="Helvetica Neue"/>
                <a:cs typeface="Helvetica Neue"/>
              </a:defRPr>
            </a:pPr>
            <a:r>
              <a:rPr sz="1200" b="0">
                <a:solidFill>
                  <a:srgbClr val="5E6672"/>
                </a:solidFill>
                <a:latin typeface="Helvetica Neue"/>
                <a:ea typeface="Helvetica Neue"/>
                <a:cs typeface="Helvetica Neue"/>
              </a:rPr>
              <a:t>Fuchs et al. · 2014</a:t>
            </a:r>
          </a:p>
        </p:txBody>
      </p:sp>
      <p:sp>
        <p:nvSpPr>
          <p:cNvPr id="5" name="">
            <a:extLst xmlns:a="http://schemas.openxmlformats.org/drawingml/2006/main">
              <a:ext uri="{FF2B5EF4-FFF2-40B4-BE49-F238E27FC236}">
                <a16:creationId xmlns:a16="http://schemas.microsoft.com/office/drawing/2014/main" id="{9408E4E3-3080-49CA-817C-FADC4AEB1CB1}"/>
              </a:ext>
            </a:extLst>
          </p:cNvPr>
          <p:cNvSpPr>
            <a:spLocks xmlns:a="http://schemas.openxmlformats.org/drawingml/2006/main" noGrp="1"/>
          </p:cNvSpPr>
          <p:nvPr/>
        </p:nvSpPr>
        <p:spPr>
          <a:xfrm xmlns:a="http://schemas.openxmlformats.org/drawingml/2006/main">
            <a:off x="400050" y="1790700"/>
            <a:ext cx="3981450" cy="4171950"/>
          </a:xfrm>
          <a:prstGeom xmlns:a="http://schemas.openxmlformats.org/drawingml/2006/main" prst="rect">
            <a:avLst/>
          </a:prstGeom>
          <a:solidFill xmlns:a="http://schemas.openxmlformats.org/drawingml/2006/main">
            <a:srgbClr val="F1F2F3"/>
          </a:solidFill>
          <a:ln xmlns:a="http://schemas.openxmlformats.org/drawingml/2006/main" w="9525">
            <a:solidFill>
              <a:srgbClr val="B8BCC4"/>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c9348936b564673"/>
          <a:stretch xmlns:a="http://schemas.openxmlformats.org/drawingml/2006/main"/>
        </p:blipFill>
        <p:spPr>
          <a:xfrm xmlns:a="http://schemas.openxmlformats.org/drawingml/2006/main">
            <a:off x="1009752" y="1924050"/>
            <a:ext cx="2762046" cy="3905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4387D4E-17F7-4E08-BB20-4F386AA2CF03}"/>
              </a:ext>
            </a:extLst>
          </p:cNvPr>
          <p:cNvSpPr>
            <a:spLocks xmlns:a="http://schemas.openxmlformats.org/drawingml/2006/main" noGrp="1"/>
          </p:cNvSpPr>
          <p:nvPr/>
        </p:nvSpPr>
        <p:spPr>
          <a:xfrm xmlns:a="http://schemas.openxmlformats.org/drawingml/2006/main">
            <a:off x="4552950" y="18097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PURPOSE</a:t>
            </a:r>
          </a:p>
        </p:txBody>
      </p:sp>
      <p:sp>
        <p:nvSpPr>
          <p:cNvPr id="8" name="">
            <a:extLst xmlns:a="http://schemas.openxmlformats.org/drawingml/2006/main">
              <a:ext uri="{FF2B5EF4-FFF2-40B4-BE49-F238E27FC236}">
                <a16:creationId xmlns:a16="http://schemas.microsoft.com/office/drawing/2014/main" id="{774D3379-1625-4C93-B2D5-48C0257D98F9}"/>
              </a:ext>
            </a:extLst>
          </p:cNvPr>
          <p:cNvSpPr>
            <a:spLocks xmlns:a="http://schemas.openxmlformats.org/drawingml/2006/main" noGrp="1"/>
          </p:cNvSpPr>
          <p:nvPr/>
        </p:nvSpPr>
        <p:spPr>
          <a:xfrm xmlns:a="http://schemas.openxmlformats.org/drawingml/2006/main">
            <a:off x="4552950" y="20859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Test how contour, fill, and reference structures influence similarity judgments for star glyphs.</a:t>
            </a:r>
          </a:p>
        </p:txBody>
      </p:sp>
      <p:sp>
        <p:nvSpPr>
          <p:cNvPr id="9" name="">
            <a:extLst xmlns:a="http://schemas.openxmlformats.org/drawingml/2006/main">
              <a:ext uri="{FF2B5EF4-FFF2-40B4-BE49-F238E27FC236}">
                <a16:creationId xmlns:a16="http://schemas.microsoft.com/office/drawing/2014/main" id="{5464AEB2-96FF-486D-8D29-71CCE13AE6F0}"/>
              </a:ext>
            </a:extLst>
          </p:cNvPr>
          <p:cNvSpPr>
            <a:spLocks xmlns:a="http://schemas.openxmlformats.org/drawingml/2006/main" noGrp="1"/>
          </p:cNvSpPr>
          <p:nvPr/>
        </p:nvSpPr>
        <p:spPr>
          <a:xfrm xmlns:a="http://schemas.openxmlformats.org/drawingml/2006/main">
            <a:off x="4552950" y="28384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METHOD</a:t>
            </a:r>
          </a:p>
        </p:txBody>
      </p:sp>
      <p:sp>
        <p:nvSpPr>
          <p:cNvPr id="10" name="">
            <a:extLst xmlns:a="http://schemas.openxmlformats.org/drawingml/2006/main">
              <a:ext uri="{FF2B5EF4-FFF2-40B4-BE49-F238E27FC236}">
                <a16:creationId xmlns:a16="http://schemas.microsoft.com/office/drawing/2014/main" id="{B3235316-4DF8-4B3E-9BA2-96BC112E6538}"/>
              </a:ext>
            </a:extLst>
          </p:cNvPr>
          <p:cNvSpPr>
            <a:spLocks xmlns:a="http://schemas.openxmlformats.org/drawingml/2006/main" noGrp="1"/>
          </p:cNvSpPr>
          <p:nvPr/>
        </p:nvSpPr>
        <p:spPr>
          <a:xfrm xmlns:a="http://schemas.openxmlformats.org/drawingml/2006/main">
            <a:off x="4552950" y="31146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Three experiments compared experts, trained novices, and online participants using target-plus-alternative similarity-selection tasks.</a:t>
            </a:r>
          </a:p>
        </p:txBody>
      </p:sp>
      <p:sp>
        <p:nvSpPr>
          <p:cNvPr id="11" name="">
            <a:extLst xmlns:a="http://schemas.openxmlformats.org/drawingml/2006/main">
              <a:ext uri="{FF2B5EF4-FFF2-40B4-BE49-F238E27FC236}">
                <a16:creationId xmlns:a16="http://schemas.microsoft.com/office/drawing/2014/main" id="{5C95F660-1283-4BAD-B25D-56F752C3CB21}"/>
              </a:ext>
            </a:extLst>
          </p:cNvPr>
          <p:cNvSpPr>
            <a:spLocks xmlns:a="http://schemas.openxmlformats.org/drawingml/2006/main" noGrp="1"/>
          </p:cNvSpPr>
          <p:nvPr/>
        </p:nvSpPr>
        <p:spPr>
          <a:xfrm xmlns:a="http://schemas.openxmlformats.org/drawingml/2006/main">
            <a:off x="4552950" y="38671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MAIN FINDING</a:t>
            </a:r>
          </a:p>
        </p:txBody>
      </p:sp>
      <p:sp>
        <p:nvSpPr>
          <p:cNvPr id="12" name="">
            <a:extLst xmlns:a="http://schemas.openxmlformats.org/drawingml/2006/main">
              <a:ext uri="{FF2B5EF4-FFF2-40B4-BE49-F238E27FC236}">
                <a16:creationId xmlns:a16="http://schemas.microsoft.com/office/drawing/2014/main" id="{5DC82899-0101-4F3D-A787-545353D9098D}"/>
              </a:ext>
            </a:extLst>
          </p:cNvPr>
          <p:cNvSpPr>
            <a:spLocks xmlns:a="http://schemas.openxmlformats.org/drawingml/2006/main" noGrp="1"/>
          </p:cNvSpPr>
          <p:nvPr/>
        </p:nvSpPr>
        <p:spPr>
          <a:xfrm xmlns:a="http://schemas.openxmlformats.org/drawingml/2006/main">
            <a:off x="4552950" y="41433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Simple star glyphs without contours best supported data similarity; contours could shift attention toward overall shape instead.</a:t>
            </a:r>
          </a:p>
        </p:txBody>
      </p:sp>
      <p:sp>
        <p:nvSpPr>
          <p:cNvPr id="13" name="">
            <a:extLst xmlns:a="http://schemas.openxmlformats.org/drawingml/2006/main">
              <a:ext uri="{FF2B5EF4-FFF2-40B4-BE49-F238E27FC236}">
                <a16:creationId xmlns:a16="http://schemas.microsoft.com/office/drawing/2014/main" id="{11194BF2-E2CD-481A-A41E-77FBE6C17898}"/>
              </a:ext>
            </a:extLst>
          </p:cNvPr>
          <p:cNvSpPr>
            <a:spLocks xmlns:a="http://schemas.openxmlformats.org/drawingml/2006/main" noGrp="1"/>
          </p:cNvSpPr>
          <p:nvPr/>
        </p:nvSpPr>
        <p:spPr>
          <a:xfrm xmlns:a="http://schemas.openxmlformats.org/drawingml/2006/main">
            <a:off x="4552950" y="5038725"/>
            <a:ext cx="6838950" cy="92392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545E98D-012F-4F9F-9241-BA476255A8D0}"/>
              </a:ext>
            </a:extLst>
          </p:cNvPr>
          <p:cNvSpPr>
            <a:spLocks xmlns:a="http://schemas.openxmlformats.org/drawingml/2006/main" noGrp="1"/>
          </p:cNvSpPr>
          <p:nvPr/>
        </p:nvSpPr>
        <p:spPr>
          <a:xfrm xmlns:a="http://schemas.openxmlformats.org/drawingml/2006/main">
            <a:off x="4743450" y="5200650"/>
            <a:ext cx="6457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WHY IT MATTERS HERE</a:t>
            </a:r>
          </a:p>
        </p:txBody>
      </p:sp>
      <p:sp>
        <p:nvSpPr>
          <p:cNvPr id="15" name="">
            <a:extLst xmlns:a="http://schemas.openxmlformats.org/drawingml/2006/main">
              <a:ext uri="{FF2B5EF4-FFF2-40B4-BE49-F238E27FC236}">
                <a16:creationId xmlns:a16="http://schemas.microsoft.com/office/drawing/2014/main" id="{B994CF9D-45D1-4A06-B09E-08F2A05B5139}"/>
              </a:ext>
            </a:extLst>
          </p:cNvPr>
          <p:cNvSpPr>
            <a:spLocks xmlns:a="http://schemas.openxmlformats.org/drawingml/2006/main" noGrp="1"/>
          </p:cNvSpPr>
          <p:nvPr/>
        </p:nvSpPr>
        <p:spPr>
          <a:xfrm xmlns:a="http://schemas.openxmlformats.org/drawingml/2006/main">
            <a:off x="4743450" y="5457825"/>
            <a:ext cx="6457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Justifies contour and enclosure features while showing that similarity is task-dependent and cannot be reduced to one universal distance.</a:t>
            </a:r>
          </a:p>
        </p:txBody>
      </p:sp>
    </p:spTree>
    <p:extLst>
      <p:ext uri="{BB962C8B-B14F-4D97-AF65-F5344CB8AC3E}">
        <p14:creationId xmlns:p14="http://schemas.microsoft.com/office/powerpoint/2010/main" val="51397403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BD3F68E-F792-429C-804F-074C4EFB5FD3}"/>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04 · LITERATURE REVIEW</a:t>
            </a:r>
          </a:p>
        </p:txBody>
      </p:sp>
      <p:sp>
        <p:nvSpPr>
          <p:cNvPr id="2" name="">
            <a:extLst xmlns:a="http://schemas.openxmlformats.org/drawingml/2006/main">
              <a:ext uri="{FF2B5EF4-FFF2-40B4-BE49-F238E27FC236}">
                <a16:creationId xmlns:a16="http://schemas.microsoft.com/office/drawing/2014/main" id="{A1912354-4D9D-49CC-8011-449A06C4C935}"/>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30C6C31A-1ADA-4176-8505-A2154DEABC32}"/>
              </a:ext>
            </a:extLst>
          </p:cNvPr>
          <p:cNvSpPr>
            <a:spLocks xmlns:a="http://schemas.openxmlformats.org/drawingml/2006/main" noGrp="1"/>
          </p:cNvSpPr>
          <p:nvPr/>
        </p:nvSpPr>
        <p:spPr>
          <a:xfrm xmlns:a="http://schemas.openxmlformats.org/drawingml/2006/main">
            <a:off x="400050" y="6667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Glyph evaluation is strongly task-dependent</a:t>
            </a:r>
          </a:p>
        </p:txBody>
      </p:sp>
      <p:sp>
        <p:nvSpPr>
          <p:cNvPr id="4" name="">
            <a:extLst xmlns:a="http://schemas.openxmlformats.org/drawingml/2006/main">
              <a:ext uri="{FF2B5EF4-FFF2-40B4-BE49-F238E27FC236}">
                <a16:creationId xmlns:a16="http://schemas.microsoft.com/office/drawing/2014/main" id="{A0B914BB-4F26-4215-A9C7-75E80FFD3B12}"/>
              </a:ext>
            </a:extLst>
          </p:cNvPr>
          <p:cNvSpPr>
            <a:spLocks xmlns:a="http://schemas.openxmlformats.org/drawingml/2006/main" noGrp="1"/>
          </p:cNvSpPr>
          <p:nvPr/>
        </p:nvSpPr>
        <p:spPr>
          <a:xfrm xmlns:a="http://schemas.openxmlformats.org/drawingml/2006/main">
            <a:off x="400050" y="136207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E6672"/>
                </a:solidFill>
                <a:latin typeface="Helvetica Neue"/>
                <a:ea typeface="Helvetica Neue"/>
                <a:cs typeface="Helvetica Neue"/>
              </a:defRPr>
            </a:pPr>
            <a:r>
              <a:rPr sz="1200" b="0">
                <a:solidFill>
                  <a:srgbClr val="5E6672"/>
                </a:solidFill>
                <a:latin typeface="Helvetica Neue"/>
                <a:ea typeface="Helvetica Neue"/>
                <a:cs typeface="Helvetica Neue"/>
              </a:rPr>
              <a:t>Fuchs, Isenberg, Bezerianos &amp; Keim · 2017</a:t>
            </a:r>
          </a:p>
        </p:txBody>
      </p:sp>
      <p:sp>
        <p:nvSpPr>
          <p:cNvPr id="5" name="">
            <a:extLst xmlns:a="http://schemas.openxmlformats.org/drawingml/2006/main">
              <a:ext uri="{FF2B5EF4-FFF2-40B4-BE49-F238E27FC236}">
                <a16:creationId xmlns:a16="http://schemas.microsoft.com/office/drawing/2014/main" id="{A63EC361-CB3C-46A0-8F49-A6473C14EA35}"/>
              </a:ext>
            </a:extLst>
          </p:cNvPr>
          <p:cNvSpPr>
            <a:spLocks xmlns:a="http://schemas.openxmlformats.org/drawingml/2006/main" noGrp="1"/>
          </p:cNvSpPr>
          <p:nvPr/>
        </p:nvSpPr>
        <p:spPr>
          <a:xfrm xmlns:a="http://schemas.openxmlformats.org/drawingml/2006/main">
            <a:off x="7810500" y="1790700"/>
            <a:ext cx="3981450" cy="4171950"/>
          </a:xfrm>
          <a:prstGeom xmlns:a="http://schemas.openxmlformats.org/drawingml/2006/main" prst="rect">
            <a:avLst/>
          </a:prstGeom>
          <a:solidFill xmlns:a="http://schemas.openxmlformats.org/drawingml/2006/main">
            <a:srgbClr val="F1F2F3"/>
          </a:solidFill>
          <a:ln xmlns:a="http://schemas.openxmlformats.org/drawingml/2006/main" w="9525">
            <a:solidFill>
              <a:srgbClr val="B8BCC4"/>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81b24504d56d495d"/>
          <a:stretch xmlns:a="http://schemas.openxmlformats.org/drawingml/2006/main"/>
        </p:blipFill>
        <p:spPr>
          <a:xfrm xmlns:a="http://schemas.openxmlformats.org/drawingml/2006/main">
            <a:off x="8370920" y="1924050"/>
            <a:ext cx="2860611" cy="3905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735F5AD-0589-440E-99CA-F4AF0F19522F}"/>
              </a:ext>
            </a:extLst>
          </p:cNvPr>
          <p:cNvSpPr>
            <a:spLocks xmlns:a="http://schemas.openxmlformats.org/drawingml/2006/main" noGrp="1"/>
          </p:cNvSpPr>
          <p:nvPr/>
        </p:nvSpPr>
        <p:spPr>
          <a:xfrm xmlns:a="http://schemas.openxmlformats.org/drawingml/2006/main">
            <a:off x="400050" y="18097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PURPOSE</a:t>
            </a:r>
          </a:p>
        </p:txBody>
      </p:sp>
      <p:sp>
        <p:nvSpPr>
          <p:cNvPr id="8" name="">
            <a:extLst xmlns:a="http://schemas.openxmlformats.org/drawingml/2006/main">
              <a:ext uri="{FF2B5EF4-FFF2-40B4-BE49-F238E27FC236}">
                <a16:creationId xmlns:a16="http://schemas.microsoft.com/office/drawing/2014/main" id="{B23BF096-0470-4B98-9F90-8061DE6E13B4}"/>
              </a:ext>
            </a:extLst>
          </p:cNvPr>
          <p:cNvSpPr>
            <a:spLocks xmlns:a="http://schemas.openxmlformats.org/drawingml/2006/main" noGrp="1"/>
          </p:cNvSpPr>
          <p:nvPr/>
        </p:nvSpPr>
        <p:spPr>
          <a:xfrm xmlns:a="http://schemas.openxmlformats.org/drawingml/2006/main">
            <a:off x="400050" y="20859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Organize what controlled glyph studies tested, which tasks they used, and what design conclusions can be drawn.</a:t>
            </a:r>
          </a:p>
        </p:txBody>
      </p:sp>
      <p:sp>
        <p:nvSpPr>
          <p:cNvPr id="9" name="">
            <a:extLst xmlns:a="http://schemas.openxmlformats.org/drawingml/2006/main">
              <a:ext uri="{FF2B5EF4-FFF2-40B4-BE49-F238E27FC236}">
                <a16:creationId xmlns:a16="http://schemas.microsoft.com/office/drawing/2014/main" id="{CCCFEC57-CF66-4BA7-9C3F-21B99E36B612}"/>
              </a:ext>
            </a:extLst>
          </p:cNvPr>
          <p:cNvSpPr>
            <a:spLocks xmlns:a="http://schemas.openxmlformats.org/drawingml/2006/main" noGrp="1"/>
          </p:cNvSpPr>
          <p:nvPr/>
        </p:nvSpPr>
        <p:spPr>
          <a:xfrm xmlns:a="http://schemas.openxmlformats.org/drawingml/2006/main">
            <a:off x="400050" y="28384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METHOD</a:t>
            </a:r>
          </a:p>
        </p:txBody>
      </p:sp>
      <p:sp>
        <p:nvSpPr>
          <p:cNvPr id="10" name="">
            <a:extLst xmlns:a="http://schemas.openxmlformats.org/drawingml/2006/main">
              <a:ext uri="{FF2B5EF4-FFF2-40B4-BE49-F238E27FC236}">
                <a16:creationId xmlns:a16="http://schemas.microsoft.com/office/drawing/2014/main" id="{317810E0-2AD6-4A49-88CB-23B64F9C4762}"/>
              </a:ext>
            </a:extLst>
          </p:cNvPr>
          <p:cNvSpPr>
            <a:spLocks xmlns:a="http://schemas.openxmlformats.org/drawingml/2006/main" noGrp="1"/>
          </p:cNvSpPr>
          <p:nvPr/>
        </p:nvSpPr>
        <p:spPr>
          <a:xfrm xmlns:a="http://schemas.openxmlformats.org/drawingml/2006/main">
            <a:off x="400050" y="31146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A systematic review and meta-analysis of 64 quantitative controlled user-study papers spanning roughly six decades.</a:t>
            </a:r>
          </a:p>
        </p:txBody>
      </p:sp>
      <p:sp>
        <p:nvSpPr>
          <p:cNvPr id="11" name="">
            <a:extLst xmlns:a="http://schemas.openxmlformats.org/drawingml/2006/main">
              <a:ext uri="{FF2B5EF4-FFF2-40B4-BE49-F238E27FC236}">
                <a16:creationId xmlns:a16="http://schemas.microsoft.com/office/drawing/2014/main" id="{2DDA1A44-4DDB-4C29-95CA-6AE1CE380449}"/>
              </a:ext>
            </a:extLst>
          </p:cNvPr>
          <p:cNvSpPr>
            <a:spLocks xmlns:a="http://schemas.openxmlformats.org/drawingml/2006/main" noGrp="1"/>
          </p:cNvSpPr>
          <p:nvPr/>
        </p:nvSpPr>
        <p:spPr>
          <a:xfrm xmlns:a="http://schemas.openxmlformats.org/drawingml/2006/main">
            <a:off x="400050" y="38671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MAIN FINDING</a:t>
            </a:r>
          </a:p>
        </p:txBody>
      </p:sp>
      <p:sp>
        <p:nvSpPr>
          <p:cNvPr id="12" name="">
            <a:extLst xmlns:a="http://schemas.openxmlformats.org/drawingml/2006/main">
              <a:ext uri="{FF2B5EF4-FFF2-40B4-BE49-F238E27FC236}">
                <a16:creationId xmlns:a16="http://schemas.microsoft.com/office/drawing/2014/main" id="{9A5C3209-D778-48C6-8452-CA4AF8E74A17}"/>
              </a:ext>
            </a:extLst>
          </p:cNvPr>
          <p:cNvSpPr>
            <a:spLocks xmlns:a="http://schemas.openxmlformats.org/drawingml/2006/main" noGrp="1"/>
          </p:cNvSpPr>
          <p:nvPr/>
        </p:nvSpPr>
        <p:spPr>
          <a:xfrm xmlns:a="http://schemas.openxmlformats.org/drawingml/2006/main">
            <a:off x="400050" y="41433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Glyph performance depends on design, task, presentation setting, and data; the review identifies evidence patterns and open research gaps.</a:t>
            </a:r>
          </a:p>
        </p:txBody>
      </p:sp>
      <p:sp>
        <p:nvSpPr>
          <p:cNvPr id="13" name="">
            <a:extLst xmlns:a="http://schemas.openxmlformats.org/drawingml/2006/main">
              <a:ext uri="{FF2B5EF4-FFF2-40B4-BE49-F238E27FC236}">
                <a16:creationId xmlns:a16="http://schemas.microsoft.com/office/drawing/2014/main" id="{87642F93-BA1F-4CEF-8CB9-12F7D583E92A}"/>
              </a:ext>
            </a:extLst>
          </p:cNvPr>
          <p:cNvSpPr>
            <a:spLocks xmlns:a="http://schemas.openxmlformats.org/drawingml/2006/main" noGrp="1"/>
          </p:cNvSpPr>
          <p:nvPr/>
        </p:nvSpPr>
        <p:spPr>
          <a:xfrm xmlns:a="http://schemas.openxmlformats.org/drawingml/2006/main">
            <a:off x="400050" y="5038725"/>
            <a:ext cx="6838950" cy="92392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1BDDA16-4D92-4F12-B727-C38497BCEC44}"/>
              </a:ext>
            </a:extLst>
          </p:cNvPr>
          <p:cNvSpPr>
            <a:spLocks xmlns:a="http://schemas.openxmlformats.org/drawingml/2006/main" noGrp="1"/>
          </p:cNvSpPr>
          <p:nvPr/>
        </p:nvSpPr>
        <p:spPr>
          <a:xfrm xmlns:a="http://schemas.openxmlformats.org/drawingml/2006/main">
            <a:off x="590550" y="5200650"/>
            <a:ext cx="6457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WHY IT MATTERS HERE</a:t>
            </a:r>
          </a:p>
        </p:txBody>
      </p:sp>
      <p:sp>
        <p:nvSpPr>
          <p:cNvPr id="15" name="">
            <a:extLst xmlns:a="http://schemas.openxmlformats.org/drawingml/2006/main">
              <a:ext uri="{FF2B5EF4-FFF2-40B4-BE49-F238E27FC236}">
                <a16:creationId xmlns:a16="http://schemas.microsoft.com/office/drawing/2014/main" id="{707DD91E-2A87-4AC8-8926-073057ABA5C7}"/>
              </a:ext>
            </a:extLst>
          </p:cNvPr>
          <p:cNvSpPr>
            <a:spLocks xmlns:a="http://schemas.openxmlformats.org/drawingml/2006/main" noGrp="1"/>
          </p:cNvSpPr>
          <p:nvPr/>
        </p:nvSpPr>
        <p:spPr>
          <a:xfrm xmlns:a="http://schemas.openxmlformats.org/drawingml/2006/main">
            <a:off x="590550" y="5457825"/>
            <a:ext cx="6457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Supports a quantitative human study and helps separate identification, similarity, confusability, accuracy, and response time as different outcomes.</a:t>
            </a:r>
          </a:p>
        </p:txBody>
      </p:sp>
    </p:spTree>
    <p:extLst>
      <p:ext uri="{BB962C8B-B14F-4D97-AF65-F5344CB8AC3E}">
        <p14:creationId xmlns:p14="http://schemas.microsoft.com/office/powerpoint/2010/main" val="200257703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8060A9A-D68C-4B2E-9202-725EEAD0C78C}"/>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05 · RESEARCH JOURNEY</a:t>
            </a:r>
          </a:p>
        </p:txBody>
      </p:sp>
      <p:sp>
        <p:nvSpPr>
          <p:cNvPr id="2" name="">
            <a:extLst xmlns:a="http://schemas.openxmlformats.org/drawingml/2006/main">
              <a:ext uri="{FF2B5EF4-FFF2-40B4-BE49-F238E27FC236}">
                <a16:creationId xmlns:a16="http://schemas.microsoft.com/office/drawing/2014/main" id="{FE4C8777-07A0-40B9-86CB-D82C1CEF7BF0}"/>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64F105F1-A39D-44C6-96AA-9A7CF7F38087}"/>
              </a:ext>
            </a:extLst>
          </p:cNvPr>
          <p:cNvSpPr>
            <a:spLocks xmlns:a="http://schemas.openxmlformats.org/drawingml/2006/main" noGrp="1"/>
          </p:cNvSpPr>
          <p:nvPr/>
        </p:nvSpPr>
        <p:spPr>
          <a:xfrm xmlns:a="http://schemas.openxmlformats.org/drawingml/2006/main">
            <a:off x="400050" y="7429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00" b="1">
                <a:solidFill>
                  <a:srgbClr val="111111"/>
                </a:solidFill>
                <a:latin typeface="Helvetica Neue"/>
                <a:ea typeface="Helvetica Neue"/>
                <a:cs typeface="Helvetica Neue"/>
              </a:defRPr>
            </a:pPr>
            <a:r>
              <a:rPr sz="3300" b="1">
                <a:solidFill>
                  <a:srgbClr val="111111"/>
                </a:solidFill>
                <a:latin typeface="Helvetica Neue"/>
                <a:ea typeface="Helvetica Neue"/>
                <a:cs typeface="Helvetica Neue"/>
              </a:rPr>
              <a:t>From corpus building to interpretable comparison</a:t>
            </a:r>
          </a:p>
        </p:txBody>
      </p:sp>
      <p:sp>
        <p:nvSpPr>
          <p:cNvPr id="4" name="">
            <a:extLst xmlns:a="http://schemas.openxmlformats.org/drawingml/2006/main">
              <a:ext uri="{FF2B5EF4-FFF2-40B4-BE49-F238E27FC236}">
                <a16:creationId xmlns:a16="http://schemas.microsoft.com/office/drawing/2014/main" id="{2C4A39CF-7D4A-4103-9036-CBD669D87031}"/>
              </a:ext>
            </a:extLst>
          </p:cNvPr>
          <p:cNvSpPr>
            <a:spLocks xmlns:a="http://schemas.openxmlformats.org/drawingml/2006/main" noGrp="1"/>
          </p:cNvSpPr>
          <p:nvPr/>
        </p:nvSpPr>
        <p:spPr>
          <a:xfrm xmlns:a="http://schemas.openxmlformats.org/drawingml/2006/main">
            <a:off x="400050" y="1504950"/>
            <a:ext cx="1000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E6672"/>
                </a:solidFill>
                <a:latin typeface="Helvetica Neue"/>
                <a:ea typeface="Helvetica Neue"/>
                <a:cs typeface="Helvetica Neue"/>
              </a:defRPr>
            </a:pPr>
            <a:r>
              <a:rPr sz="1575" b="0">
                <a:solidFill>
                  <a:srgbClr val="5E6672"/>
                </a:solidFill>
                <a:latin typeface="Helvetica Neue"/>
                <a:ea typeface="Helvetica Neue"/>
                <a:cs typeface="Helvetica Neue"/>
              </a:rPr>
              <a:t>Each stage solved a different research problem—and exposed the next one.</a:t>
            </a:r>
          </a:p>
        </p:txBody>
      </p:sp>
      <p:sp>
        <p:nvSpPr>
          <p:cNvPr id="5" name="">
            <a:extLst xmlns:a="http://schemas.openxmlformats.org/drawingml/2006/main">
              <a:ext uri="{FF2B5EF4-FFF2-40B4-BE49-F238E27FC236}">
                <a16:creationId xmlns:a16="http://schemas.microsoft.com/office/drawing/2014/main" id="{2418C909-1373-4D20-BE22-19A929DD6558}"/>
              </a:ext>
            </a:extLst>
          </p:cNvPr>
          <p:cNvSpPr>
            <a:spLocks xmlns:a="http://schemas.openxmlformats.org/drawingml/2006/main" noGrp="1"/>
          </p:cNvSpPr>
          <p:nvPr/>
        </p:nvSpPr>
        <p:spPr>
          <a:xfrm xmlns:a="http://schemas.openxmlformats.org/drawingml/2006/main">
            <a:off x="1123950" y="3343275"/>
            <a:ext cx="9848850" cy="476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AB214FA-4DBD-4B3C-B0C4-C633DE77B15E}"/>
              </a:ext>
            </a:extLst>
          </p:cNvPr>
          <p:cNvSpPr>
            <a:spLocks xmlns:a="http://schemas.openxmlformats.org/drawingml/2006/main" noGrp="1"/>
          </p:cNvSpPr>
          <p:nvPr/>
        </p:nvSpPr>
        <p:spPr>
          <a:xfrm xmlns:a="http://schemas.openxmlformats.org/drawingml/2006/main">
            <a:off x="1095375" y="3124200"/>
            <a:ext cx="457200" cy="457200"/>
          </a:xfrm>
          <a:prstGeom xmlns:a="http://schemas.openxmlformats.org/drawingml/2006/main" prst="rect">
            <a:avLst/>
          </a:prstGeom>
          <a:solidFill xmlns:a="http://schemas.openxmlformats.org/drawingml/2006/main">
            <a:srgbClr val="3D8DFF"/>
          </a:solidFill>
          <a:ln xmlns:a="http://schemas.openxmlformats.org/drawingml/2006/main" w="38100">
            <a:solidFill>
              <a:srgbClr val="FFFFFF"/>
            </a:solidFill>
            <a:prstDash val="solid"/>
          </a:ln>
        </p:spPr>
      </p:sp>
      <p:sp>
        <p:nvSpPr>
          <p:cNvPr id="7" name="">
            <a:extLst xmlns:a="http://schemas.openxmlformats.org/drawingml/2006/main">
              <a:ext uri="{FF2B5EF4-FFF2-40B4-BE49-F238E27FC236}">
                <a16:creationId xmlns:a16="http://schemas.microsoft.com/office/drawing/2014/main" id="{3CA9F439-9141-4834-83B3-8D8E5A12C2A0}"/>
              </a:ext>
            </a:extLst>
          </p:cNvPr>
          <p:cNvSpPr>
            <a:spLocks xmlns:a="http://schemas.openxmlformats.org/drawingml/2006/main" noGrp="1"/>
          </p:cNvSpPr>
          <p:nvPr/>
        </p:nvSpPr>
        <p:spPr>
          <a:xfrm xmlns:a="http://schemas.openxmlformats.org/drawingml/2006/main">
            <a:off x="514350" y="23241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JUNE</a:t>
            </a:r>
          </a:p>
        </p:txBody>
      </p:sp>
      <p:sp>
        <p:nvSpPr>
          <p:cNvPr id="8" name="">
            <a:extLst xmlns:a="http://schemas.openxmlformats.org/drawingml/2006/main">
              <a:ext uri="{FF2B5EF4-FFF2-40B4-BE49-F238E27FC236}">
                <a16:creationId xmlns:a16="http://schemas.microsoft.com/office/drawing/2014/main" id="{91017D1C-63FC-4E05-BB3F-87D050C7F6A0}"/>
              </a:ext>
            </a:extLst>
          </p:cNvPr>
          <p:cNvSpPr>
            <a:spLocks xmlns:a="http://schemas.openxmlformats.org/drawingml/2006/main" noGrp="1"/>
          </p:cNvSpPr>
          <p:nvPr/>
        </p:nvSpPr>
        <p:spPr>
          <a:xfrm xmlns:a="http://schemas.openxmlformats.org/drawingml/2006/main">
            <a:off x="514350" y="2647950"/>
            <a:ext cx="1619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Corpus + first pipeline</a:t>
            </a:r>
          </a:p>
        </p:txBody>
      </p:sp>
      <p:sp>
        <p:nvSpPr>
          <p:cNvPr id="9" name="">
            <a:extLst xmlns:a="http://schemas.openxmlformats.org/drawingml/2006/main">
              <a:ext uri="{FF2B5EF4-FFF2-40B4-BE49-F238E27FC236}">
                <a16:creationId xmlns:a16="http://schemas.microsoft.com/office/drawing/2014/main" id="{E8913E17-275B-4109-AE62-1E71E7808315}"/>
              </a:ext>
            </a:extLst>
          </p:cNvPr>
          <p:cNvSpPr>
            <a:spLocks xmlns:a="http://schemas.openxmlformats.org/drawingml/2006/main" noGrp="1"/>
          </p:cNvSpPr>
          <p:nvPr/>
        </p:nvSpPr>
        <p:spPr>
          <a:xfrm xmlns:a="http://schemas.openxmlformats.org/drawingml/2006/main">
            <a:off x="514350" y="3857625"/>
            <a:ext cx="1619250"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0">
                <a:solidFill>
                  <a:srgbClr val="5E6672"/>
                </a:solidFill>
                <a:latin typeface="Helvetica Neue"/>
                <a:ea typeface="Helvetica Neue"/>
                <a:cs typeface="Helvetica Neue"/>
              </a:defRPr>
            </a:pPr>
            <a:r>
              <a:rPr sz="1125" b="0">
                <a:solidFill>
                  <a:srgbClr val="5E6672"/>
                </a:solidFill>
                <a:latin typeface="Helvetica Neue"/>
                <a:ea typeface="Helvetica Neue"/>
                <a:cs typeface="Helvetica Neue"/>
              </a:rPr>
              <a:t>Collected heterogeneous icon sets, normalized images, and built the first extraction and dashboard workflow.</a:t>
            </a:r>
          </a:p>
        </p:txBody>
      </p:sp>
      <p:sp>
        <p:nvSpPr>
          <p:cNvPr id="10" name="">
            <a:extLst xmlns:a="http://schemas.openxmlformats.org/drawingml/2006/main">
              <a:ext uri="{FF2B5EF4-FFF2-40B4-BE49-F238E27FC236}">
                <a16:creationId xmlns:a16="http://schemas.microsoft.com/office/drawing/2014/main" id="{BE26266C-7D03-4047-BF71-A60A50FF422E}"/>
              </a:ext>
            </a:extLst>
          </p:cNvPr>
          <p:cNvSpPr>
            <a:spLocks xmlns:a="http://schemas.openxmlformats.org/drawingml/2006/main" noGrp="1"/>
          </p:cNvSpPr>
          <p:nvPr/>
        </p:nvSpPr>
        <p:spPr>
          <a:xfrm xmlns:a="http://schemas.openxmlformats.org/drawingml/2006/main">
            <a:off x="3981450" y="3124200"/>
            <a:ext cx="457200" cy="457200"/>
          </a:xfrm>
          <a:prstGeom xmlns:a="http://schemas.openxmlformats.org/drawingml/2006/main" prst="rect">
            <a:avLst/>
          </a:prstGeom>
          <a:solidFill xmlns:a="http://schemas.openxmlformats.org/drawingml/2006/main">
            <a:srgbClr val="3D8DFF"/>
          </a:solidFill>
          <a:ln xmlns:a="http://schemas.openxmlformats.org/drawingml/2006/main" w="38100">
            <a:solidFill>
              <a:srgbClr val="FFFFFF"/>
            </a:solidFill>
            <a:prstDash val="solid"/>
          </a:ln>
        </p:spPr>
      </p:sp>
      <p:sp>
        <p:nvSpPr>
          <p:cNvPr id="11" name="">
            <a:extLst xmlns:a="http://schemas.openxmlformats.org/drawingml/2006/main">
              <a:ext uri="{FF2B5EF4-FFF2-40B4-BE49-F238E27FC236}">
                <a16:creationId xmlns:a16="http://schemas.microsoft.com/office/drawing/2014/main" id="{A91DEACD-7D39-490D-AD1D-16DAA01F8A44}"/>
              </a:ext>
            </a:extLst>
          </p:cNvPr>
          <p:cNvSpPr>
            <a:spLocks xmlns:a="http://schemas.openxmlformats.org/drawingml/2006/main" noGrp="1"/>
          </p:cNvSpPr>
          <p:nvPr/>
        </p:nvSpPr>
        <p:spPr>
          <a:xfrm xmlns:a="http://schemas.openxmlformats.org/drawingml/2006/main">
            <a:off x="3400425" y="23241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JULY</a:t>
            </a:r>
          </a:p>
        </p:txBody>
      </p:sp>
      <p:sp>
        <p:nvSpPr>
          <p:cNvPr id="12" name="">
            <a:extLst xmlns:a="http://schemas.openxmlformats.org/drawingml/2006/main">
              <a:ext uri="{FF2B5EF4-FFF2-40B4-BE49-F238E27FC236}">
                <a16:creationId xmlns:a16="http://schemas.microsoft.com/office/drawing/2014/main" id="{0235996F-92FF-4EF9-ACD8-2A43289BF044}"/>
              </a:ext>
            </a:extLst>
          </p:cNvPr>
          <p:cNvSpPr>
            <a:spLocks xmlns:a="http://schemas.openxmlformats.org/drawingml/2006/main" noGrp="1"/>
          </p:cNvSpPr>
          <p:nvPr/>
        </p:nvSpPr>
        <p:spPr>
          <a:xfrm xmlns:a="http://schemas.openxmlformats.org/drawingml/2006/main">
            <a:off x="3400425" y="2647950"/>
            <a:ext cx="1619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Feature repair</a:t>
            </a:r>
          </a:p>
        </p:txBody>
      </p:sp>
      <p:sp>
        <p:nvSpPr>
          <p:cNvPr id="13" name="">
            <a:extLst xmlns:a="http://schemas.openxmlformats.org/drawingml/2006/main">
              <a:ext uri="{FF2B5EF4-FFF2-40B4-BE49-F238E27FC236}">
                <a16:creationId xmlns:a16="http://schemas.microsoft.com/office/drawing/2014/main" id="{7DE8441C-58E1-4B02-A13C-BD2DD83AA66B}"/>
              </a:ext>
            </a:extLst>
          </p:cNvPr>
          <p:cNvSpPr>
            <a:spLocks xmlns:a="http://schemas.openxmlformats.org/drawingml/2006/main" noGrp="1"/>
          </p:cNvSpPr>
          <p:nvPr/>
        </p:nvSpPr>
        <p:spPr>
          <a:xfrm xmlns:a="http://schemas.openxmlformats.org/drawingml/2006/main">
            <a:off x="3400425" y="3857625"/>
            <a:ext cx="1619250"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0">
                <a:solidFill>
                  <a:srgbClr val="5E6672"/>
                </a:solidFill>
                <a:latin typeface="Helvetica Neue"/>
                <a:ea typeface="Helvetica Neue"/>
                <a:cs typeface="Helvetica Neue"/>
              </a:defRPr>
            </a:pPr>
            <a:r>
              <a:rPr sz="1125" b="0">
                <a:solidFill>
                  <a:srgbClr val="5E6672"/>
                </a:solidFill>
                <a:latin typeface="Helvetica Neue"/>
                <a:ea typeface="Helvetica Neue"/>
                <a:cs typeface="Helvetica Neue"/>
              </a:rPr>
              <a:t>Corrected measurement semantics, introduced schema v2, and aligned families through a shared registry.</a:t>
            </a:r>
          </a:p>
        </p:txBody>
      </p:sp>
      <p:sp>
        <p:nvSpPr>
          <p:cNvPr id="14" name="">
            <a:extLst xmlns:a="http://schemas.openxmlformats.org/drawingml/2006/main">
              <a:ext uri="{FF2B5EF4-FFF2-40B4-BE49-F238E27FC236}">
                <a16:creationId xmlns:a16="http://schemas.microsoft.com/office/drawing/2014/main" id="{22374A60-A052-4638-ABEB-09ACF2928BE2}"/>
              </a:ext>
            </a:extLst>
          </p:cNvPr>
          <p:cNvSpPr>
            <a:spLocks xmlns:a="http://schemas.openxmlformats.org/drawingml/2006/main" noGrp="1"/>
          </p:cNvSpPr>
          <p:nvPr/>
        </p:nvSpPr>
        <p:spPr>
          <a:xfrm xmlns:a="http://schemas.openxmlformats.org/drawingml/2006/main">
            <a:off x="6867525" y="3124200"/>
            <a:ext cx="457200" cy="457200"/>
          </a:xfrm>
          <a:prstGeom xmlns:a="http://schemas.openxmlformats.org/drawingml/2006/main" prst="rect">
            <a:avLst/>
          </a:prstGeom>
          <a:solidFill xmlns:a="http://schemas.openxmlformats.org/drawingml/2006/main">
            <a:srgbClr val="3D8DFF"/>
          </a:solidFill>
          <a:ln xmlns:a="http://schemas.openxmlformats.org/drawingml/2006/main" w="38100">
            <a:solidFill>
              <a:srgbClr val="FFFFFF"/>
            </a:solidFill>
            <a:prstDash val="solid"/>
          </a:ln>
        </p:spPr>
      </p:sp>
      <p:sp>
        <p:nvSpPr>
          <p:cNvPr id="15" name="">
            <a:extLst xmlns:a="http://schemas.openxmlformats.org/drawingml/2006/main">
              <a:ext uri="{FF2B5EF4-FFF2-40B4-BE49-F238E27FC236}">
                <a16:creationId xmlns:a16="http://schemas.microsoft.com/office/drawing/2014/main" id="{F41CD277-20F7-45B0-86DE-454B88A6FFC8}"/>
              </a:ext>
            </a:extLst>
          </p:cNvPr>
          <p:cNvSpPr>
            <a:spLocks xmlns:a="http://schemas.openxmlformats.org/drawingml/2006/main" noGrp="1"/>
          </p:cNvSpPr>
          <p:nvPr/>
        </p:nvSpPr>
        <p:spPr>
          <a:xfrm xmlns:a="http://schemas.openxmlformats.org/drawingml/2006/main">
            <a:off x="6286500" y="23241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EARLY AUG</a:t>
            </a:r>
          </a:p>
        </p:txBody>
      </p:sp>
      <p:sp>
        <p:nvSpPr>
          <p:cNvPr id="16" name="">
            <a:extLst xmlns:a="http://schemas.openxmlformats.org/drawingml/2006/main">
              <a:ext uri="{FF2B5EF4-FFF2-40B4-BE49-F238E27FC236}">
                <a16:creationId xmlns:a16="http://schemas.microsoft.com/office/drawing/2014/main" id="{B675C900-3F44-4F13-B645-6036E89CAA26}"/>
              </a:ext>
            </a:extLst>
          </p:cNvPr>
          <p:cNvSpPr>
            <a:spLocks xmlns:a="http://schemas.openxmlformats.org/drawingml/2006/main" noGrp="1"/>
          </p:cNvSpPr>
          <p:nvPr/>
        </p:nvSpPr>
        <p:spPr>
          <a:xfrm xmlns:a="http://schemas.openxmlformats.org/drawingml/2006/main">
            <a:off x="6286500" y="2647950"/>
            <a:ext cx="1619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Comparable exploration</a:t>
            </a:r>
          </a:p>
        </p:txBody>
      </p:sp>
      <p:sp>
        <p:nvSpPr>
          <p:cNvPr id="17" name="">
            <a:extLst xmlns:a="http://schemas.openxmlformats.org/drawingml/2006/main">
              <a:ext uri="{FF2B5EF4-FFF2-40B4-BE49-F238E27FC236}">
                <a16:creationId xmlns:a16="http://schemas.microsoft.com/office/drawing/2014/main" id="{5DE11AE0-D058-4CF5-A771-05739935206F}"/>
              </a:ext>
            </a:extLst>
          </p:cNvPr>
          <p:cNvSpPr>
            <a:spLocks xmlns:a="http://schemas.openxmlformats.org/drawingml/2006/main" noGrp="1"/>
          </p:cNvSpPr>
          <p:nvPr/>
        </p:nvSpPr>
        <p:spPr>
          <a:xfrm xmlns:a="http://schemas.openxmlformats.org/drawingml/2006/main">
            <a:off x="6286500" y="3857625"/>
            <a:ext cx="1619250"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0">
                <a:solidFill>
                  <a:srgbClr val="5E6672"/>
                </a:solidFill>
                <a:latin typeface="Helvetica Neue"/>
                <a:ea typeface="Helvetica Neue"/>
                <a:cs typeface="Helvetica Neue"/>
              </a:defRPr>
            </a:pPr>
            <a:r>
              <a:rPr sz="1125" b="0">
                <a:solidFill>
                  <a:srgbClr val="5E6672"/>
                </a:solidFill>
                <a:latin typeface="Helvetica Neue"/>
                <a:ea typeface="Helvetica Neue"/>
                <a:cs typeface="Helvetica Neue"/>
              </a:rPr>
              <a:t>Added balanced feature sampling, saved AI runs, and side-by-side representation comparison.</a:t>
            </a:r>
          </a:p>
        </p:txBody>
      </p:sp>
      <p:sp>
        <p:nvSpPr>
          <p:cNvPr id="18" name="">
            <a:extLst xmlns:a="http://schemas.openxmlformats.org/drawingml/2006/main">
              <a:ext uri="{FF2B5EF4-FFF2-40B4-BE49-F238E27FC236}">
                <a16:creationId xmlns:a16="http://schemas.microsoft.com/office/drawing/2014/main" id="{225E81B3-8EDF-45EC-8EFC-7E06EC2DF408}"/>
              </a:ext>
            </a:extLst>
          </p:cNvPr>
          <p:cNvSpPr>
            <a:spLocks xmlns:a="http://schemas.openxmlformats.org/drawingml/2006/main" noGrp="1"/>
          </p:cNvSpPr>
          <p:nvPr/>
        </p:nvSpPr>
        <p:spPr>
          <a:xfrm xmlns:a="http://schemas.openxmlformats.org/drawingml/2006/main">
            <a:off x="9753600" y="3124200"/>
            <a:ext cx="457200" cy="457200"/>
          </a:xfrm>
          <a:prstGeom xmlns:a="http://schemas.openxmlformats.org/drawingml/2006/main" prst="rect">
            <a:avLst/>
          </a:prstGeom>
          <a:solidFill xmlns:a="http://schemas.openxmlformats.org/drawingml/2006/main">
            <a:srgbClr val="3D8DFF"/>
          </a:solidFill>
          <a:ln xmlns:a="http://schemas.openxmlformats.org/drawingml/2006/main" w="38100">
            <a:solidFill>
              <a:srgbClr val="FFFFFF"/>
            </a:solidFill>
            <a:prstDash val="solid"/>
          </a:ln>
        </p:spPr>
      </p:sp>
      <p:sp>
        <p:nvSpPr>
          <p:cNvPr id="19" name="">
            <a:extLst xmlns:a="http://schemas.openxmlformats.org/drawingml/2006/main">
              <a:ext uri="{FF2B5EF4-FFF2-40B4-BE49-F238E27FC236}">
                <a16:creationId xmlns:a16="http://schemas.microsoft.com/office/drawing/2014/main" id="{FA47659E-9372-48C6-B331-B8FFD913B3E0}"/>
              </a:ext>
            </a:extLst>
          </p:cNvPr>
          <p:cNvSpPr>
            <a:spLocks xmlns:a="http://schemas.openxmlformats.org/drawingml/2006/main" noGrp="1"/>
          </p:cNvSpPr>
          <p:nvPr/>
        </p:nvSpPr>
        <p:spPr>
          <a:xfrm xmlns:a="http://schemas.openxmlformats.org/drawingml/2006/main">
            <a:off x="9172575" y="23241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10 AUG</a:t>
            </a:r>
          </a:p>
        </p:txBody>
      </p:sp>
      <p:sp>
        <p:nvSpPr>
          <p:cNvPr id="20" name="">
            <a:extLst xmlns:a="http://schemas.openxmlformats.org/drawingml/2006/main">
              <a:ext uri="{FF2B5EF4-FFF2-40B4-BE49-F238E27FC236}">
                <a16:creationId xmlns:a16="http://schemas.microsoft.com/office/drawing/2014/main" id="{3B73F5AC-9D85-4457-935C-19E1908552E0}"/>
              </a:ext>
            </a:extLst>
          </p:cNvPr>
          <p:cNvSpPr>
            <a:spLocks xmlns:a="http://schemas.openxmlformats.org/drawingml/2006/main" noGrp="1"/>
          </p:cNvSpPr>
          <p:nvPr/>
        </p:nvSpPr>
        <p:spPr>
          <a:xfrm xmlns:a="http://schemas.openxmlformats.org/drawingml/2006/main">
            <a:off x="9172575" y="2647950"/>
            <a:ext cx="1619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Interpretability</a:t>
            </a:r>
          </a:p>
        </p:txBody>
      </p:sp>
      <p:sp>
        <p:nvSpPr>
          <p:cNvPr id="21" name="">
            <a:extLst xmlns:a="http://schemas.openxmlformats.org/drawingml/2006/main">
              <a:ext uri="{FF2B5EF4-FFF2-40B4-BE49-F238E27FC236}">
                <a16:creationId xmlns:a16="http://schemas.microsoft.com/office/drawing/2014/main" id="{A3F5A21C-FE6D-4714-9C7B-3885356C5B98}"/>
              </a:ext>
            </a:extLst>
          </p:cNvPr>
          <p:cNvSpPr>
            <a:spLocks xmlns:a="http://schemas.openxmlformats.org/drawingml/2006/main" noGrp="1"/>
          </p:cNvSpPr>
          <p:nvPr/>
        </p:nvSpPr>
        <p:spPr>
          <a:xfrm xmlns:a="http://schemas.openxmlformats.org/drawingml/2006/main">
            <a:off x="9172575" y="3857625"/>
            <a:ext cx="1619250"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0">
                <a:solidFill>
                  <a:srgbClr val="5E6672"/>
                </a:solidFill>
                <a:latin typeface="Helvetica Neue"/>
                <a:ea typeface="Helvetica Neue"/>
                <a:cs typeface="Helvetica Neue"/>
              </a:defRPr>
            </a:pPr>
            <a:r>
              <a:rPr sz="1125" b="0">
                <a:solidFill>
                  <a:srgbClr val="5E6672"/>
                </a:solidFill>
                <a:latin typeface="Helvetica Neue"/>
                <a:ea typeface="Helvetica Neue"/>
                <a:cs typeface="Helvetica Neue"/>
              </a:rPr>
              <a:t>Added lasso selection, cluster summaries, and post-hoc measured feature profiles.</a:t>
            </a:r>
          </a:p>
        </p:txBody>
      </p:sp>
      <p:sp>
        <p:nvSpPr>
          <p:cNvPr id="22" name="">
            <a:extLst xmlns:a="http://schemas.openxmlformats.org/drawingml/2006/main">
              <a:ext uri="{FF2B5EF4-FFF2-40B4-BE49-F238E27FC236}">
                <a16:creationId xmlns:a16="http://schemas.microsoft.com/office/drawing/2014/main" id="{EA90C889-DBC1-4B51-83D7-C43AC17401D7}"/>
              </a:ext>
            </a:extLst>
          </p:cNvPr>
          <p:cNvSpPr>
            <a:spLocks xmlns:a="http://schemas.openxmlformats.org/drawingml/2006/main" noGrp="1"/>
          </p:cNvSpPr>
          <p:nvPr/>
        </p:nvSpPr>
        <p:spPr>
          <a:xfrm xmlns:a="http://schemas.openxmlformats.org/drawingml/2006/main">
            <a:off x="1695450" y="5619750"/>
            <a:ext cx="88011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Result: an inspectable computer-side system—not yet a validated model of human perception.</a:t>
            </a:r>
          </a:p>
        </p:txBody>
      </p:sp>
    </p:spTree>
    <p:extLst>
      <p:ext uri="{BB962C8B-B14F-4D97-AF65-F5344CB8AC3E}">
        <p14:creationId xmlns:p14="http://schemas.microsoft.com/office/powerpoint/2010/main" val="24868065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6405D452-2A2D-490F-8025-E0C7CE2117C3}"/>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06 · IMPLEMENTATION</a:t>
            </a:r>
          </a:p>
        </p:txBody>
      </p:sp>
      <p:sp>
        <p:nvSpPr>
          <p:cNvPr id="2" name="">
            <a:extLst xmlns:a="http://schemas.openxmlformats.org/drawingml/2006/main">
              <a:ext uri="{FF2B5EF4-FFF2-40B4-BE49-F238E27FC236}">
                <a16:creationId xmlns:a16="http://schemas.microsoft.com/office/drawing/2014/main" id="{220E3F97-19E4-4545-B602-E2B36449CB7E}"/>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13</a:t>
            </a:r>
          </a:p>
        </p:txBody>
      </p:sp>
      <p:sp>
        <p:nvSpPr>
          <p:cNvPr id="3" name="">
            <a:extLst xmlns:a="http://schemas.openxmlformats.org/drawingml/2006/main">
              <a:ext uri="{FF2B5EF4-FFF2-40B4-BE49-F238E27FC236}">
                <a16:creationId xmlns:a16="http://schemas.microsoft.com/office/drawing/2014/main" id="{FB1F99F1-37B3-47BA-B685-024583B8E3AA}"/>
              </a:ext>
            </a:extLst>
          </p:cNvPr>
          <p:cNvSpPr>
            <a:spLocks xmlns:a="http://schemas.openxmlformats.org/drawingml/2006/main" noGrp="1"/>
          </p:cNvSpPr>
          <p:nvPr/>
        </p:nvSpPr>
        <p:spPr>
          <a:xfrm xmlns:a="http://schemas.openxmlformats.org/drawingml/2006/main">
            <a:off x="400050" y="742950"/>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00" b="1">
                <a:solidFill>
                  <a:srgbClr val="111111"/>
                </a:solidFill>
                <a:latin typeface="Helvetica Neue"/>
                <a:ea typeface="Helvetica Neue"/>
                <a:cs typeface="Helvetica Neue"/>
              </a:defRPr>
            </a:pPr>
            <a:r>
              <a:rPr sz="3300" b="1">
                <a:solidFill>
                  <a:srgbClr val="111111"/>
                </a:solidFill>
                <a:latin typeface="Helvetica Neue"/>
                <a:ea typeface="Helvetica Neue"/>
                <a:cs typeface="Helvetica Neue"/>
              </a:rPr>
              <a:t>The corpus became a reproducible analysis pipeline</a:t>
            </a:r>
          </a:p>
        </p:txBody>
      </p:sp>
      <p:sp>
        <p:nvSpPr>
          <p:cNvPr id="4" name="">
            <a:extLst xmlns:a="http://schemas.openxmlformats.org/drawingml/2006/main">
              <a:ext uri="{FF2B5EF4-FFF2-40B4-BE49-F238E27FC236}">
                <a16:creationId xmlns:a16="http://schemas.microsoft.com/office/drawing/2014/main" id="{B511FF5D-75FA-44FA-A3AF-13C2260571EE}"/>
              </a:ext>
            </a:extLst>
          </p:cNvPr>
          <p:cNvSpPr>
            <a:spLocks xmlns:a="http://schemas.openxmlformats.org/drawingml/2006/main" noGrp="1"/>
          </p:cNvSpPr>
          <p:nvPr/>
        </p:nvSpPr>
        <p:spPr>
          <a:xfrm xmlns:a="http://schemas.openxmlformats.org/drawingml/2006/main">
            <a:off x="400050" y="1762125"/>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6588686B-C34E-406C-88F3-73D0771E1F18}"/>
              </a:ext>
            </a:extLst>
          </p:cNvPr>
          <p:cNvSpPr>
            <a:spLocks xmlns:a="http://schemas.openxmlformats.org/drawingml/2006/main" noGrp="1"/>
          </p:cNvSpPr>
          <p:nvPr/>
        </p:nvSpPr>
        <p:spPr>
          <a:xfrm xmlns:a="http://schemas.openxmlformats.org/drawingml/2006/main">
            <a:off x="400050" y="23526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2"/>
                </a:solidFill>
                <a:latin typeface="Helvetica Neue"/>
                <a:ea typeface="Helvetica Neue"/>
                <a:cs typeface="Helvetica Neue"/>
              </a:defRPr>
            </a:pPr>
            <a:r>
              <a:rPr sz="1275" b="0">
                <a:solidFill>
                  <a:srgbClr val="5E6672"/>
                </a:solidFill>
                <a:latin typeface="Helvetica Neue"/>
                <a:ea typeface="Helvetica Neue"/>
                <a:cs typeface="Helvetica Neue"/>
              </a:rPr>
              <a:t>source sets</a:t>
            </a:r>
          </a:p>
        </p:txBody>
      </p:sp>
      <p:sp>
        <p:nvSpPr>
          <p:cNvPr id="6" name="">
            <a:extLst xmlns:a="http://schemas.openxmlformats.org/drawingml/2006/main">
              <a:ext uri="{FF2B5EF4-FFF2-40B4-BE49-F238E27FC236}">
                <a16:creationId xmlns:a16="http://schemas.microsoft.com/office/drawing/2014/main" id="{1D3039D8-DD4E-469C-AE9F-4B981CEBE6FB}"/>
              </a:ext>
            </a:extLst>
          </p:cNvPr>
          <p:cNvSpPr>
            <a:spLocks xmlns:a="http://schemas.openxmlformats.org/drawingml/2006/main" noGrp="1"/>
          </p:cNvSpPr>
          <p:nvPr/>
        </p:nvSpPr>
        <p:spPr>
          <a:xfrm xmlns:a="http://schemas.openxmlformats.org/drawingml/2006/main">
            <a:off x="3276600" y="1762125"/>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3D8DFF"/>
                </a:solidFill>
                <a:latin typeface="Helvetica Neue"/>
                <a:ea typeface="Helvetica Neue"/>
                <a:cs typeface="Helvetica Neue"/>
              </a:defRPr>
            </a:pPr>
            <a:r>
              <a:rPr sz="3150" b="1">
                <a:solidFill>
                  <a:srgbClr val="3D8DFF"/>
                </a:solidFill>
                <a:latin typeface="Helvetica Neue"/>
                <a:ea typeface="Helvetica Neue"/>
                <a:cs typeface="Helvetica Neue"/>
              </a:rPr>
              <a:t>28,749</a:t>
            </a:r>
          </a:p>
        </p:txBody>
      </p:sp>
      <p:sp>
        <p:nvSpPr>
          <p:cNvPr id="7" name="">
            <a:extLst xmlns:a="http://schemas.openxmlformats.org/drawingml/2006/main">
              <a:ext uri="{FF2B5EF4-FFF2-40B4-BE49-F238E27FC236}">
                <a16:creationId xmlns:a16="http://schemas.microsoft.com/office/drawing/2014/main" id="{F5366EDE-1C18-4D0E-8A9C-6071C5612D68}"/>
              </a:ext>
            </a:extLst>
          </p:cNvPr>
          <p:cNvSpPr>
            <a:spLocks xmlns:a="http://schemas.openxmlformats.org/drawingml/2006/main" noGrp="1"/>
          </p:cNvSpPr>
          <p:nvPr/>
        </p:nvSpPr>
        <p:spPr>
          <a:xfrm xmlns:a="http://schemas.openxmlformats.org/drawingml/2006/main">
            <a:off x="3276600" y="23526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2"/>
                </a:solidFill>
                <a:latin typeface="Helvetica Neue"/>
                <a:ea typeface="Helvetica Neue"/>
                <a:cs typeface="Helvetica Neue"/>
              </a:defRPr>
            </a:pPr>
            <a:r>
              <a:rPr sz="1275" b="0">
                <a:solidFill>
                  <a:srgbClr val="5E6672"/>
                </a:solidFill>
                <a:latin typeface="Helvetica Neue"/>
                <a:ea typeface="Helvetica Neue"/>
                <a:cs typeface="Helvetica Neue"/>
              </a:rPr>
              <a:t>canonical icon rows</a:t>
            </a:r>
          </a:p>
        </p:txBody>
      </p:sp>
      <p:sp>
        <p:nvSpPr>
          <p:cNvPr id="8" name="">
            <a:extLst xmlns:a="http://schemas.openxmlformats.org/drawingml/2006/main">
              <a:ext uri="{FF2B5EF4-FFF2-40B4-BE49-F238E27FC236}">
                <a16:creationId xmlns:a16="http://schemas.microsoft.com/office/drawing/2014/main" id="{73152F8B-4A03-441E-9365-9D9D02E21EA7}"/>
              </a:ext>
            </a:extLst>
          </p:cNvPr>
          <p:cNvSpPr>
            <a:spLocks xmlns:a="http://schemas.openxmlformats.org/drawingml/2006/main" noGrp="1"/>
          </p:cNvSpPr>
          <p:nvPr/>
        </p:nvSpPr>
        <p:spPr>
          <a:xfrm xmlns:a="http://schemas.openxmlformats.org/drawingml/2006/main">
            <a:off x="6153150" y="1762125"/>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256 × 256</a:t>
            </a:r>
          </a:p>
        </p:txBody>
      </p:sp>
      <p:sp>
        <p:nvSpPr>
          <p:cNvPr id="9" name="">
            <a:extLst xmlns:a="http://schemas.openxmlformats.org/drawingml/2006/main">
              <a:ext uri="{FF2B5EF4-FFF2-40B4-BE49-F238E27FC236}">
                <a16:creationId xmlns:a16="http://schemas.microsoft.com/office/drawing/2014/main" id="{6D020911-54DE-44E9-A6C5-9447BDA73CE9}"/>
              </a:ext>
            </a:extLst>
          </p:cNvPr>
          <p:cNvSpPr>
            <a:spLocks xmlns:a="http://schemas.openxmlformats.org/drawingml/2006/main" noGrp="1"/>
          </p:cNvSpPr>
          <p:nvPr/>
        </p:nvSpPr>
        <p:spPr>
          <a:xfrm xmlns:a="http://schemas.openxmlformats.org/drawingml/2006/main">
            <a:off x="6153150" y="23526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2"/>
                </a:solidFill>
                <a:latin typeface="Helvetica Neue"/>
                <a:ea typeface="Helvetica Neue"/>
                <a:cs typeface="Helvetica Neue"/>
              </a:defRPr>
            </a:pPr>
            <a:r>
              <a:rPr sz="1275" b="0">
                <a:solidFill>
                  <a:srgbClr val="5E6672"/>
                </a:solidFill>
                <a:latin typeface="Helvetica Neue"/>
                <a:ea typeface="Helvetica Neue"/>
                <a:cs typeface="Helvetica Neue"/>
              </a:rPr>
              <a:t>normalized PNG images</a:t>
            </a:r>
          </a:p>
        </p:txBody>
      </p:sp>
      <p:sp>
        <p:nvSpPr>
          <p:cNvPr id="10" name="">
            <a:extLst xmlns:a="http://schemas.openxmlformats.org/drawingml/2006/main">
              <a:ext uri="{FF2B5EF4-FFF2-40B4-BE49-F238E27FC236}">
                <a16:creationId xmlns:a16="http://schemas.microsoft.com/office/drawing/2014/main" id="{B9F9D9E2-7C5A-4972-A600-368B94D26284}"/>
              </a:ext>
            </a:extLst>
          </p:cNvPr>
          <p:cNvSpPr>
            <a:spLocks xmlns:a="http://schemas.openxmlformats.org/drawingml/2006/main" noGrp="1"/>
          </p:cNvSpPr>
          <p:nvPr/>
        </p:nvSpPr>
        <p:spPr>
          <a:xfrm xmlns:a="http://schemas.openxmlformats.org/drawingml/2006/main">
            <a:off x="9029700" y="1762125"/>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81</a:t>
            </a:r>
          </a:p>
        </p:txBody>
      </p:sp>
      <p:sp>
        <p:nvSpPr>
          <p:cNvPr id="11" name="">
            <a:extLst xmlns:a="http://schemas.openxmlformats.org/drawingml/2006/main">
              <a:ext uri="{FF2B5EF4-FFF2-40B4-BE49-F238E27FC236}">
                <a16:creationId xmlns:a16="http://schemas.microsoft.com/office/drawing/2014/main" id="{BFFFBEA0-412E-4B50-BC1E-30EB4860B69A}"/>
              </a:ext>
            </a:extLst>
          </p:cNvPr>
          <p:cNvSpPr>
            <a:spLocks xmlns:a="http://schemas.openxmlformats.org/drawingml/2006/main" noGrp="1"/>
          </p:cNvSpPr>
          <p:nvPr/>
        </p:nvSpPr>
        <p:spPr>
          <a:xfrm xmlns:a="http://schemas.openxmlformats.org/drawingml/2006/main">
            <a:off x="9029700" y="23526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E6672"/>
                </a:solidFill>
                <a:latin typeface="Helvetica Neue"/>
                <a:ea typeface="Helvetica Neue"/>
                <a:cs typeface="Helvetica Neue"/>
              </a:defRPr>
            </a:pPr>
            <a:r>
              <a:rPr sz="1275" b="0">
                <a:solidFill>
                  <a:srgbClr val="5E6672"/>
                </a:solidFill>
                <a:latin typeface="Helvetica Neue"/>
                <a:ea typeface="Helvetica Neue"/>
                <a:cs typeface="Helvetica Neue"/>
              </a:rPr>
              <a:t>active visual features</a:t>
            </a:r>
          </a:p>
        </p:txBody>
      </p:sp>
      <p:sp>
        <p:nvSpPr>
          <p:cNvPr id="12" name="">
            <a:extLst xmlns:a="http://schemas.openxmlformats.org/drawingml/2006/main">
              <a:ext uri="{FF2B5EF4-FFF2-40B4-BE49-F238E27FC236}">
                <a16:creationId xmlns:a16="http://schemas.microsoft.com/office/drawing/2014/main" id="{0975C9CA-45EB-4CA7-BF34-28BC5B45FD8E}"/>
              </a:ext>
            </a:extLst>
          </p:cNvPr>
          <p:cNvSpPr>
            <a:spLocks xmlns:a="http://schemas.openxmlformats.org/drawingml/2006/main" noGrp="1"/>
          </p:cNvSpPr>
          <p:nvPr/>
        </p:nvSpPr>
        <p:spPr>
          <a:xfrm xmlns:a="http://schemas.openxmlformats.org/drawingml/2006/main">
            <a:off x="952500" y="4048125"/>
            <a:ext cx="100012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90C9C84-7CC2-4CC9-9A82-E46B30AE8ABF}"/>
              </a:ext>
            </a:extLst>
          </p:cNvPr>
          <p:cNvSpPr>
            <a:spLocks xmlns:a="http://schemas.openxmlformats.org/drawingml/2006/main" noGrp="1"/>
          </p:cNvSpPr>
          <p:nvPr/>
        </p:nvSpPr>
        <p:spPr>
          <a:xfrm xmlns:a="http://schemas.openxmlformats.org/drawingml/2006/main">
            <a:off x="400050" y="3609975"/>
            <a:ext cx="781050" cy="781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D8E39E0-F0D8-492E-8496-3E0B73086498}"/>
              </a:ext>
            </a:extLst>
          </p:cNvPr>
          <p:cNvSpPr>
            <a:spLocks xmlns:a="http://schemas.openxmlformats.org/drawingml/2006/main" noGrp="1"/>
          </p:cNvSpPr>
          <p:nvPr/>
        </p:nvSpPr>
        <p:spPr>
          <a:xfrm xmlns:a="http://schemas.openxmlformats.org/drawingml/2006/main">
            <a:off x="400050" y="3781425"/>
            <a:ext cx="781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01</a:t>
            </a:r>
          </a:p>
        </p:txBody>
      </p:sp>
      <p:sp>
        <p:nvSpPr>
          <p:cNvPr id="15" name="">
            <a:extLst xmlns:a="http://schemas.openxmlformats.org/drawingml/2006/main">
              <a:ext uri="{FF2B5EF4-FFF2-40B4-BE49-F238E27FC236}">
                <a16:creationId xmlns:a16="http://schemas.microsoft.com/office/drawing/2014/main" id="{97FA396B-F82A-4B82-87AD-9480D11F9155}"/>
              </a:ext>
            </a:extLst>
          </p:cNvPr>
          <p:cNvSpPr>
            <a:spLocks xmlns:a="http://schemas.openxmlformats.org/drawingml/2006/main" noGrp="1"/>
          </p:cNvSpPr>
          <p:nvPr/>
        </p:nvSpPr>
        <p:spPr>
          <a:xfrm xmlns:a="http://schemas.openxmlformats.org/drawingml/2006/main">
            <a:off x="400050" y="4610100"/>
            <a:ext cx="16668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11111"/>
                </a:solidFill>
                <a:latin typeface="Helvetica Neue"/>
                <a:ea typeface="Helvetica Neue"/>
                <a:cs typeface="Helvetica Neue"/>
              </a:defRPr>
            </a:pPr>
            <a:r>
              <a:rPr sz="1425" b="1">
                <a:solidFill>
                  <a:srgbClr val="111111"/>
                </a:solidFill>
                <a:latin typeface="Helvetica Neue"/>
                <a:ea typeface="Helvetica Neue"/>
                <a:cs typeface="Helvetica Neue"/>
              </a:rPr>
              <a:t>Source sets</a:t>
            </a:r>
          </a:p>
        </p:txBody>
      </p:sp>
      <p:sp>
        <p:nvSpPr>
          <p:cNvPr id="16" name="">
            <a:extLst xmlns:a="http://schemas.openxmlformats.org/drawingml/2006/main">
              <a:ext uri="{FF2B5EF4-FFF2-40B4-BE49-F238E27FC236}">
                <a16:creationId xmlns:a16="http://schemas.microsoft.com/office/drawing/2014/main" id="{76E4C0F0-9375-4E93-9F0F-772DE46B8E99}"/>
              </a:ext>
            </a:extLst>
          </p:cNvPr>
          <p:cNvSpPr>
            <a:spLocks xmlns:a="http://schemas.openxmlformats.org/drawingml/2006/main" noGrp="1"/>
          </p:cNvSpPr>
          <p:nvPr/>
        </p:nvSpPr>
        <p:spPr>
          <a:xfrm xmlns:a="http://schemas.openxmlformats.org/drawingml/2006/main">
            <a:off x="2695575" y="3609975"/>
            <a:ext cx="781050" cy="781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1E63BC4-CD71-44B3-B090-AD903DB7A5CD}"/>
              </a:ext>
            </a:extLst>
          </p:cNvPr>
          <p:cNvSpPr>
            <a:spLocks xmlns:a="http://schemas.openxmlformats.org/drawingml/2006/main" noGrp="1"/>
          </p:cNvSpPr>
          <p:nvPr/>
        </p:nvSpPr>
        <p:spPr>
          <a:xfrm xmlns:a="http://schemas.openxmlformats.org/drawingml/2006/main">
            <a:off x="2695575" y="3781425"/>
            <a:ext cx="781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02</a:t>
            </a:r>
          </a:p>
        </p:txBody>
      </p:sp>
      <p:sp>
        <p:nvSpPr>
          <p:cNvPr id="18" name="">
            <a:extLst xmlns:a="http://schemas.openxmlformats.org/drawingml/2006/main">
              <a:ext uri="{FF2B5EF4-FFF2-40B4-BE49-F238E27FC236}">
                <a16:creationId xmlns:a16="http://schemas.microsoft.com/office/drawing/2014/main" id="{8F124C38-5BDF-4745-8F27-097113F100E4}"/>
              </a:ext>
            </a:extLst>
          </p:cNvPr>
          <p:cNvSpPr>
            <a:spLocks xmlns:a="http://schemas.openxmlformats.org/drawingml/2006/main" noGrp="1"/>
          </p:cNvSpPr>
          <p:nvPr/>
        </p:nvSpPr>
        <p:spPr>
          <a:xfrm xmlns:a="http://schemas.openxmlformats.org/drawingml/2006/main">
            <a:off x="2695575" y="4610100"/>
            <a:ext cx="16668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11111"/>
                </a:solidFill>
                <a:latin typeface="Helvetica Neue"/>
                <a:ea typeface="Helvetica Neue"/>
                <a:cs typeface="Helvetica Neue"/>
              </a:defRPr>
            </a:pPr>
            <a:r>
              <a:rPr sz="1425" b="1">
                <a:solidFill>
                  <a:srgbClr val="111111"/>
                </a:solidFill>
                <a:latin typeface="Helvetica Neue"/>
                <a:ea typeface="Helvetica Neue"/>
                <a:cs typeface="Helvetica Neue"/>
              </a:rPr>
              <a:t>Normalized images</a:t>
            </a:r>
          </a:p>
        </p:txBody>
      </p:sp>
      <p:sp>
        <p:nvSpPr>
          <p:cNvPr id="19" name="">
            <a:extLst xmlns:a="http://schemas.openxmlformats.org/drawingml/2006/main">
              <a:ext uri="{FF2B5EF4-FFF2-40B4-BE49-F238E27FC236}">
                <a16:creationId xmlns:a16="http://schemas.microsoft.com/office/drawing/2014/main" id="{EF19F8F6-06BA-491B-8477-D31F698107F2}"/>
              </a:ext>
            </a:extLst>
          </p:cNvPr>
          <p:cNvSpPr>
            <a:spLocks xmlns:a="http://schemas.openxmlformats.org/drawingml/2006/main" noGrp="1"/>
          </p:cNvSpPr>
          <p:nvPr/>
        </p:nvSpPr>
        <p:spPr>
          <a:xfrm xmlns:a="http://schemas.openxmlformats.org/drawingml/2006/main">
            <a:off x="4991100" y="3609975"/>
            <a:ext cx="781050" cy="781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373C7BC-EB0B-42D7-B643-F9CC69FF193D}"/>
              </a:ext>
            </a:extLst>
          </p:cNvPr>
          <p:cNvSpPr>
            <a:spLocks xmlns:a="http://schemas.openxmlformats.org/drawingml/2006/main" noGrp="1"/>
          </p:cNvSpPr>
          <p:nvPr/>
        </p:nvSpPr>
        <p:spPr>
          <a:xfrm xmlns:a="http://schemas.openxmlformats.org/drawingml/2006/main">
            <a:off x="4991100" y="3781425"/>
            <a:ext cx="781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03</a:t>
            </a:r>
          </a:p>
        </p:txBody>
      </p:sp>
      <p:sp>
        <p:nvSpPr>
          <p:cNvPr id="21" name="">
            <a:extLst xmlns:a="http://schemas.openxmlformats.org/drawingml/2006/main">
              <a:ext uri="{FF2B5EF4-FFF2-40B4-BE49-F238E27FC236}">
                <a16:creationId xmlns:a16="http://schemas.microsoft.com/office/drawing/2014/main" id="{C1668FD9-0D71-47A6-94AE-EA9E2FF697CF}"/>
              </a:ext>
            </a:extLst>
          </p:cNvPr>
          <p:cNvSpPr>
            <a:spLocks xmlns:a="http://schemas.openxmlformats.org/drawingml/2006/main" noGrp="1"/>
          </p:cNvSpPr>
          <p:nvPr/>
        </p:nvSpPr>
        <p:spPr>
          <a:xfrm xmlns:a="http://schemas.openxmlformats.org/drawingml/2006/main">
            <a:off x="4991100" y="4610100"/>
            <a:ext cx="16668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11111"/>
                </a:solidFill>
                <a:latin typeface="Helvetica Neue"/>
                <a:ea typeface="Helvetica Neue"/>
                <a:cs typeface="Helvetica Neue"/>
              </a:defRPr>
            </a:pPr>
            <a:r>
              <a:rPr sz="1425" b="1">
                <a:solidFill>
                  <a:srgbClr val="111111"/>
                </a:solidFill>
                <a:latin typeface="Helvetica Neue"/>
                <a:ea typeface="Helvetica Neue"/>
                <a:cs typeface="Helvetica Neue"/>
              </a:rPr>
              <a:t>Feature extraction</a:t>
            </a:r>
          </a:p>
        </p:txBody>
      </p:sp>
      <p:sp>
        <p:nvSpPr>
          <p:cNvPr id="22" name="">
            <a:extLst xmlns:a="http://schemas.openxmlformats.org/drawingml/2006/main">
              <a:ext uri="{FF2B5EF4-FFF2-40B4-BE49-F238E27FC236}">
                <a16:creationId xmlns:a16="http://schemas.microsoft.com/office/drawing/2014/main" id="{A79719CE-3935-412B-B336-5384CEA13D20}"/>
              </a:ext>
            </a:extLst>
          </p:cNvPr>
          <p:cNvSpPr>
            <a:spLocks xmlns:a="http://schemas.openxmlformats.org/drawingml/2006/main" noGrp="1"/>
          </p:cNvSpPr>
          <p:nvPr/>
        </p:nvSpPr>
        <p:spPr>
          <a:xfrm xmlns:a="http://schemas.openxmlformats.org/drawingml/2006/main">
            <a:off x="7286625" y="3609975"/>
            <a:ext cx="781050" cy="781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27E0E8E-8F45-441B-B1A3-07819A2C7029}"/>
              </a:ext>
            </a:extLst>
          </p:cNvPr>
          <p:cNvSpPr>
            <a:spLocks xmlns:a="http://schemas.openxmlformats.org/drawingml/2006/main" noGrp="1"/>
          </p:cNvSpPr>
          <p:nvPr/>
        </p:nvSpPr>
        <p:spPr>
          <a:xfrm xmlns:a="http://schemas.openxmlformats.org/drawingml/2006/main">
            <a:off x="7286625" y="3781425"/>
            <a:ext cx="781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04</a:t>
            </a:r>
          </a:p>
        </p:txBody>
      </p:sp>
      <p:sp>
        <p:nvSpPr>
          <p:cNvPr id="24" name="">
            <a:extLst xmlns:a="http://schemas.openxmlformats.org/drawingml/2006/main">
              <a:ext uri="{FF2B5EF4-FFF2-40B4-BE49-F238E27FC236}">
                <a16:creationId xmlns:a16="http://schemas.microsoft.com/office/drawing/2014/main" id="{C0B83281-46C1-4755-B49E-CD8DF53D00EC}"/>
              </a:ext>
            </a:extLst>
          </p:cNvPr>
          <p:cNvSpPr>
            <a:spLocks xmlns:a="http://schemas.openxmlformats.org/drawingml/2006/main" noGrp="1"/>
          </p:cNvSpPr>
          <p:nvPr/>
        </p:nvSpPr>
        <p:spPr>
          <a:xfrm xmlns:a="http://schemas.openxmlformats.org/drawingml/2006/main">
            <a:off x="7286625" y="4610100"/>
            <a:ext cx="16668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11111"/>
                </a:solidFill>
                <a:latin typeface="Helvetica Neue"/>
                <a:ea typeface="Helvetica Neue"/>
                <a:cs typeface="Helvetica Neue"/>
              </a:defRPr>
            </a:pPr>
            <a:r>
              <a:rPr sz="1425" b="1">
                <a:solidFill>
                  <a:srgbClr val="111111"/>
                </a:solidFill>
                <a:latin typeface="Helvetica Neue"/>
                <a:ea typeface="Helvetica Neue"/>
                <a:cs typeface="Helvetica Neue"/>
              </a:rPr>
              <a:t>Similarity + clustering</a:t>
            </a:r>
          </a:p>
        </p:txBody>
      </p:sp>
      <p:sp>
        <p:nvSpPr>
          <p:cNvPr id="25" name="">
            <a:extLst xmlns:a="http://schemas.openxmlformats.org/drawingml/2006/main">
              <a:ext uri="{FF2B5EF4-FFF2-40B4-BE49-F238E27FC236}">
                <a16:creationId xmlns:a16="http://schemas.microsoft.com/office/drawing/2014/main" id="{13F7AE25-43B1-4D1A-A94D-0F09143747EA}"/>
              </a:ext>
            </a:extLst>
          </p:cNvPr>
          <p:cNvSpPr>
            <a:spLocks xmlns:a="http://schemas.openxmlformats.org/drawingml/2006/main" noGrp="1"/>
          </p:cNvSpPr>
          <p:nvPr/>
        </p:nvSpPr>
        <p:spPr>
          <a:xfrm xmlns:a="http://schemas.openxmlformats.org/drawingml/2006/main">
            <a:off x="9582150" y="3609975"/>
            <a:ext cx="781050" cy="781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20EA051-30D1-447E-94AE-DBF331AC9EDE}"/>
              </a:ext>
            </a:extLst>
          </p:cNvPr>
          <p:cNvSpPr>
            <a:spLocks xmlns:a="http://schemas.openxmlformats.org/drawingml/2006/main" noGrp="1"/>
          </p:cNvSpPr>
          <p:nvPr/>
        </p:nvSpPr>
        <p:spPr>
          <a:xfrm xmlns:a="http://schemas.openxmlformats.org/drawingml/2006/main">
            <a:off x="9582150" y="3781425"/>
            <a:ext cx="781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05</a:t>
            </a:r>
          </a:p>
        </p:txBody>
      </p:sp>
      <p:sp>
        <p:nvSpPr>
          <p:cNvPr id="27" name="">
            <a:extLst xmlns:a="http://schemas.openxmlformats.org/drawingml/2006/main">
              <a:ext uri="{FF2B5EF4-FFF2-40B4-BE49-F238E27FC236}">
                <a16:creationId xmlns:a16="http://schemas.microsoft.com/office/drawing/2014/main" id="{EDB5DD19-766B-44B8-BE0F-C8FF6A749009}"/>
              </a:ext>
            </a:extLst>
          </p:cNvPr>
          <p:cNvSpPr>
            <a:spLocks xmlns:a="http://schemas.openxmlformats.org/drawingml/2006/main" noGrp="1"/>
          </p:cNvSpPr>
          <p:nvPr/>
        </p:nvSpPr>
        <p:spPr>
          <a:xfrm xmlns:a="http://schemas.openxmlformats.org/drawingml/2006/main">
            <a:off x="9582150" y="4610100"/>
            <a:ext cx="16668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11111"/>
                </a:solidFill>
                <a:latin typeface="Helvetica Neue"/>
                <a:ea typeface="Helvetica Neue"/>
                <a:cs typeface="Helvetica Neue"/>
              </a:defRPr>
            </a:pPr>
            <a:r>
              <a:rPr sz="1425" b="1">
                <a:solidFill>
                  <a:srgbClr val="111111"/>
                </a:solidFill>
                <a:latin typeface="Helvetica Neue"/>
                <a:ea typeface="Helvetica Neue"/>
                <a:cs typeface="Helvetica Neue"/>
              </a:rPr>
              <a:t>Interactive review</a:t>
            </a:r>
          </a:p>
        </p:txBody>
      </p:sp>
      <p:sp>
        <p:nvSpPr>
          <p:cNvPr id="28" name="">
            <a:extLst xmlns:a="http://schemas.openxmlformats.org/drawingml/2006/main">
              <a:ext uri="{FF2B5EF4-FFF2-40B4-BE49-F238E27FC236}">
                <a16:creationId xmlns:a16="http://schemas.microsoft.com/office/drawing/2014/main" id="{E3F3630C-FD48-4CC2-B0A8-E4C33400D6C3}"/>
              </a:ext>
            </a:extLst>
          </p:cNvPr>
          <p:cNvSpPr>
            <a:spLocks xmlns:a="http://schemas.openxmlformats.org/drawingml/2006/main" noGrp="1"/>
          </p:cNvSpPr>
          <p:nvPr/>
        </p:nvSpPr>
        <p:spPr>
          <a:xfrm xmlns:a="http://schemas.openxmlformats.org/drawingml/2006/main">
            <a:off x="400050" y="5581650"/>
            <a:ext cx="11391900" cy="53340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C59AACC-E7E9-437E-8EE8-175AF44D8D1E}"/>
              </a:ext>
            </a:extLst>
          </p:cNvPr>
          <p:cNvSpPr>
            <a:spLocks xmlns:a="http://schemas.openxmlformats.org/drawingml/2006/main" noGrp="1"/>
          </p:cNvSpPr>
          <p:nvPr/>
        </p:nvSpPr>
        <p:spPr>
          <a:xfrm xmlns:a="http://schemas.openxmlformats.org/drawingml/2006/main">
            <a:off x="609600" y="573405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Stable icon IDs carry each record from source data to later study responses.</a:t>
            </a:r>
          </a:p>
        </p:txBody>
      </p:sp>
    </p:spTree>
    <p:extLst>
      <p:ext uri="{BB962C8B-B14F-4D97-AF65-F5344CB8AC3E}">
        <p14:creationId xmlns:p14="http://schemas.microsoft.com/office/powerpoint/2010/main" val="150433875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9BB9AA44-2E9F-439C-BD75-77E44AFFAEF4}"/>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06 · IMPLEMENTATION</a:t>
            </a:r>
          </a:p>
        </p:txBody>
      </p:sp>
      <p:sp>
        <p:nvSpPr>
          <p:cNvPr id="2" name="">
            <a:extLst xmlns:a="http://schemas.openxmlformats.org/drawingml/2006/main">
              <a:ext uri="{FF2B5EF4-FFF2-40B4-BE49-F238E27FC236}">
                <a16:creationId xmlns:a16="http://schemas.microsoft.com/office/drawing/2014/main" id="{3003D366-3172-460D-B836-31CF7B40493A}"/>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14</a:t>
            </a:r>
          </a:p>
        </p:txBody>
      </p:sp>
      <p:sp>
        <p:nvSpPr>
          <p:cNvPr id="3" name="">
            <a:extLst xmlns:a="http://schemas.openxmlformats.org/drawingml/2006/main">
              <a:ext uri="{FF2B5EF4-FFF2-40B4-BE49-F238E27FC236}">
                <a16:creationId xmlns:a16="http://schemas.microsoft.com/office/drawing/2014/main" id="{9F5FA7AF-C56A-4AEC-8030-411F2E02C54E}"/>
              </a:ext>
            </a:extLst>
          </p:cNvPr>
          <p:cNvSpPr>
            <a:spLocks xmlns:a="http://schemas.openxmlformats.org/drawingml/2006/main" noGrp="1"/>
          </p:cNvSpPr>
          <p:nvPr/>
        </p:nvSpPr>
        <p:spPr>
          <a:xfrm xmlns:a="http://schemas.openxmlformats.org/drawingml/2006/main">
            <a:off x="400050" y="7429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00" b="1">
                <a:solidFill>
                  <a:srgbClr val="111111"/>
                </a:solidFill>
                <a:latin typeface="Helvetica Neue"/>
                <a:ea typeface="Helvetica Neue"/>
                <a:cs typeface="Helvetica Neue"/>
              </a:defRPr>
            </a:pPr>
            <a:r>
              <a:rPr sz="3300" b="1">
                <a:solidFill>
                  <a:srgbClr val="111111"/>
                </a:solidFill>
                <a:latin typeface="Helvetica Neue"/>
                <a:ea typeface="Helvetica Neue"/>
                <a:cs typeface="Helvetica Neue"/>
              </a:rPr>
              <a:t>Seven feature families operationalize the literature</a:t>
            </a:r>
          </a:p>
        </p:txBody>
      </p:sp>
      <p:sp>
        <p:nvSpPr>
          <p:cNvPr id="4" name="">
            <a:extLst xmlns:a="http://schemas.openxmlformats.org/drawingml/2006/main">
              <a:ext uri="{FF2B5EF4-FFF2-40B4-BE49-F238E27FC236}">
                <a16:creationId xmlns:a16="http://schemas.microsoft.com/office/drawing/2014/main" id="{AF0FABED-75C1-4D57-B8F7-E195713F56DB}"/>
              </a:ext>
            </a:extLst>
          </p:cNvPr>
          <p:cNvSpPr>
            <a:spLocks xmlns:a="http://schemas.openxmlformats.org/drawingml/2006/main" noGrp="1"/>
          </p:cNvSpPr>
          <p:nvPr/>
        </p:nvSpPr>
        <p:spPr>
          <a:xfrm xmlns:a="http://schemas.openxmlformats.org/drawingml/2006/main">
            <a:off x="400050" y="1504950"/>
            <a:ext cx="10858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E6672"/>
                </a:solidFill>
                <a:latin typeface="Helvetica Neue"/>
                <a:ea typeface="Helvetica Neue"/>
                <a:cs typeface="Helvetica Neue"/>
              </a:defRPr>
            </a:pPr>
            <a:r>
              <a:rPr sz="1500" b="0">
                <a:solidFill>
                  <a:srgbClr val="5E6672"/>
                </a:solidFill>
                <a:latin typeface="Helvetica Neue"/>
                <a:ea typeface="Helvetica Neue"/>
                <a:cs typeface="Helvetica Neue"/>
              </a:rPr>
              <a:t>The representative metric is fixed for each family so the dashboard and later study exports remain comparable.</a:t>
            </a:r>
          </a:p>
        </p:txBody>
      </p:sp>
      <p:sp>
        <p:nvSpPr>
          <p:cNvPr id="5" name="">
            <a:extLst xmlns:a="http://schemas.openxmlformats.org/drawingml/2006/main">
              <a:ext uri="{FF2B5EF4-FFF2-40B4-BE49-F238E27FC236}">
                <a16:creationId xmlns:a16="http://schemas.microsoft.com/office/drawing/2014/main" id="{4A102306-FBC2-48CB-AFB8-B642E059F2E2}"/>
              </a:ext>
            </a:extLst>
          </p:cNvPr>
          <p:cNvSpPr>
            <a:spLocks xmlns:a="http://schemas.openxmlformats.org/drawingml/2006/main" noGrp="1"/>
          </p:cNvSpPr>
          <p:nvPr/>
        </p:nvSpPr>
        <p:spPr>
          <a:xfrm xmlns:a="http://schemas.openxmlformats.org/drawingml/2006/main">
            <a:off x="400050" y="24384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COMPLEXITY</a:t>
            </a:r>
          </a:p>
        </p:txBody>
      </p:sp>
      <p:sp>
        <p:nvSpPr>
          <p:cNvPr id="6" name="">
            <a:extLst xmlns:a="http://schemas.openxmlformats.org/drawingml/2006/main">
              <a:ext uri="{FF2B5EF4-FFF2-40B4-BE49-F238E27FC236}">
                <a16:creationId xmlns:a16="http://schemas.microsoft.com/office/drawing/2014/main" id="{F417B46C-E31B-4FB7-83AC-0DC61E6402C4}"/>
              </a:ext>
            </a:extLst>
          </p:cNvPr>
          <p:cNvSpPr>
            <a:spLocks xmlns:a="http://schemas.openxmlformats.org/drawingml/2006/main" noGrp="1"/>
          </p:cNvSpPr>
          <p:nvPr/>
        </p:nvSpPr>
        <p:spPr>
          <a:xfrm xmlns:a="http://schemas.openxmlformats.org/drawingml/2006/main">
            <a:off x="2400300" y="24193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Canny edge density</a:t>
            </a:r>
          </a:p>
        </p:txBody>
      </p:sp>
      <p:sp>
        <p:nvSpPr>
          <p:cNvPr id="7" name="">
            <a:extLst xmlns:a="http://schemas.openxmlformats.org/drawingml/2006/main">
              <a:ext uri="{FF2B5EF4-FFF2-40B4-BE49-F238E27FC236}">
                <a16:creationId xmlns:a16="http://schemas.microsoft.com/office/drawing/2014/main" id="{3532EB98-5D6A-4E5A-B61A-828A0D81DBB6}"/>
              </a:ext>
            </a:extLst>
          </p:cNvPr>
          <p:cNvSpPr>
            <a:spLocks xmlns:a="http://schemas.openxmlformats.org/drawingml/2006/main" noGrp="1"/>
          </p:cNvSpPr>
          <p:nvPr/>
        </p:nvSpPr>
        <p:spPr>
          <a:xfrm xmlns:a="http://schemas.openxmlformats.org/drawingml/2006/main">
            <a:off x="400050" y="2895600"/>
            <a:ext cx="5286375"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3C60896-96FE-4992-89C1-ABE93DCA2990}"/>
              </a:ext>
            </a:extLst>
          </p:cNvPr>
          <p:cNvSpPr>
            <a:spLocks xmlns:a="http://schemas.openxmlformats.org/drawingml/2006/main" noGrp="1"/>
          </p:cNvSpPr>
          <p:nvPr/>
        </p:nvSpPr>
        <p:spPr>
          <a:xfrm xmlns:a="http://schemas.openxmlformats.org/drawingml/2006/main">
            <a:off x="400050" y="32766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SHAPE</a:t>
            </a:r>
          </a:p>
        </p:txBody>
      </p:sp>
      <p:sp>
        <p:nvSpPr>
          <p:cNvPr id="9" name="">
            <a:extLst xmlns:a="http://schemas.openxmlformats.org/drawingml/2006/main">
              <a:ext uri="{FF2B5EF4-FFF2-40B4-BE49-F238E27FC236}">
                <a16:creationId xmlns:a16="http://schemas.microsoft.com/office/drawing/2014/main" id="{E1E75638-1A03-4E52-828A-749B6398D837}"/>
              </a:ext>
            </a:extLst>
          </p:cNvPr>
          <p:cNvSpPr>
            <a:spLocks xmlns:a="http://schemas.openxmlformats.org/drawingml/2006/main" noGrp="1"/>
          </p:cNvSpPr>
          <p:nvPr/>
        </p:nvSpPr>
        <p:spPr>
          <a:xfrm xmlns:a="http://schemas.openxmlformats.org/drawingml/2006/main">
            <a:off x="2400300" y="32575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Enclosure score v2</a:t>
            </a:r>
          </a:p>
        </p:txBody>
      </p:sp>
      <p:sp>
        <p:nvSpPr>
          <p:cNvPr id="10" name="">
            <a:extLst xmlns:a="http://schemas.openxmlformats.org/drawingml/2006/main">
              <a:ext uri="{FF2B5EF4-FFF2-40B4-BE49-F238E27FC236}">
                <a16:creationId xmlns:a16="http://schemas.microsoft.com/office/drawing/2014/main" id="{C4E247E5-EF70-4916-B7D6-A5A143CFFF95}"/>
              </a:ext>
            </a:extLst>
          </p:cNvPr>
          <p:cNvSpPr>
            <a:spLocks xmlns:a="http://schemas.openxmlformats.org/drawingml/2006/main" noGrp="1"/>
          </p:cNvSpPr>
          <p:nvPr/>
        </p:nvSpPr>
        <p:spPr>
          <a:xfrm xmlns:a="http://schemas.openxmlformats.org/drawingml/2006/main">
            <a:off x="400050" y="3733800"/>
            <a:ext cx="5286375"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60DA01C-DF45-4A7A-A82C-9A5C9161EDB3}"/>
              </a:ext>
            </a:extLst>
          </p:cNvPr>
          <p:cNvSpPr>
            <a:spLocks xmlns:a="http://schemas.openxmlformats.org/drawingml/2006/main" noGrp="1"/>
          </p:cNvSpPr>
          <p:nvPr/>
        </p:nvSpPr>
        <p:spPr>
          <a:xfrm xmlns:a="http://schemas.openxmlformats.org/drawingml/2006/main">
            <a:off x="400050" y="41148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STROKE</a:t>
            </a:r>
          </a:p>
        </p:txBody>
      </p:sp>
      <p:sp>
        <p:nvSpPr>
          <p:cNvPr id="12" name="">
            <a:extLst xmlns:a="http://schemas.openxmlformats.org/drawingml/2006/main">
              <a:ext uri="{FF2B5EF4-FFF2-40B4-BE49-F238E27FC236}">
                <a16:creationId xmlns:a16="http://schemas.microsoft.com/office/drawing/2014/main" id="{7788015C-C6BB-47E1-B780-FF053132D2E7}"/>
              </a:ext>
            </a:extLst>
          </p:cNvPr>
          <p:cNvSpPr>
            <a:spLocks xmlns:a="http://schemas.openxmlformats.org/drawingml/2006/main" noGrp="1"/>
          </p:cNvSpPr>
          <p:nvPr/>
        </p:nvSpPr>
        <p:spPr>
          <a:xfrm xmlns:a="http://schemas.openxmlformats.org/drawingml/2006/main">
            <a:off x="2400300" y="40957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Principal-axis orientation v2</a:t>
            </a:r>
          </a:p>
        </p:txBody>
      </p:sp>
      <p:sp>
        <p:nvSpPr>
          <p:cNvPr id="13" name="">
            <a:extLst xmlns:a="http://schemas.openxmlformats.org/drawingml/2006/main">
              <a:ext uri="{FF2B5EF4-FFF2-40B4-BE49-F238E27FC236}">
                <a16:creationId xmlns:a16="http://schemas.microsoft.com/office/drawing/2014/main" id="{FE894491-F2A8-4F28-9D3F-1024E3D5CB75}"/>
              </a:ext>
            </a:extLst>
          </p:cNvPr>
          <p:cNvSpPr>
            <a:spLocks xmlns:a="http://schemas.openxmlformats.org/drawingml/2006/main" noGrp="1"/>
          </p:cNvSpPr>
          <p:nvPr/>
        </p:nvSpPr>
        <p:spPr>
          <a:xfrm xmlns:a="http://schemas.openxmlformats.org/drawingml/2006/main">
            <a:off x="400050" y="4572000"/>
            <a:ext cx="5286375"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AC5EAA4-438A-484B-B30D-35403432CA4D}"/>
              </a:ext>
            </a:extLst>
          </p:cNvPr>
          <p:cNvSpPr>
            <a:spLocks xmlns:a="http://schemas.openxmlformats.org/drawingml/2006/main" noGrp="1"/>
          </p:cNvSpPr>
          <p:nvPr/>
        </p:nvSpPr>
        <p:spPr>
          <a:xfrm xmlns:a="http://schemas.openxmlformats.org/drawingml/2006/main">
            <a:off x="400050" y="49530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DENSITY / FILL</a:t>
            </a:r>
          </a:p>
        </p:txBody>
      </p:sp>
      <p:sp>
        <p:nvSpPr>
          <p:cNvPr id="15" name="">
            <a:extLst xmlns:a="http://schemas.openxmlformats.org/drawingml/2006/main">
              <a:ext uri="{FF2B5EF4-FFF2-40B4-BE49-F238E27FC236}">
                <a16:creationId xmlns:a16="http://schemas.microsoft.com/office/drawing/2014/main" id="{79141901-F648-48F3-9771-662865C1568E}"/>
              </a:ext>
            </a:extLst>
          </p:cNvPr>
          <p:cNvSpPr>
            <a:spLocks xmlns:a="http://schemas.openxmlformats.org/drawingml/2006/main" noGrp="1"/>
          </p:cNvSpPr>
          <p:nvPr/>
        </p:nvSpPr>
        <p:spPr>
          <a:xfrm xmlns:a="http://schemas.openxmlformats.org/drawingml/2006/main">
            <a:off x="2400300" y="49339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Solid fill ratio v2</a:t>
            </a:r>
          </a:p>
        </p:txBody>
      </p:sp>
      <p:sp>
        <p:nvSpPr>
          <p:cNvPr id="16" name="">
            <a:extLst xmlns:a="http://schemas.openxmlformats.org/drawingml/2006/main">
              <a:ext uri="{FF2B5EF4-FFF2-40B4-BE49-F238E27FC236}">
                <a16:creationId xmlns:a16="http://schemas.microsoft.com/office/drawing/2014/main" id="{C0112670-9403-4C70-A596-5F3C37CD23BB}"/>
              </a:ext>
            </a:extLst>
          </p:cNvPr>
          <p:cNvSpPr>
            <a:spLocks xmlns:a="http://schemas.openxmlformats.org/drawingml/2006/main" noGrp="1"/>
          </p:cNvSpPr>
          <p:nvPr/>
        </p:nvSpPr>
        <p:spPr>
          <a:xfrm xmlns:a="http://schemas.openxmlformats.org/drawingml/2006/main">
            <a:off x="400050" y="5410200"/>
            <a:ext cx="5286375"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464B8E6-5162-4295-B652-8858C9519853}"/>
              </a:ext>
            </a:extLst>
          </p:cNvPr>
          <p:cNvSpPr>
            <a:spLocks xmlns:a="http://schemas.openxmlformats.org/drawingml/2006/main" noGrp="1"/>
          </p:cNvSpPr>
          <p:nvPr/>
        </p:nvSpPr>
        <p:spPr>
          <a:xfrm xmlns:a="http://schemas.openxmlformats.org/drawingml/2006/main">
            <a:off x="6076950" y="24384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BALANCE</a:t>
            </a:r>
          </a:p>
        </p:txBody>
      </p:sp>
      <p:sp>
        <p:nvSpPr>
          <p:cNvPr id="18" name="">
            <a:extLst xmlns:a="http://schemas.openxmlformats.org/drawingml/2006/main">
              <a:ext uri="{FF2B5EF4-FFF2-40B4-BE49-F238E27FC236}">
                <a16:creationId xmlns:a16="http://schemas.microsoft.com/office/drawing/2014/main" id="{201E1100-C109-4CC7-B13D-6732D4B2C6DF}"/>
              </a:ext>
            </a:extLst>
          </p:cNvPr>
          <p:cNvSpPr>
            <a:spLocks xmlns:a="http://schemas.openxmlformats.org/drawingml/2006/main" noGrp="1"/>
          </p:cNvSpPr>
          <p:nvPr/>
        </p:nvSpPr>
        <p:spPr>
          <a:xfrm xmlns:a="http://schemas.openxmlformats.org/drawingml/2006/main">
            <a:off x="8077200" y="24193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Horizontal symmetry v2</a:t>
            </a:r>
          </a:p>
        </p:txBody>
      </p:sp>
      <p:sp>
        <p:nvSpPr>
          <p:cNvPr id="19" name="">
            <a:extLst xmlns:a="http://schemas.openxmlformats.org/drawingml/2006/main">
              <a:ext uri="{FF2B5EF4-FFF2-40B4-BE49-F238E27FC236}">
                <a16:creationId xmlns:a16="http://schemas.microsoft.com/office/drawing/2014/main" id="{8BCB1164-5E13-48ED-9CCC-265B0D89F256}"/>
              </a:ext>
            </a:extLst>
          </p:cNvPr>
          <p:cNvSpPr>
            <a:spLocks xmlns:a="http://schemas.openxmlformats.org/drawingml/2006/main" noGrp="1"/>
          </p:cNvSpPr>
          <p:nvPr/>
        </p:nvSpPr>
        <p:spPr>
          <a:xfrm xmlns:a="http://schemas.openxmlformats.org/drawingml/2006/main">
            <a:off x="6076950" y="2895600"/>
            <a:ext cx="5286375"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AF6927E-CED7-481E-97C9-2D01F89282E9}"/>
              </a:ext>
            </a:extLst>
          </p:cNvPr>
          <p:cNvSpPr>
            <a:spLocks xmlns:a="http://schemas.openxmlformats.org/drawingml/2006/main" noGrp="1"/>
          </p:cNvSpPr>
          <p:nvPr/>
        </p:nvSpPr>
        <p:spPr>
          <a:xfrm xmlns:a="http://schemas.openxmlformats.org/drawingml/2006/main">
            <a:off x="6076950" y="32766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COLOR</a:t>
            </a:r>
          </a:p>
        </p:txBody>
      </p:sp>
      <p:sp>
        <p:nvSpPr>
          <p:cNvPr id="21" name="">
            <a:extLst xmlns:a="http://schemas.openxmlformats.org/drawingml/2006/main">
              <a:ext uri="{FF2B5EF4-FFF2-40B4-BE49-F238E27FC236}">
                <a16:creationId xmlns:a16="http://schemas.microsoft.com/office/drawing/2014/main" id="{90E689D3-5D91-4E2D-B2E0-DC49CCC93E9B}"/>
              </a:ext>
            </a:extLst>
          </p:cNvPr>
          <p:cNvSpPr>
            <a:spLocks xmlns:a="http://schemas.openxmlformats.org/drawingml/2006/main" noGrp="1"/>
          </p:cNvSpPr>
          <p:nvPr/>
        </p:nvSpPr>
        <p:spPr>
          <a:xfrm xmlns:a="http://schemas.openxmlformats.org/drawingml/2006/main">
            <a:off x="8077200" y="32575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Mean saturation v2</a:t>
            </a:r>
          </a:p>
        </p:txBody>
      </p:sp>
      <p:sp>
        <p:nvSpPr>
          <p:cNvPr id="22" name="">
            <a:extLst xmlns:a="http://schemas.openxmlformats.org/drawingml/2006/main">
              <a:ext uri="{FF2B5EF4-FFF2-40B4-BE49-F238E27FC236}">
                <a16:creationId xmlns:a16="http://schemas.microsoft.com/office/drawing/2014/main" id="{D77626E0-614C-4C4D-AA1E-7DBD96ED5073}"/>
              </a:ext>
            </a:extLst>
          </p:cNvPr>
          <p:cNvSpPr>
            <a:spLocks xmlns:a="http://schemas.openxmlformats.org/drawingml/2006/main" noGrp="1"/>
          </p:cNvSpPr>
          <p:nvPr/>
        </p:nvSpPr>
        <p:spPr>
          <a:xfrm xmlns:a="http://schemas.openxmlformats.org/drawingml/2006/main">
            <a:off x="6076950" y="3733800"/>
            <a:ext cx="5286375"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A103F2B-EF21-4EF3-8467-9BE74885DBA5}"/>
              </a:ext>
            </a:extLst>
          </p:cNvPr>
          <p:cNvSpPr>
            <a:spLocks xmlns:a="http://schemas.openxmlformats.org/drawingml/2006/main" noGrp="1"/>
          </p:cNvSpPr>
          <p:nvPr/>
        </p:nvSpPr>
        <p:spPr>
          <a:xfrm xmlns:a="http://schemas.openxmlformats.org/drawingml/2006/main">
            <a:off x="6076950" y="41148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TEXTURE</a:t>
            </a:r>
          </a:p>
        </p:txBody>
      </p:sp>
      <p:sp>
        <p:nvSpPr>
          <p:cNvPr id="24" name="">
            <a:extLst xmlns:a="http://schemas.openxmlformats.org/drawingml/2006/main">
              <a:ext uri="{FF2B5EF4-FFF2-40B4-BE49-F238E27FC236}">
                <a16:creationId xmlns:a16="http://schemas.microsoft.com/office/drawing/2014/main" id="{7ECADCB4-BEF5-4555-8C43-70927FBCE574}"/>
              </a:ext>
            </a:extLst>
          </p:cNvPr>
          <p:cNvSpPr>
            <a:spLocks xmlns:a="http://schemas.openxmlformats.org/drawingml/2006/main" noGrp="1"/>
          </p:cNvSpPr>
          <p:nvPr/>
        </p:nvSpPr>
        <p:spPr>
          <a:xfrm xmlns:a="http://schemas.openxmlformats.org/drawingml/2006/main">
            <a:off x="8077200" y="40957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Local texture variation v2</a:t>
            </a:r>
          </a:p>
        </p:txBody>
      </p:sp>
      <p:sp>
        <p:nvSpPr>
          <p:cNvPr id="25" name="">
            <a:extLst xmlns:a="http://schemas.openxmlformats.org/drawingml/2006/main">
              <a:ext uri="{FF2B5EF4-FFF2-40B4-BE49-F238E27FC236}">
                <a16:creationId xmlns:a16="http://schemas.microsoft.com/office/drawing/2014/main" id="{CFC27C82-FBF2-407B-AC41-5C90DF8A05B0}"/>
              </a:ext>
            </a:extLst>
          </p:cNvPr>
          <p:cNvSpPr>
            <a:spLocks xmlns:a="http://schemas.openxmlformats.org/drawingml/2006/main" noGrp="1"/>
          </p:cNvSpPr>
          <p:nvPr/>
        </p:nvSpPr>
        <p:spPr>
          <a:xfrm xmlns:a="http://schemas.openxmlformats.org/drawingml/2006/main">
            <a:off x="6076950" y="4572000"/>
            <a:ext cx="5286375"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F7967EF-6F4A-455C-B2E9-488D5F618376}"/>
              </a:ext>
            </a:extLst>
          </p:cNvPr>
          <p:cNvSpPr>
            <a:spLocks xmlns:a="http://schemas.openxmlformats.org/drawingml/2006/main" noGrp="1"/>
          </p:cNvSpPr>
          <p:nvPr/>
        </p:nvSpPr>
        <p:spPr>
          <a:xfrm xmlns:a="http://schemas.openxmlformats.org/drawingml/2006/main">
            <a:off x="6076950" y="4857750"/>
            <a:ext cx="5286375" cy="106680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1FF022A-20D9-415B-AA88-A5EAADF8BED2}"/>
              </a:ext>
            </a:extLst>
          </p:cNvPr>
          <p:cNvSpPr>
            <a:spLocks xmlns:a="http://schemas.openxmlformats.org/drawingml/2006/main" noGrp="1"/>
          </p:cNvSpPr>
          <p:nvPr/>
        </p:nvSpPr>
        <p:spPr>
          <a:xfrm xmlns:a="http://schemas.openxmlformats.org/drawingml/2006/main">
            <a:off x="6267450" y="501967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Important boundary</a:t>
            </a:r>
          </a:p>
        </p:txBody>
      </p:sp>
      <p:sp>
        <p:nvSpPr>
          <p:cNvPr id="28" name="">
            <a:extLst xmlns:a="http://schemas.openxmlformats.org/drawingml/2006/main">
              <a:ext uri="{FF2B5EF4-FFF2-40B4-BE49-F238E27FC236}">
                <a16:creationId xmlns:a16="http://schemas.microsoft.com/office/drawing/2014/main" id="{2FE69BDC-0C0F-4B51-A7FA-4204DFF8078E}"/>
              </a:ext>
            </a:extLst>
          </p:cNvPr>
          <p:cNvSpPr>
            <a:spLocks xmlns:a="http://schemas.openxmlformats.org/drawingml/2006/main" noGrp="1"/>
          </p:cNvSpPr>
          <p:nvPr/>
        </p:nvSpPr>
        <p:spPr>
          <a:xfrm xmlns:a="http://schemas.openxmlformats.org/drawingml/2006/main">
            <a:off x="6267450" y="5314950"/>
            <a:ext cx="4810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11111"/>
                </a:solidFill>
                <a:latin typeface="Helvetica Neue"/>
                <a:ea typeface="Helvetica Neue"/>
                <a:cs typeface="Helvetica Neue"/>
              </a:defRPr>
            </a:pPr>
            <a:r>
              <a:rPr sz="1275" b="1">
                <a:solidFill>
                  <a:srgbClr val="111111"/>
                </a:solidFill>
                <a:latin typeface="Helvetica Neue"/>
                <a:ea typeface="Helvetica Neue"/>
                <a:cs typeface="Helvetica Neue"/>
              </a:rPr>
              <a:t>These values describe visible structure; they do not recover an icon’s meaning.</a:t>
            </a:r>
          </a:p>
        </p:txBody>
      </p:sp>
    </p:spTree>
    <p:extLst>
      <p:ext uri="{BB962C8B-B14F-4D97-AF65-F5344CB8AC3E}">
        <p14:creationId xmlns:p14="http://schemas.microsoft.com/office/powerpoint/2010/main" val="123170233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3E236C3-01D4-4B08-8E26-3A6DF7C19C46}"/>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06 · IMPLEMENTATION</a:t>
            </a:r>
          </a:p>
        </p:txBody>
      </p:sp>
      <p:sp>
        <p:nvSpPr>
          <p:cNvPr id="2" name="">
            <a:extLst xmlns:a="http://schemas.openxmlformats.org/drawingml/2006/main">
              <a:ext uri="{FF2B5EF4-FFF2-40B4-BE49-F238E27FC236}">
                <a16:creationId xmlns:a16="http://schemas.microsoft.com/office/drawing/2014/main" id="{46BE9C04-7795-4A37-AB67-DEA31802FC0E}"/>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15</a:t>
            </a:r>
          </a:p>
        </p:txBody>
      </p:sp>
      <p:sp>
        <p:nvSpPr>
          <p:cNvPr id="3" name="">
            <a:extLst xmlns:a="http://schemas.openxmlformats.org/drawingml/2006/main">
              <a:ext uri="{FF2B5EF4-FFF2-40B4-BE49-F238E27FC236}">
                <a16:creationId xmlns:a16="http://schemas.microsoft.com/office/drawing/2014/main" id="{80D385CC-2C5F-45A0-85BD-85603C1B438E}"/>
              </a:ext>
            </a:extLst>
          </p:cNvPr>
          <p:cNvSpPr>
            <a:spLocks xmlns:a="http://schemas.openxmlformats.org/drawingml/2006/main" noGrp="1"/>
          </p:cNvSpPr>
          <p:nvPr/>
        </p:nvSpPr>
        <p:spPr>
          <a:xfrm xmlns:a="http://schemas.openxmlformats.org/drawingml/2006/main">
            <a:off x="400050" y="742950"/>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00" b="1">
                <a:solidFill>
                  <a:srgbClr val="111111"/>
                </a:solidFill>
                <a:latin typeface="Helvetica Neue"/>
                <a:ea typeface="Helvetica Neue"/>
                <a:cs typeface="Helvetica Neue"/>
              </a:defRPr>
            </a:pPr>
            <a:r>
              <a:rPr sz="3300" b="1">
                <a:solidFill>
                  <a:srgbClr val="111111"/>
                </a:solidFill>
                <a:latin typeface="Helvetica Neue"/>
                <a:ea typeface="Helvetica Neue"/>
                <a:cs typeface="Helvetica Neue"/>
              </a:rPr>
              <a:t>Measurement repair made the features auditable</a:t>
            </a:r>
          </a:p>
        </p:txBody>
      </p:sp>
      <p:sp>
        <p:nvSpPr>
          <p:cNvPr id="4" name="">
            <a:extLst xmlns:a="http://schemas.openxmlformats.org/drawingml/2006/main">
              <a:ext uri="{FF2B5EF4-FFF2-40B4-BE49-F238E27FC236}">
                <a16:creationId xmlns:a16="http://schemas.microsoft.com/office/drawing/2014/main" id="{D85F1E18-91C4-469E-89D0-2EB12866175D}"/>
              </a:ext>
            </a:extLst>
          </p:cNvPr>
          <p:cNvSpPr>
            <a:spLocks xmlns:a="http://schemas.openxmlformats.org/drawingml/2006/main" noGrp="1"/>
          </p:cNvSpPr>
          <p:nvPr/>
        </p:nvSpPr>
        <p:spPr>
          <a:xfrm xmlns:a="http://schemas.openxmlformats.org/drawingml/2006/main">
            <a:off x="400050" y="1581150"/>
            <a:ext cx="10668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E6672"/>
                </a:solidFill>
                <a:latin typeface="Helvetica Neue"/>
                <a:ea typeface="Helvetica Neue"/>
                <a:cs typeface="Helvetica Neue"/>
              </a:defRPr>
            </a:pPr>
            <a:r>
              <a:rPr sz="1575" b="0">
                <a:solidFill>
                  <a:srgbClr val="5E6672"/>
                </a:solidFill>
                <a:latin typeface="Helvetica Neue"/>
                <a:ea typeface="Helvetica Neue"/>
                <a:cs typeface="Helvetica Neue"/>
              </a:rPr>
              <a:t>The second feature schema made image assumptions explicit and separated reliable values from uncertain cases.</a:t>
            </a:r>
          </a:p>
        </p:txBody>
      </p:sp>
      <p:sp>
        <p:nvSpPr>
          <p:cNvPr id="5" name="">
            <a:extLst xmlns:a="http://schemas.openxmlformats.org/drawingml/2006/main">
              <a:ext uri="{FF2B5EF4-FFF2-40B4-BE49-F238E27FC236}">
                <a16:creationId xmlns:a16="http://schemas.microsoft.com/office/drawing/2014/main" id="{A17ADF49-E01A-45EC-82AE-2EE1DF93919F}"/>
              </a:ext>
            </a:extLst>
          </p:cNvPr>
          <p:cNvSpPr>
            <a:spLocks xmlns:a="http://schemas.openxmlformats.org/drawingml/2006/main" noGrp="1"/>
          </p:cNvSpPr>
          <p:nvPr/>
        </p:nvSpPr>
        <p:spPr>
          <a:xfrm xmlns:a="http://schemas.openxmlformats.org/drawingml/2006/main">
            <a:off x="400050" y="2362200"/>
            <a:ext cx="4762500" cy="2857500"/>
          </a:xfrm>
          <a:prstGeom xmlns:a="http://schemas.openxmlformats.org/drawingml/2006/main" prst="rect">
            <a:avLst/>
          </a:prstGeom>
          <a:solidFill xmlns:a="http://schemas.openxmlformats.org/drawingml/2006/main">
            <a:srgbClr val="F1F2F3"/>
          </a:solidFill>
          <a:ln xmlns:a="http://schemas.openxmlformats.org/drawingml/2006/main" w="9525">
            <a:solidFill>
              <a:srgbClr val="B8BCC4"/>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74c7bfa5252844d1"/>
          <a:stretch xmlns:a="http://schemas.openxmlformats.org/drawingml/2006/main"/>
        </p:blipFill>
        <p:spPr>
          <a:xfrm xmlns:a="http://schemas.openxmlformats.org/drawingml/2006/main">
            <a:off x="609600" y="2714625"/>
            <a:ext cx="4343400" cy="21717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D8F180C-93FD-43BE-880B-AC62F919A372}"/>
              </a:ext>
            </a:extLst>
          </p:cNvPr>
          <p:cNvSpPr>
            <a:spLocks xmlns:a="http://schemas.openxmlformats.org/drawingml/2006/main" noGrp="1"/>
          </p:cNvSpPr>
          <p:nvPr/>
        </p:nvSpPr>
        <p:spPr>
          <a:xfrm xmlns:a="http://schemas.openxmlformats.org/drawingml/2006/main">
            <a:off x="609600" y="5314950"/>
            <a:ext cx="4381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E6672"/>
                </a:solidFill>
                <a:latin typeface="Helvetica Neue"/>
                <a:ea typeface="Helvetica Neue"/>
                <a:cs typeface="Helvetica Neue"/>
              </a:defRPr>
            </a:pPr>
            <a:r>
              <a:rPr sz="1200" b="0">
                <a:solidFill>
                  <a:srgbClr val="5E6672"/>
                </a:solidFill>
                <a:latin typeface="Helvetica Neue"/>
                <a:ea typeface="Helvetica Neue"/>
                <a:cs typeface="Helvetica Neue"/>
              </a:rPr>
              <a:t>Example: original icon and accepted foreground mask</a:t>
            </a:r>
          </a:p>
        </p:txBody>
      </p:sp>
      <p:sp>
        <p:nvSpPr>
          <p:cNvPr id="8" name="">
            <a:extLst xmlns:a="http://schemas.openxmlformats.org/drawingml/2006/main">
              <a:ext uri="{FF2B5EF4-FFF2-40B4-BE49-F238E27FC236}">
                <a16:creationId xmlns:a16="http://schemas.microsoft.com/office/drawing/2014/main" id="{776D9896-ACED-48AF-BB93-BFD1F3B62D78}"/>
              </a:ext>
            </a:extLst>
          </p:cNvPr>
          <p:cNvSpPr>
            <a:spLocks xmlns:a="http://schemas.openxmlformats.org/drawingml/2006/main" noGrp="1"/>
          </p:cNvSpPr>
          <p:nvPr/>
        </p:nvSpPr>
        <p:spPr>
          <a:xfrm xmlns:a="http://schemas.openxmlformats.org/drawingml/2006/main">
            <a:off x="5715000" y="2333625"/>
            <a:ext cx="190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MASK QUALITY</a:t>
            </a:r>
          </a:p>
        </p:txBody>
      </p:sp>
      <p:sp>
        <p:nvSpPr>
          <p:cNvPr id="9" name="">
            <a:extLst xmlns:a="http://schemas.openxmlformats.org/drawingml/2006/main">
              <a:ext uri="{FF2B5EF4-FFF2-40B4-BE49-F238E27FC236}">
                <a16:creationId xmlns:a16="http://schemas.microsoft.com/office/drawing/2014/main" id="{AD9B4385-963D-48DE-A8F7-772C0050733C}"/>
              </a:ext>
            </a:extLst>
          </p:cNvPr>
          <p:cNvSpPr>
            <a:spLocks xmlns:a="http://schemas.openxmlformats.org/drawingml/2006/main" noGrp="1"/>
          </p:cNvSpPr>
          <p:nvPr/>
        </p:nvSpPr>
        <p:spPr>
          <a:xfrm xmlns:a="http://schemas.openxmlformats.org/drawingml/2006/main">
            <a:off x="5715000" y="2600325"/>
            <a:ext cx="5657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11111"/>
                </a:solidFill>
                <a:latin typeface="Helvetica Neue"/>
                <a:ea typeface="Helvetica Neue"/>
                <a:cs typeface="Helvetica Neue"/>
              </a:defRPr>
            </a:pPr>
            <a:r>
              <a:rPr sz="1425" b="1">
                <a:solidFill>
                  <a:srgbClr val="111111"/>
                </a:solidFill>
                <a:latin typeface="Helvetica Neue"/>
                <a:ea typeface="Helvetica Neue"/>
                <a:cs typeface="Helvetica Neue"/>
              </a:rPr>
              <a:t>489 uncertain masks excluded from quality-sensitive feature sampling</a:t>
            </a:r>
          </a:p>
        </p:txBody>
      </p:sp>
      <p:sp>
        <p:nvSpPr>
          <p:cNvPr id="10" name="">
            <a:extLst xmlns:a="http://schemas.openxmlformats.org/drawingml/2006/main">
              <a:ext uri="{FF2B5EF4-FFF2-40B4-BE49-F238E27FC236}">
                <a16:creationId xmlns:a16="http://schemas.microsoft.com/office/drawing/2014/main" id="{25E7DA87-FDE3-4AA0-8106-AAA22A67E0BA}"/>
              </a:ext>
            </a:extLst>
          </p:cNvPr>
          <p:cNvSpPr>
            <a:spLocks xmlns:a="http://schemas.openxmlformats.org/drawingml/2006/main" noGrp="1"/>
          </p:cNvSpPr>
          <p:nvPr/>
        </p:nvSpPr>
        <p:spPr>
          <a:xfrm xmlns:a="http://schemas.openxmlformats.org/drawingml/2006/main">
            <a:off x="5715000" y="3238500"/>
            <a:ext cx="190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TRUE ZEROS</a:t>
            </a:r>
          </a:p>
        </p:txBody>
      </p:sp>
      <p:sp>
        <p:nvSpPr>
          <p:cNvPr id="11" name="">
            <a:extLst xmlns:a="http://schemas.openxmlformats.org/drawingml/2006/main">
              <a:ext uri="{FF2B5EF4-FFF2-40B4-BE49-F238E27FC236}">
                <a16:creationId xmlns:a16="http://schemas.microsoft.com/office/drawing/2014/main" id="{74024046-BC31-414E-90C9-3698A176A86A}"/>
              </a:ext>
            </a:extLst>
          </p:cNvPr>
          <p:cNvSpPr>
            <a:spLocks xmlns:a="http://schemas.openxmlformats.org/drawingml/2006/main" noGrp="1"/>
          </p:cNvSpPr>
          <p:nvPr/>
        </p:nvSpPr>
        <p:spPr>
          <a:xfrm xmlns:a="http://schemas.openxmlformats.org/drawingml/2006/main">
            <a:off x="5715000" y="3505200"/>
            <a:ext cx="5657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11111"/>
                </a:solidFill>
                <a:latin typeface="Helvetica Neue"/>
                <a:ea typeface="Helvetica Neue"/>
                <a:cs typeface="Helvetica Neue"/>
              </a:defRPr>
            </a:pPr>
            <a:r>
              <a:rPr sz="1425" b="1">
                <a:solidFill>
                  <a:srgbClr val="111111"/>
                </a:solidFill>
                <a:latin typeface="Helvetica Neue"/>
                <a:ea typeface="Helvetica Neue"/>
                <a:cs typeface="Helvetica Neue"/>
              </a:rPr>
              <a:t>Valid zero measurements are retained rather than treated as missing</a:t>
            </a:r>
          </a:p>
        </p:txBody>
      </p:sp>
      <p:sp>
        <p:nvSpPr>
          <p:cNvPr id="12" name="">
            <a:extLst xmlns:a="http://schemas.openxmlformats.org/drawingml/2006/main">
              <a:ext uri="{FF2B5EF4-FFF2-40B4-BE49-F238E27FC236}">
                <a16:creationId xmlns:a16="http://schemas.microsoft.com/office/drawing/2014/main" id="{77974DD3-DEDC-41E3-BDC2-A9DDAB385368}"/>
              </a:ext>
            </a:extLst>
          </p:cNvPr>
          <p:cNvSpPr>
            <a:spLocks xmlns:a="http://schemas.openxmlformats.org/drawingml/2006/main" noGrp="1"/>
          </p:cNvSpPr>
          <p:nvPr/>
        </p:nvSpPr>
        <p:spPr>
          <a:xfrm xmlns:a="http://schemas.openxmlformats.org/drawingml/2006/main">
            <a:off x="5715000" y="4143375"/>
            <a:ext cx="190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ORIENTATION</a:t>
            </a:r>
          </a:p>
        </p:txBody>
      </p:sp>
      <p:sp>
        <p:nvSpPr>
          <p:cNvPr id="13" name="">
            <a:extLst xmlns:a="http://schemas.openxmlformats.org/drawingml/2006/main">
              <a:ext uri="{FF2B5EF4-FFF2-40B4-BE49-F238E27FC236}">
                <a16:creationId xmlns:a16="http://schemas.microsoft.com/office/drawing/2014/main" id="{007D41B6-DEFA-4C99-B22F-E7E85250CB49}"/>
              </a:ext>
            </a:extLst>
          </p:cNvPr>
          <p:cNvSpPr>
            <a:spLocks xmlns:a="http://schemas.openxmlformats.org/drawingml/2006/main" noGrp="1"/>
          </p:cNvSpPr>
          <p:nvPr/>
        </p:nvSpPr>
        <p:spPr>
          <a:xfrm xmlns:a="http://schemas.openxmlformats.org/drawingml/2006/main">
            <a:off x="5715000" y="4410075"/>
            <a:ext cx="5657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11111"/>
                </a:solidFill>
                <a:latin typeface="Helvetica Neue"/>
                <a:ea typeface="Helvetica Neue"/>
                <a:cs typeface="Helvetica Neue"/>
              </a:defRPr>
            </a:pPr>
            <a:r>
              <a:rPr sz="1425" b="1">
                <a:solidFill>
                  <a:srgbClr val="111111"/>
                </a:solidFill>
                <a:latin typeface="Helvetica Neue"/>
                <a:ea typeface="Helvetica Neue"/>
                <a:cs typeface="Helvetica Neue"/>
              </a:rPr>
              <a:t>Undefined directions are excluded using confidence and anisotropy checks</a:t>
            </a:r>
          </a:p>
        </p:txBody>
      </p:sp>
      <p:sp>
        <p:nvSpPr>
          <p:cNvPr id="14" name="">
            <a:extLst xmlns:a="http://schemas.openxmlformats.org/drawingml/2006/main">
              <a:ext uri="{FF2B5EF4-FFF2-40B4-BE49-F238E27FC236}">
                <a16:creationId xmlns:a16="http://schemas.microsoft.com/office/drawing/2014/main" id="{7C5DAC14-4143-4B55-B89C-66A02828DC2A}"/>
              </a:ext>
            </a:extLst>
          </p:cNvPr>
          <p:cNvSpPr>
            <a:spLocks xmlns:a="http://schemas.openxmlformats.org/drawingml/2006/main" noGrp="1"/>
          </p:cNvSpPr>
          <p:nvPr/>
        </p:nvSpPr>
        <p:spPr>
          <a:xfrm xmlns:a="http://schemas.openxmlformats.org/drawingml/2006/main">
            <a:off x="5715000" y="5048250"/>
            <a:ext cx="1905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RELEASE GATE</a:t>
            </a:r>
          </a:p>
        </p:txBody>
      </p:sp>
      <p:sp>
        <p:nvSpPr>
          <p:cNvPr id="15" name="">
            <a:extLst xmlns:a="http://schemas.openxmlformats.org/drawingml/2006/main">
              <a:ext uri="{FF2B5EF4-FFF2-40B4-BE49-F238E27FC236}">
                <a16:creationId xmlns:a16="http://schemas.microsoft.com/office/drawing/2014/main" id="{3F36AD79-9081-4AAC-8331-A9D05D8F7329}"/>
              </a:ext>
            </a:extLst>
          </p:cNvPr>
          <p:cNvSpPr>
            <a:spLocks xmlns:a="http://schemas.openxmlformats.org/drawingml/2006/main" noGrp="1"/>
          </p:cNvSpPr>
          <p:nvPr/>
        </p:nvSpPr>
        <p:spPr>
          <a:xfrm xmlns:a="http://schemas.openxmlformats.org/drawingml/2006/main">
            <a:off x="5715000" y="5314950"/>
            <a:ext cx="5657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11111"/>
                </a:solidFill>
                <a:latin typeface="Helvetica Neue"/>
                <a:ea typeface="Helvetica Neue"/>
                <a:cs typeface="Helvetica Neue"/>
              </a:defRPr>
            </a:pPr>
            <a:r>
              <a:rPr sz="1425" b="1">
                <a:solidFill>
                  <a:srgbClr val="111111"/>
                </a:solidFill>
                <a:latin typeface="Helvetica Neue"/>
                <a:ea typeface="Helvetica Neue"/>
                <a:cs typeface="Helvetica Neue"/>
              </a:rPr>
              <a:t>A frozen two-rater benchmark remains pending before feature-v2 release</a:t>
            </a:r>
          </a:p>
        </p:txBody>
      </p:sp>
    </p:spTree>
    <p:extLst>
      <p:ext uri="{BB962C8B-B14F-4D97-AF65-F5344CB8AC3E}">
        <p14:creationId xmlns:p14="http://schemas.microsoft.com/office/powerpoint/2010/main" val="74297765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F0B282A-EFCF-4F21-91B8-BA35D9731864}"/>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07 · CURRENT SYSTEM</a:t>
            </a:r>
          </a:p>
        </p:txBody>
      </p:sp>
      <p:sp>
        <p:nvSpPr>
          <p:cNvPr id="2" name="">
            <a:extLst xmlns:a="http://schemas.openxmlformats.org/drawingml/2006/main">
              <a:ext uri="{FF2B5EF4-FFF2-40B4-BE49-F238E27FC236}">
                <a16:creationId xmlns:a16="http://schemas.microsoft.com/office/drawing/2014/main" id="{B4507B94-ECDA-4A1B-9306-877FB40CD01F}"/>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16</a:t>
            </a:r>
          </a:p>
        </p:txBody>
      </p:sp>
      <p:sp>
        <p:nvSpPr>
          <p:cNvPr id="3" name="">
            <a:extLst xmlns:a="http://schemas.openxmlformats.org/drawingml/2006/main">
              <a:ext uri="{FF2B5EF4-FFF2-40B4-BE49-F238E27FC236}">
                <a16:creationId xmlns:a16="http://schemas.microsoft.com/office/drawing/2014/main" id="{1AA831B8-9EFC-4BAD-867D-C4888C9E98E1}"/>
              </a:ext>
            </a:extLst>
          </p:cNvPr>
          <p:cNvSpPr>
            <a:spLocks xmlns:a="http://schemas.openxmlformats.org/drawingml/2006/main" noGrp="1"/>
          </p:cNvSpPr>
          <p:nvPr/>
        </p:nvSpPr>
        <p:spPr>
          <a:xfrm xmlns:a="http://schemas.openxmlformats.org/drawingml/2006/main">
            <a:off x="400050" y="742950"/>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00" b="1">
                <a:solidFill>
                  <a:srgbClr val="111111"/>
                </a:solidFill>
                <a:latin typeface="Helvetica Neue"/>
                <a:ea typeface="Helvetica Neue"/>
                <a:cs typeface="Helvetica Neue"/>
              </a:defRPr>
            </a:pPr>
            <a:r>
              <a:rPr sz="3300" b="1">
                <a:solidFill>
                  <a:srgbClr val="111111"/>
                </a:solidFill>
                <a:latin typeface="Helvetica Neue"/>
                <a:ea typeface="Helvetica Neue"/>
                <a:cs typeface="Helvetica Neue"/>
              </a:rPr>
              <a:t>The dashboard became the research instrument</a:t>
            </a:r>
          </a:p>
        </p:txBody>
      </p:sp>
      <p:sp>
        <p:nvSpPr>
          <p:cNvPr id="4" name="">
            <a:extLst xmlns:a="http://schemas.openxmlformats.org/drawingml/2006/main">
              <a:ext uri="{FF2B5EF4-FFF2-40B4-BE49-F238E27FC236}">
                <a16:creationId xmlns:a16="http://schemas.microsoft.com/office/drawing/2014/main" id="{5E0891E8-B054-47EC-B667-88EEF77674ED}"/>
              </a:ext>
            </a:extLst>
          </p:cNvPr>
          <p:cNvSpPr>
            <a:spLocks xmlns:a="http://schemas.openxmlformats.org/drawingml/2006/main" noGrp="1"/>
          </p:cNvSpPr>
          <p:nvPr/>
        </p:nvSpPr>
        <p:spPr>
          <a:xfrm xmlns:a="http://schemas.openxmlformats.org/drawingml/2006/main">
            <a:off x="400050" y="1552575"/>
            <a:ext cx="1085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E6672"/>
                </a:solidFill>
                <a:latin typeface="Helvetica Neue"/>
                <a:ea typeface="Helvetica Neue"/>
                <a:cs typeface="Helvetica Neue"/>
              </a:defRPr>
            </a:pPr>
            <a:r>
              <a:rPr sz="1575" b="0">
                <a:solidFill>
                  <a:srgbClr val="5E6672"/>
                </a:solidFill>
                <a:latin typeface="Helvetica Neue"/>
                <a:ea typeface="Helvetica Neue"/>
                <a:cs typeface="Helvetica Neue"/>
              </a:rPr>
              <a:t>One interface now supports sampling, value inspection, clustering, lasso selection, and export on the same icon IDs.</a:t>
            </a:r>
          </a:p>
        </p:txBody>
      </p:sp>
      <p:sp>
        <p:nvSpPr>
          <p:cNvPr id="5" name="">
            <a:extLst xmlns:a="http://schemas.openxmlformats.org/drawingml/2006/main">
              <a:ext uri="{FF2B5EF4-FFF2-40B4-BE49-F238E27FC236}">
                <a16:creationId xmlns:a16="http://schemas.microsoft.com/office/drawing/2014/main" id="{0B9F1B08-7748-49C1-A766-3E9AEB54786A}"/>
              </a:ext>
            </a:extLst>
          </p:cNvPr>
          <p:cNvSpPr>
            <a:spLocks xmlns:a="http://schemas.openxmlformats.org/drawingml/2006/main" noGrp="1"/>
          </p:cNvSpPr>
          <p:nvPr/>
        </p:nvSpPr>
        <p:spPr>
          <a:xfrm xmlns:a="http://schemas.openxmlformats.org/drawingml/2006/main">
            <a:off x="400050" y="2257425"/>
            <a:ext cx="11391900" cy="3714750"/>
          </a:xfrm>
          <a:prstGeom xmlns:a="http://schemas.openxmlformats.org/drawingml/2006/main" prst="rect">
            <a:avLst/>
          </a:prstGeom>
          <a:solidFill xmlns:a="http://schemas.openxmlformats.org/drawingml/2006/main">
            <a:srgbClr val="F1F2F3"/>
          </a:solidFill>
          <a:ln xmlns:a="http://schemas.openxmlformats.org/drawingml/2006/main" w="9525">
            <a:solidFill>
              <a:srgbClr val="B8BCC4"/>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d43c4c4b4c64500"/>
          <a:stretch xmlns:a="http://schemas.openxmlformats.org/drawingml/2006/main"/>
        </p:blipFill>
        <p:spPr>
          <a:xfrm xmlns:a="http://schemas.openxmlformats.org/drawingml/2006/main">
            <a:off x="2999104" y="2371725"/>
            <a:ext cx="6193792" cy="3486150"/>
          </a:xfrm>
          <a:prstGeom xmlns:a="http://schemas.openxmlformats.org/drawingml/2006/main" prst="rect">
            <a:avLst/>
          </a:prstGeom>
        </p:spPr>
      </p:pic>
    </p:spTree>
    <p:extLst>
      <p:ext uri="{BB962C8B-B14F-4D97-AF65-F5344CB8AC3E}">
        <p14:creationId xmlns:p14="http://schemas.microsoft.com/office/powerpoint/2010/main" val="107730479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BACCBE4-94A5-4BEB-9A67-DBD769DDFCD9}"/>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07 · CURRENT SYSTEM</a:t>
            </a:r>
          </a:p>
        </p:txBody>
      </p:sp>
      <p:sp>
        <p:nvSpPr>
          <p:cNvPr id="2" name="">
            <a:extLst xmlns:a="http://schemas.openxmlformats.org/drawingml/2006/main">
              <a:ext uri="{FF2B5EF4-FFF2-40B4-BE49-F238E27FC236}">
                <a16:creationId xmlns:a16="http://schemas.microsoft.com/office/drawing/2014/main" id="{E0E750BC-6644-4144-B04C-1C441EE7C578}"/>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17</a:t>
            </a:r>
          </a:p>
        </p:txBody>
      </p:sp>
      <p:sp>
        <p:nvSpPr>
          <p:cNvPr id="3" name="">
            <a:extLst xmlns:a="http://schemas.openxmlformats.org/drawingml/2006/main">
              <a:ext uri="{FF2B5EF4-FFF2-40B4-BE49-F238E27FC236}">
                <a16:creationId xmlns:a16="http://schemas.microsoft.com/office/drawing/2014/main" id="{DEC88A54-EB88-42B3-9ED2-EE75F1A69C2D}"/>
              </a:ext>
            </a:extLst>
          </p:cNvPr>
          <p:cNvSpPr>
            <a:spLocks xmlns:a="http://schemas.openxmlformats.org/drawingml/2006/main" noGrp="1"/>
          </p:cNvSpPr>
          <p:nvPr/>
        </p:nvSpPr>
        <p:spPr>
          <a:xfrm xmlns:a="http://schemas.openxmlformats.org/drawingml/2006/main">
            <a:off x="400050" y="7429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75" b="1">
                <a:solidFill>
                  <a:srgbClr val="111111"/>
                </a:solidFill>
                <a:latin typeface="Helvetica Neue"/>
                <a:ea typeface="Helvetica Neue"/>
                <a:cs typeface="Helvetica Neue"/>
              </a:defRPr>
            </a:pPr>
            <a:r>
              <a:rPr sz="3075" b="1">
                <a:solidFill>
                  <a:srgbClr val="111111"/>
                </a:solidFill>
                <a:latin typeface="Helvetica Neue"/>
                <a:ea typeface="Helvetica Neue"/>
                <a:cs typeface="Helvetica Neue"/>
              </a:rPr>
              <a:t>Feature review reveals examples and redundancy</a:t>
            </a:r>
          </a:p>
        </p:txBody>
      </p:sp>
      <p:sp>
        <p:nvSpPr>
          <p:cNvPr id="4" name="">
            <a:extLst xmlns:a="http://schemas.openxmlformats.org/drawingml/2006/main">
              <a:ext uri="{FF2B5EF4-FFF2-40B4-BE49-F238E27FC236}">
                <a16:creationId xmlns:a16="http://schemas.microsoft.com/office/drawing/2014/main" id="{974F4FC1-C8A1-4906-B925-3AA46527A4DF}"/>
              </a:ext>
            </a:extLst>
          </p:cNvPr>
          <p:cNvSpPr>
            <a:spLocks xmlns:a="http://schemas.openxmlformats.org/drawingml/2006/main" noGrp="1"/>
          </p:cNvSpPr>
          <p:nvPr/>
        </p:nvSpPr>
        <p:spPr>
          <a:xfrm xmlns:a="http://schemas.openxmlformats.org/drawingml/2006/main">
            <a:off x="400050" y="150495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E6672"/>
                </a:solidFill>
                <a:latin typeface="Helvetica Neue"/>
                <a:ea typeface="Helvetica Neue"/>
                <a:cs typeface="Helvetica Neue"/>
              </a:defRPr>
            </a:pPr>
            <a:r>
              <a:rPr sz="1500" b="0">
                <a:solidFill>
                  <a:srgbClr val="5E6672"/>
                </a:solidFill>
                <a:latin typeface="Helvetica Neue"/>
                <a:ea typeface="Helvetica Neue"/>
                <a:cs typeface="Helvetica Neue"/>
              </a:rPr>
              <a:t>The value table exposes what a metric selects; the review view shows where families may overlap.</a:t>
            </a:r>
          </a:p>
        </p:txBody>
      </p:sp>
      <p:sp>
        <p:nvSpPr>
          <p:cNvPr id="5" name="">
            <a:extLst xmlns:a="http://schemas.openxmlformats.org/drawingml/2006/main">
              <a:ext uri="{FF2B5EF4-FFF2-40B4-BE49-F238E27FC236}">
                <a16:creationId xmlns:a16="http://schemas.microsoft.com/office/drawing/2014/main" id="{819B4537-19C5-4187-9326-7F87F13BC2F9}"/>
              </a:ext>
            </a:extLst>
          </p:cNvPr>
          <p:cNvSpPr>
            <a:spLocks xmlns:a="http://schemas.openxmlformats.org/drawingml/2006/main" noGrp="1"/>
          </p:cNvSpPr>
          <p:nvPr/>
        </p:nvSpPr>
        <p:spPr>
          <a:xfrm xmlns:a="http://schemas.openxmlformats.org/drawingml/2006/main">
            <a:off x="400050" y="2238375"/>
            <a:ext cx="5457825" cy="3409950"/>
          </a:xfrm>
          <a:prstGeom xmlns:a="http://schemas.openxmlformats.org/drawingml/2006/main" prst="rect">
            <a:avLst/>
          </a:prstGeom>
          <a:solidFill xmlns:a="http://schemas.openxmlformats.org/drawingml/2006/main">
            <a:srgbClr val="F1F2F3"/>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463D79DB-F7F9-4C60-B223-B819A4DF6A32}"/>
              </a:ext>
            </a:extLst>
          </p:cNvPr>
          <p:cNvSpPr>
            <a:spLocks xmlns:a="http://schemas.openxmlformats.org/drawingml/2006/main" noGrp="1"/>
          </p:cNvSpPr>
          <p:nvPr/>
        </p:nvSpPr>
        <p:spPr>
          <a:xfrm xmlns:a="http://schemas.openxmlformats.org/drawingml/2006/main">
            <a:off x="6076950" y="2238375"/>
            <a:ext cx="5715000" cy="3409950"/>
          </a:xfrm>
          <a:prstGeom xmlns:a="http://schemas.openxmlformats.org/drawingml/2006/main" prst="rect">
            <a:avLst/>
          </a:prstGeom>
          <a:solidFill xmlns:a="http://schemas.openxmlformats.org/drawingml/2006/main">
            <a:srgbClr val="F1F2F3"/>
          </a:solidFill>
          <a:ln xmlns:a="http://schemas.openxmlformats.org/drawingml/2006/main" w="9525">
            <a:solidFill>
              <a:srgbClr val="B8BCC4"/>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1d53ef8743d45b3"/>
          <a:srcRect xmlns:a="http://schemas.openxmlformats.org/drawingml/2006/main" l="3957" t="0" r="3957" b="0"/>
          <a:stretch xmlns:a="http://schemas.openxmlformats.org/drawingml/2006/main">
            <a:fillRect l="0" t="0" r="0" b="0"/>
          </a:stretch>
        </p:blipFill>
        <p:spPr>
          <a:xfrm xmlns:a="http://schemas.openxmlformats.org/drawingml/2006/main">
            <a:off x="495300" y="2333625"/>
            <a:ext cx="5267325" cy="321945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99f67cc5b1e24c56"/>
          <a:srcRect xmlns:a="http://schemas.openxmlformats.org/drawingml/2006/main" l="1738" t="0" r="1738" b="0"/>
          <a:stretch xmlns:a="http://schemas.openxmlformats.org/drawingml/2006/main">
            <a:fillRect l="0" t="0" r="0" b="0"/>
          </a:stretch>
        </p:blipFill>
        <p:spPr>
          <a:xfrm xmlns:a="http://schemas.openxmlformats.org/drawingml/2006/main">
            <a:off x="6172200" y="2333625"/>
            <a:ext cx="5524500" cy="32194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DBDC556-A6F5-41C4-B4BE-B8C0AB50060D}"/>
              </a:ext>
            </a:extLst>
          </p:cNvPr>
          <p:cNvSpPr>
            <a:spLocks xmlns:a="http://schemas.openxmlformats.org/drawingml/2006/main" noGrp="1"/>
          </p:cNvSpPr>
          <p:nvPr/>
        </p:nvSpPr>
        <p:spPr>
          <a:xfrm xmlns:a="http://schemas.openxmlformats.org/drawingml/2006/main">
            <a:off x="400050" y="5876925"/>
            <a:ext cx="11391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Current review: 7 feature families · 0 high-redundancy pairs · 2 moderate pairs</a:t>
            </a:r>
          </a:p>
        </p:txBody>
      </p:sp>
    </p:spTree>
    <p:extLst>
      <p:ext uri="{BB962C8B-B14F-4D97-AF65-F5344CB8AC3E}">
        <p14:creationId xmlns:p14="http://schemas.microsoft.com/office/powerpoint/2010/main" val="90479951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56E077F-A94A-49D2-A127-B75F94E26648}"/>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07 · CURRENT SYSTEM</a:t>
            </a:r>
          </a:p>
        </p:txBody>
      </p:sp>
      <p:sp>
        <p:nvSpPr>
          <p:cNvPr id="2" name="">
            <a:extLst xmlns:a="http://schemas.openxmlformats.org/drawingml/2006/main">
              <a:ext uri="{FF2B5EF4-FFF2-40B4-BE49-F238E27FC236}">
                <a16:creationId xmlns:a16="http://schemas.microsoft.com/office/drawing/2014/main" id="{0459C54E-E7C9-4623-99A3-54BB7836C9D7}"/>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18</a:t>
            </a:r>
          </a:p>
        </p:txBody>
      </p:sp>
      <p:sp>
        <p:nvSpPr>
          <p:cNvPr id="3" name="">
            <a:extLst xmlns:a="http://schemas.openxmlformats.org/drawingml/2006/main">
              <a:ext uri="{FF2B5EF4-FFF2-40B4-BE49-F238E27FC236}">
                <a16:creationId xmlns:a16="http://schemas.microsoft.com/office/drawing/2014/main" id="{FB892A1F-0C3D-42B3-BE08-649471DD1237}"/>
              </a:ext>
            </a:extLst>
          </p:cNvPr>
          <p:cNvSpPr>
            <a:spLocks xmlns:a="http://schemas.openxmlformats.org/drawingml/2006/main" noGrp="1"/>
          </p:cNvSpPr>
          <p:nvPr/>
        </p:nvSpPr>
        <p:spPr>
          <a:xfrm xmlns:a="http://schemas.openxmlformats.org/drawingml/2006/main">
            <a:off x="400050" y="7429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00" b="1">
                <a:solidFill>
                  <a:srgbClr val="111111"/>
                </a:solidFill>
                <a:latin typeface="Helvetica Neue"/>
                <a:ea typeface="Helvetica Neue"/>
                <a:cs typeface="Helvetica Neue"/>
              </a:defRPr>
            </a:pPr>
            <a:r>
              <a:rPr sz="3300" b="1">
                <a:solidFill>
                  <a:srgbClr val="111111"/>
                </a:solidFill>
                <a:latin typeface="Helvetica Neue"/>
                <a:ea typeface="Helvetica Neue"/>
                <a:cs typeface="Helvetica Neue"/>
              </a:rPr>
              <a:t>Clustering compares representations—not truth</a:t>
            </a:r>
          </a:p>
        </p:txBody>
      </p:sp>
      <p:sp>
        <p:nvSpPr>
          <p:cNvPr id="4" name="">
            <a:extLst xmlns:a="http://schemas.openxmlformats.org/drawingml/2006/main">
              <a:ext uri="{FF2B5EF4-FFF2-40B4-BE49-F238E27FC236}">
                <a16:creationId xmlns:a16="http://schemas.microsoft.com/office/drawing/2014/main" id="{8C7455DC-AE4B-491F-ACBB-29A7DC18893C}"/>
              </a:ext>
            </a:extLst>
          </p:cNvPr>
          <p:cNvSpPr>
            <a:spLocks xmlns:a="http://schemas.openxmlformats.org/drawingml/2006/main" noGrp="1"/>
          </p:cNvSpPr>
          <p:nvPr/>
        </p:nvSpPr>
        <p:spPr>
          <a:xfrm xmlns:a="http://schemas.openxmlformats.org/drawingml/2006/main">
            <a:off x="400050" y="1504950"/>
            <a:ext cx="1085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E6672"/>
                </a:solidFill>
                <a:latin typeface="Helvetica Neue"/>
                <a:ea typeface="Helvetica Neue"/>
                <a:cs typeface="Helvetica Neue"/>
              </a:defRPr>
            </a:pPr>
            <a:r>
              <a:rPr sz="1575" b="0">
                <a:solidFill>
                  <a:srgbClr val="5E6672"/>
                </a:solidFill>
                <a:latin typeface="Helvetica Neue"/>
                <a:ea typeface="Helvetica Neue"/>
                <a:cs typeface="Helvetica Neue"/>
              </a:rPr>
              <a:t>The same 140-icon sample can be grouped by measured features or by multimodal embeddings, then compared icon by icon.</a:t>
            </a:r>
          </a:p>
        </p:txBody>
      </p:sp>
      <p:sp>
        <p:nvSpPr>
          <p:cNvPr id="5" name="">
            <a:extLst xmlns:a="http://schemas.openxmlformats.org/drawingml/2006/main">
              <a:ext uri="{FF2B5EF4-FFF2-40B4-BE49-F238E27FC236}">
                <a16:creationId xmlns:a16="http://schemas.microsoft.com/office/drawing/2014/main" id="{F868E58B-C6AD-42A5-B825-C3904D054D56}"/>
              </a:ext>
            </a:extLst>
          </p:cNvPr>
          <p:cNvSpPr>
            <a:spLocks xmlns:a="http://schemas.openxmlformats.org/drawingml/2006/main" noGrp="1"/>
          </p:cNvSpPr>
          <p:nvPr/>
        </p:nvSpPr>
        <p:spPr>
          <a:xfrm xmlns:a="http://schemas.openxmlformats.org/drawingml/2006/main">
            <a:off x="400050" y="2085975"/>
            <a:ext cx="11391900" cy="3581400"/>
          </a:xfrm>
          <a:prstGeom xmlns:a="http://schemas.openxmlformats.org/drawingml/2006/main" prst="rect">
            <a:avLst/>
          </a:prstGeom>
          <a:solidFill xmlns:a="http://schemas.openxmlformats.org/drawingml/2006/main">
            <a:srgbClr val="F1F2F3"/>
          </a:solidFill>
          <a:ln xmlns:a="http://schemas.openxmlformats.org/drawingml/2006/main" w="9525">
            <a:solidFill>
              <a:srgbClr val="B8BCC4"/>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a7a487680914b27"/>
          <a:stretch xmlns:a="http://schemas.openxmlformats.org/drawingml/2006/main"/>
        </p:blipFill>
        <p:spPr>
          <a:xfrm xmlns:a="http://schemas.openxmlformats.org/drawingml/2006/main">
            <a:off x="3115733" y="2200275"/>
            <a:ext cx="5960533" cy="33528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8CC955F-921B-4466-BB66-0D8DE263F238}"/>
              </a:ext>
            </a:extLst>
          </p:cNvPr>
          <p:cNvSpPr>
            <a:spLocks xmlns:a="http://schemas.openxmlformats.org/drawingml/2006/main" noGrp="1"/>
          </p:cNvSpPr>
          <p:nvPr/>
        </p:nvSpPr>
        <p:spPr>
          <a:xfrm xmlns:a="http://schemas.openxmlformats.org/drawingml/2006/main">
            <a:off x="1238250" y="5781675"/>
            <a:ext cx="9715500" cy="45720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74DBA50-F700-4F91-A7DF-E99AA1A1D69B}"/>
              </a:ext>
            </a:extLst>
          </p:cNvPr>
          <p:cNvSpPr>
            <a:spLocks xmlns:a="http://schemas.openxmlformats.org/drawingml/2006/main" noGrp="1"/>
          </p:cNvSpPr>
          <p:nvPr/>
        </p:nvSpPr>
        <p:spPr>
          <a:xfrm xmlns:a="http://schemas.openxmlformats.org/drawingml/2006/main">
            <a:off x="1466850" y="5886450"/>
            <a:ext cx="9258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111111"/>
                </a:solidFill>
                <a:latin typeface="Helvetica Neue"/>
                <a:ea typeface="Helvetica Neue"/>
                <a:cs typeface="Helvetica Neue"/>
              </a:defRPr>
            </a:pPr>
            <a:r>
              <a:rPr sz="1200" b="1">
                <a:solidFill>
                  <a:srgbClr val="111111"/>
                </a:solidFill>
                <a:latin typeface="Helvetica Neue"/>
                <a:ea typeface="Helvetica Neue"/>
                <a:cs typeface="Helvetica Neue"/>
              </a:rPr>
              <a:t>Pairwise agreement = 0.783 here—but agreement is diagnostic, not evidence of perceptual correctness.</a:t>
            </a:r>
          </a:p>
        </p:txBody>
      </p:sp>
    </p:spTree>
    <p:extLst>
      <p:ext uri="{BB962C8B-B14F-4D97-AF65-F5344CB8AC3E}">
        <p14:creationId xmlns:p14="http://schemas.microsoft.com/office/powerpoint/2010/main" val="51325487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63AF877-9B8B-48C4-9297-FD25D8700865}"/>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08 · CURRENT PROGRESS</a:t>
            </a:r>
          </a:p>
        </p:txBody>
      </p:sp>
      <p:sp>
        <p:nvSpPr>
          <p:cNvPr id="2" name="">
            <a:extLst xmlns:a="http://schemas.openxmlformats.org/drawingml/2006/main">
              <a:ext uri="{FF2B5EF4-FFF2-40B4-BE49-F238E27FC236}">
                <a16:creationId xmlns:a16="http://schemas.microsoft.com/office/drawing/2014/main" id="{608A0477-F271-49C7-A411-7EEA7B283604}"/>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19</a:t>
            </a:r>
          </a:p>
        </p:txBody>
      </p:sp>
      <p:sp>
        <p:nvSpPr>
          <p:cNvPr id="3" name="">
            <a:extLst xmlns:a="http://schemas.openxmlformats.org/drawingml/2006/main">
              <a:ext uri="{FF2B5EF4-FFF2-40B4-BE49-F238E27FC236}">
                <a16:creationId xmlns:a16="http://schemas.microsoft.com/office/drawing/2014/main" id="{1C98009A-881C-4A7F-9FB6-A6EA32C58CCA}"/>
              </a:ext>
            </a:extLst>
          </p:cNvPr>
          <p:cNvSpPr>
            <a:spLocks xmlns:a="http://schemas.openxmlformats.org/drawingml/2006/main" noGrp="1"/>
          </p:cNvSpPr>
          <p:nvPr/>
        </p:nvSpPr>
        <p:spPr>
          <a:xfrm xmlns:a="http://schemas.openxmlformats.org/drawingml/2006/main">
            <a:off x="400050" y="7429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Computer analysis complete; human validation pending</a:t>
            </a:r>
          </a:p>
        </p:txBody>
      </p:sp>
      <p:sp>
        <p:nvSpPr>
          <p:cNvPr id="4" name="">
            <a:extLst xmlns:a="http://schemas.openxmlformats.org/drawingml/2006/main">
              <a:ext uri="{FF2B5EF4-FFF2-40B4-BE49-F238E27FC236}">
                <a16:creationId xmlns:a16="http://schemas.microsoft.com/office/drawing/2014/main" id="{AAC48A5F-5D06-42B9-B7A9-22C6638AC867}"/>
              </a:ext>
            </a:extLst>
          </p:cNvPr>
          <p:cNvSpPr>
            <a:spLocks xmlns:a="http://schemas.openxmlformats.org/drawingml/2006/main" noGrp="1"/>
          </p:cNvSpPr>
          <p:nvPr/>
        </p:nvSpPr>
        <p:spPr>
          <a:xfrm xmlns:a="http://schemas.openxmlformats.org/drawingml/2006/main">
            <a:off x="400050" y="1838325"/>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BUILT AND WORKING</a:t>
            </a:r>
          </a:p>
        </p:txBody>
      </p:sp>
      <p:sp>
        <p:nvSpPr>
          <p:cNvPr id="5" name="">
            <a:extLst xmlns:a="http://schemas.openxmlformats.org/drawingml/2006/main">
              <a:ext uri="{FF2B5EF4-FFF2-40B4-BE49-F238E27FC236}">
                <a16:creationId xmlns:a16="http://schemas.microsoft.com/office/drawing/2014/main" id="{3C3CCCA9-A034-43FB-BC22-62B036CFF349}"/>
              </a:ext>
            </a:extLst>
          </p:cNvPr>
          <p:cNvSpPr>
            <a:spLocks xmlns:a="http://schemas.openxmlformats.org/drawingml/2006/main" noGrp="1"/>
          </p:cNvSpPr>
          <p:nvPr/>
        </p:nvSpPr>
        <p:spPr>
          <a:xfrm xmlns:a="http://schemas.openxmlformats.org/drawingml/2006/main">
            <a:off x="6334125" y="1838325"/>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NEXT EVIDENCE NEEDED</a:t>
            </a:r>
          </a:p>
        </p:txBody>
      </p:sp>
      <p:sp>
        <p:nvSpPr>
          <p:cNvPr id="6" name="">
            <a:extLst xmlns:a="http://schemas.openxmlformats.org/drawingml/2006/main">
              <a:ext uri="{FF2B5EF4-FFF2-40B4-BE49-F238E27FC236}">
                <a16:creationId xmlns:a16="http://schemas.microsoft.com/office/drawing/2014/main" id="{455B7DF4-5324-4A2F-8119-A2FD7C693991}"/>
              </a:ext>
            </a:extLst>
          </p:cNvPr>
          <p:cNvSpPr>
            <a:spLocks xmlns:a="http://schemas.openxmlformats.org/drawingml/2006/main" noGrp="1"/>
          </p:cNvSpPr>
          <p:nvPr/>
        </p:nvSpPr>
        <p:spPr>
          <a:xfrm xmlns:a="http://schemas.openxmlformats.org/drawingml/2006/main">
            <a:off x="5962650" y="1762125"/>
            <a:ext cx="19050" cy="37814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087FCDE-5A62-4EB7-B127-E2FDA6DFCF07}"/>
              </a:ext>
            </a:extLst>
          </p:cNvPr>
          <p:cNvSpPr>
            <a:spLocks xmlns:a="http://schemas.openxmlformats.org/drawingml/2006/main" noGrp="1"/>
          </p:cNvSpPr>
          <p:nvPr/>
        </p:nvSpPr>
        <p:spPr>
          <a:xfrm xmlns:a="http://schemas.openxmlformats.org/drawingml/2006/main">
            <a:off x="400050" y="2390775"/>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3F3C8F89-9320-49AA-BF37-6B8831AA5D76}"/>
              </a:ext>
            </a:extLst>
          </p:cNvPr>
          <p:cNvSpPr>
            <a:spLocks xmlns:a="http://schemas.openxmlformats.org/drawingml/2006/main" noGrp="1"/>
          </p:cNvSpPr>
          <p:nvPr/>
        </p:nvSpPr>
        <p:spPr>
          <a:xfrm xmlns:a="http://schemas.openxmlformats.org/drawingml/2006/main">
            <a:off x="876300" y="240030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Icon corpus and normalization</a:t>
            </a:r>
          </a:p>
        </p:txBody>
      </p:sp>
      <p:sp>
        <p:nvSpPr>
          <p:cNvPr id="9" name="">
            <a:extLst xmlns:a="http://schemas.openxmlformats.org/drawingml/2006/main">
              <a:ext uri="{FF2B5EF4-FFF2-40B4-BE49-F238E27FC236}">
                <a16:creationId xmlns:a16="http://schemas.microsoft.com/office/drawing/2014/main" id="{83B8EB62-E8F7-47D1-8CEC-F6B2CD5069B5}"/>
              </a:ext>
            </a:extLst>
          </p:cNvPr>
          <p:cNvSpPr>
            <a:spLocks xmlns:a="http://schemas.openxmlformats.org/drawingml/2006/main" noGrp="1"/>
          </p:cNvSpPr>
          <p:nvPr/>
        </p:nvSpPr>
        <p:spPr>
          <a:xfrm xmlns:a="http://schemas.openxmlformats.org/drawingml/2006/main">
            <a:off x="400050" y="3143250"/>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a:t>
            </a:r>
          </a:p>
        </p:txBody>
      </p:sp>
      <p:sp>
        <p:nvSpPr>
          <p:cNvPr id="10" name="">
            <a:extLst xmlns:a="http://schemas.openxmlformats.org/drawingml/2006/main">
              <a:ext uri="{FF2B5EF4-FFF2-40B4-BE49-F238E27FC236}">
                <a16:creationId xmlns:a16="http://schemas.microsoft.com/office/drawing/2014/main" id="{455FCED5-D9D1-43F8-BBE7-08BCDFC2A2FD}"/>
              </a:ext>
            </a:extLst>
          </p:cNvPr>
          <p:cNvSpPr>
            <a:spLocks xmlns:a="http://schemas.openxmlformats.org/drawingml/2006/main" noGrp="1"/>
          </p:cNvSpPr>
          <p:nvPr/>
        </p:nvSpPr>
        <p:spPr>
          <a:xfrm xmlns:a="http://schemas.openxmlformats.org/drawingml/2006/main">
            <a:off x="876300" y="3152775"/>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Feature extraction and registry</a:t>
            </a:r>
          </a:p>
        </p:txBody>
      </p:sp>
      <p:sp>
        <p:nvSpPr>
          <p:cNvPr id="11" name="">
            <a:extLst xmlns:a="http://schemas.openxmlformats.org/drawingml/2006/main">
              <a:ext uri="{FF2B5EF4-FFF2-40B4-BE49-F238E27FC236}">
                <a16:creationId xmlns:a16="http://schemas.microsoft.com/office/drawing/2014/main" id="{0B8A2614-708E-460F-BA29-64651D49BC05}"/>
              </a:ext>
            </a:extLst>
          </p:cNvPr>
          <p:cNvSpPr>
            <a:spLocks xmlns:a="http://schemas.openxmlformats.org/drawingml/2006/main" noGrp="1"/>
          </p:cNvSpPr>
          <p:nvPr/>
        </p:nvSpPr>
        <p:spPr>
          <a:xfrm xmlns:a="http://schemas.openxmlformats.org/drawingml/2006/main">
            <a:off x="400050" y="3895725"/>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4A0091C8-4D6D-4AAD-8BFB-E7D5A9750574}"/>
              </a:ext>
            </a:extLst>
          </p:cNvPr>
          <p:cNvSpPr>
            <a:spLocks xmlns:a="http://schemas.openxmlformats.org/drawingml/2006/main" noGrp="1"/>
          </p:cNvSpPr>
          <p:nvPr/>
        </p:nvSpPr>
        <p:spPr>
          <a:xfrm xmlns:a="http://schemas.openxmlformats.org/drawingml/2006/main">
            <a:off x="876300" y="390525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Similarity and cluster diagnostics</a:t>
            </a:r>
          </a:p>
        </p:txBody>
      </p:sp>
      <p:sp>
        <p:nvSpPr>
          <p:cNvPr id="13" name="">
            <a:extLst xmlns:a="http://schemas.openxmlformats.org/drawingml/2006/main">
              <a:ext uri="{FF2B5EF4-FFF2-40B4-BE49-F238E27FC236}">
                <a16:creationId xmlns:a16="http://schemas.microsoft.com/office/drawing/2014/main" id="{7770FFA7-B705-4373-BE8F-3E5F453581A7}"/>
              </a:ext>
            </a:extLst>
          </p:cNvPr>
          <p:cNvSpPr>
            <a:spLocks xmlns:a="http://schemas.openxmlformats.org/drawingml/2006/main" noGrp="1"/>
          </p:cNvSpPr>
          <p:nvPr/>
        </p:nvSpPr>
        <p:spPr>
          <a:xfrm xmlns:a="http://schemas.openxmlformats.org/drawingml/2006/main">
            <a:off x="400050" y="4648200"/>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a:t>
            </a:r>
          </a:p>
        </p:txBody>
      </p:sp>
      <p:sp>
        <p:nvSpPr>
          <p:cNvPr id="14" name="">
            <a:extLst xmlns:a="http://schemas.openxmlformats.org/drawingml/2006/main">
              <a:ext uri="{FF2B5EF4-FFF2-40B4-BE49-F238E27FC236}">
                <a16:creationId xmlns:a16="http://schemas.microsoft.com/office/drawing/2014/main" id="{0FC5FF21-350C-4B78-9502-F3013849D618}"/>
              </a:ext>
            </a:extLst>
          </p:cNvPr>
          <p:cNvSpPr>
            <a:spLocks xmlns:a="http://schemas.openxmlformats.org/drawingml/2006/main" noGrp="1"/>
          </p:cNvSpPr>
          <p:nvPr/>
        </p:nvSpPr>
        <p:spPr>
          <a:xfrm xmlns:a="http://schemas.openxmlformats.org/drawingml/2006/main">
            <a:off x="876300" y="4657725"/>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Interactive review and stable-ID exports</a:t>
            </a:r>
          </a:p>
        </p:txBody>
      </p:sp>
      <p:sp>
        <p:nvSpPr>
          <p:cNvPr id="15" name="">
            <a:extLst xmlns:a="http://schemas.openxmlformats.org/drawingml/2006/main">
              <a:ext uri="{FF2B5EF4-FFF2-40B4-BE49-F238E27FC236}">
                <a16:creationId xmlns:a16="http://schemas.microsoft.com/office/drawing/2014/main" id="{B97E2F2A-1EE3-4BBB-AB24-B39B91A0A1AA}"/>
              </a:ext>
            </a:extLst>
          </p:cNvPr>
          <p:cNvSpPr>
            <a:spLocks xmlns:a="http://schemas.openxmlformats.org/drawingml/2006/main" noGrp="1"/>
          </p:cNvSpPr>
          <p:nvPr/>
        </p:nvSpPr>
        <p:spPr>
          <a:xfrm xmlns:a="http://schemas.openxmlformats.org/drawingml/2006/main">
            <a:off x="6334125" y="239077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01</a:t>
            </a:r>
          </a:p>
        </p:txBody>
      </p:sp>
      <p:sp>
        <p:nvSpPr>
          <p:cNvPr id="16" name="">
            <a:extLst xmlns:a="http://schemas.openxmlformats.org/drawingml/2006/main">
              <a:ext uri="{FF2B5EF4-FFF2-40B4-BE49-F238E27FC236}">
                <a16:creationId xmlns:a16="http://schemas.microsoft.com/office/drawing/2014/main" id="{C8185AF4-D9B2-42C2-824D-E49EE625E8B7}"/>
              </a:ext>
            </a:extLst>
          </p:cNvPr>
          <p:cNvSpPr>
            <a:spLocks xmlns:a="http://schemas.openxmlformats.org/drawingml/2006/main" noGrp="1"/>
          </p:cNvSpPr>
          <p:nvPr/>
        </p:nvSpPr>
        <p:spPr>
          <a:xfrm xmlns:a="http://schemas.openxmlformats.org/drawingml/2006/main">
            <a:off x="6943725" y="2400300"/>
            <a:ext cx="438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Two-rater feature benchmark</a:t>
            </a:r>
          </a:p>
        </p:txBody>
      </p:sp>
      <p:sp>
        <p:nvSpPr>
          <p:cNvPr id="17" name="">
            <a:extLst xmlns:a="http://schemas.openxmlformats.org/drawingml/2006/main">
              <a:ext uri="{FF2B5EF4-FFF2-40B4-BE49-F238E27FC236}">
                <a16:creationId xmlns:a16="http://schemas.microsoft.com/office/drawing/2014/main" id="{BFE5257A-8C1F-48A0-B48B-9EE99BE48F20}"/>
              </a:ext>
            </a:extLst>
          </p:cNvPr>
          <p:cNvSpPr>
            <a:spLocks xmlns:a="http://schemas.openxmlformats.org/drawingml/2006/main" noGrp="1"/>
          </p:cNvSpPr>
          <p:nvPr/>
        </p:nvSpPr>
        <p:spPr>
          <a:xfrm xmlns:a="http://schemas.openxmlformats.org/drawingml/2006/main">
            <a:off x="6334125" y="3143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02</a:t>
            </a:r>
          </a:p>
        </p:txBody>
      </p:sp>
      <p:sp>
        <p:nvSpPr>
          <p:cNvPr id="18" name="">
            <a:extLst xmlns:a="http://schemas.openxmlformats.org/drawingml/2006/main">
              <a:ext uri="{FF2B5EF4-FFF2-40B4-BE49-F238E27FC236}">
                <a16:creationId xmlns:a16="http://schemas.microsoft.com/office/drawing/2014/main" id="{4E1730C1-1739-468E-A905-BC4CDEE4E279}"/>
              </a:ext>
            </a:extLst>
          </p:cNvPr>
          <p:cNvSpPr>
            <a:spLocks xmlns:a="http://schemas.openxmlformats.org/drawingml/2006/main" noGrp="1"/>
          </p:cNvSpPr>
          <p:nvPr/>
        </p:nvSpPr>
        <p:spPr>
          <a:xfrm xmlns:a="http://schemas.openxmlformats.org/drawingml/2006/main">
            <a:off x="6943725" y="3152775"/>
            <a:ext cx="438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Controlled stimulus set and pilot</a:t>
            </a:r>
          </a:p>
        </p:txBody>
      </p:sp>
      <p:sp>
        <p:nvSpPr>
          <p:cNvPr id="19" name="">
            <a:extLst xmlns:a="http://schemas.openxmlformats.org/drawingml/2006/main">
              <a:ext uri="{FF2B5EF4-FFF2-40B4-BE49-F238E27FC236}">
                <a16:creationId xmlns:a16="http://schemas.microsoft.com/office/drawing/2014/main" id="{48DA113D-A256-4FB5-8C42-F315BB8BEF9A}"/>
              </a:ext>
            </a:extLst>
          </p:cNvPr>
          <p:cNvSpPr>
            <a:spLocks xmlns:a="http://schemas.openxmlformats.org/drawingml/2006/main" noGrp="1"/>
          </p:cNvSpPr>
          <p:nvPr/>
        </p:nvSpPr>
        <p:spPr>
          <a:xfrm xmlns:a="http://schemas.openxmlformats.org/drawingml/2006/main">
            <a:off x="6334125" y="389572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03</a:t>
            </a:r>
          </a:p>
        </p:txBody>
      </p:sp>
      <p:sp>
        <p:nvSpPr>
          <p:cNvPr id="20" name="">
            <a:extLst xmlns:a="http://schemas.openxmlformats.org/drawingml/2006/main">
              <a:ext uri="{FF2B5EF4-FFF2-40B4-BE49-F238E27FC236}">
                <a16:creationId xmlns:a16="http://schemas.microsoft.com/office/drawing/2014/main" id="{FC1A7CC4-9626-4CC3-B305-7012ABCB72E9}"/>
              </a:ext>
            </a:extLst>
          </p:cNvPr>
          <p:cNvSpPr>
            <a:spLocks xmlns:a="http://schemas.openxmlformats.org/drawingml/2006/main" noGrp="1"/>
          </p:cNvSpPr>
          <p:nvPr/>
        </p:nvSpPr>
        <p:spPr>
          <a:xfrm xmlns:a="http://schemas.openxmlformats.org/drawingml/2006/main">
            <a:off x="6943725" y="3905250"/>
            <a:ext cx="438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Participant-response dataset</a:t>
            </a:r>
          </a:p>
        </p:txBody>
      </p:sp>
      <p:sp>
        <p:nvSpPr>
          <p:cNvPr id="21" name="">
            <a:extLst xmlns:a="http://schemas.openxmlformats.org/drawingml/2006/main">
              <a:ext uri="{FF2B5EF4-FFF2-40B4-BE49-F238E27FC236}">
                <a16:creationId xmlns:a16="http://schemas.microsoft.com/office/drawing/2014/main" id="{83813CCF-2B39-4BF3-B061-F529D3B049F2}"/>
              </a:ext>
            </a:extLst>
          </p:cNvPr>
          <p:cNvSpPr>
            <a:spLocks xmlns:a="http://schemas.openxmlformats.org/drawingml/2006/main" noGrp="1"/>
          </p:cNvSpPr>
          <p:nvPr/>
        </p:nvSpPr>
        <p:spPr>
          <a:xfrm xmlns:a="http://schemas.openxmlformats.org/drawingml/2006/main">
            <a:off x="6334125" y="464820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04</a:t>
            </a:r>
          </a:p>
        </p:txBody>
      </p:sp>
      <p:sp>
        <p:nvSpPr>
          <p:cNvPr id="22" name="">
            <a:extLst xmlns:a="http://schemas.openxmlformats.org/drawingml/2006/main">
              <a:ext uri="{FF2B5EF4-FFF2-40B4-BE49-F238E27FC236}">
                <a16:creationId xmlns:a16="http://schemas.microsoft.com/office/drawing/2014/main" id="{1EA81D41-F677-4EAB-8DE5-5E60723D0E11}"/>
              </a:ext>
            </a:extLst>
          </p:cNvPr>
          <p:cNvSpPr>
            <a:spLocks xmlns:a="http://schemas.openxmlformats.org/drawingml/2006/main" noGrp="1"/>
          </p:cNvSpPr>
          <p:nvPr/>
        </p:nvSpPr>
        <p:spPr>
          <a:xfrm xmlns:a="http://schemas.openxmlformats.org/drawingml/2006/main">
            <a:off x="6943725" y="4657725"/>
            <a:ext cx="438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Computer–human agreement analysis</a:t>
            </a:r>
          </a:p>
        </p:txBody>
      </p:sp>
      <p:sp>
        <p:nvSpPr>
          <p:cNvPr id="23" name="">
            <a:extLst xmlns:a="http://schemas.openxmlformats.org/drawingml/2006/main">
              <a:ext uri="{FF2B5EF4-FFF2-40B4-BE49-F238E27FC236}">
                <a16:creationId xmlns:a16="http://schemas.microsoft.com/office/drawing/2014/main" id="{7B576A44-E68D-4286-A2EE-FD4253738A83}"/>
              </a:ext>
            </a:extLst>
          </p:cNvPr>
          <p:cNvSpPr>
            <a:spLocks xmlns:a="http://schemas.openxmlformats.org/drawingml/2006/main" noGrp="1"/>
          </p:cNvSpPr>
          <p:nvPr/>
        </p:nvSpPr>
        <p:spPr>
          <a:xfrm xmlns:a="http://schemas.openxmlformats.org/drawingml/2006/main">
            <a:off x="400050" y="5819775"/>
            <a:ext cx="11391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No participant-response dataset exists yet, so RQ3 remains open.</a:t>
            </a:r>
          </a:p>
        </p:txBody>
      </p:sp>
    </p:spTree>
    <p:extLst>
      <p:ext uri="{BB962C8B-B14F-4D97-AF65-F5344CB8AC3E}">
        <p14:creationId xmlns:p14="http://schemas.microsoft.com/office/powerpoint/2010/main" val="15726035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A8B5135-73B9-4DF9-9A8E-A96216922D43}"/>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09 · NEXT PHASE</a:t>
            </a:r>
          </a:p>
        </p:txBody>
      </p:sp>
      <p:sp>
        <p:nvSpPr>
          <p:cNvPr id="2" name="">
            <a:extLst xmlns:a="http://schemas.openxmlformats.org/drawingml/2006/main">
              <a:ext uri="{FF2B5EF4-FFF2-40B4-BE49-F238E27FC236}">
                <a16:creationId xmlns:a16="http://schemas.microsoft.com/office/drawing/2014/main" id="{44A386F3-B02E-4989-8553-B46793E8EF5A}"/>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20</a:t>
            </a:r>
          </a:p>
        </p:txBody>
      </p:sp>
      <p:sp>
        <p:nvSpPr>
          <p:cNvPr id="3" name="">
            <a:extLst xmlns:a="http://schemas.openxmlformats.org/drawingml/2006/main">
              <a:ext uri="{FF2B5EF4-FFF2-40B4-BE49-F238E27FC236}">
                <a16:creationId xmlns:a16="http://schemas.microsoft.com/office/drawing/2014/main" id="{E63B5EC2-2E99-4B0D-9B74-F2C7A29124D5}"/>
              </a:ext>
            </a:extLst>
          </p:cNvPr>
          <p:cNvSpPr>
            <a:spLocks xmlns:a="http://schemas.openxmlformats.org/drawingml/2006/main" noGrp="1"/>
          </p:cNvSpPr>
          <p:nvPr/>
        </p:nvSpPr>
        <p:spPr>
          <a:xfrm xmlns:a="http://schemas.openxmlformats.org/drawingml/2006/main">
            <a:off x="400050" y="742950"/>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00" b="1">
                <a:solidFill>
                  <a:srgbClr val="111111"/>
                </a:solidFill>
                <a:latin typeface="Helvetica Neue"/>
                <a:ea typeface="Helvetica Neue"/>
                <a:cs typeface="Helvetica Neue"/>
              </a:defRPr>
            </a:pPr>
            <a:r>
              <a:rPr sz="3300" b="1">
                <a:solidFill>
                  <a:srgbClr val="111111"/>
                </a:solidFill>
                <a:latin typeface="Helvetica Neue"/>
                <a:ea typeface="Helvetica Neue"/>
                <a:cs typeface="Helvetica Neue"/>
              </a:rPr>
              <a:t>The next phase is a controlled user study</a:t>
            </a:r>
          </a:p>
        </p:txBody>
      </p:sp>
      <p:sp>
        <p:nvSpPr>
          <p:cNvPr id="4" name="">
            <a:extLst xmlns:a="http://schemas.openxmlformats.org/drawingml/2006/main">
              <a:ext uri="{FF2B5EF4-FFF2-40B4-BE49-F238E27FC236}">
                <a16:creationId xmlns:a16="http://schemas.microsoft.com/office/drawing/2014/main" id="{31D71477-88D6-4BA4-9B8C-52115A940DBF}"/>
              </a:ext>
            </a:extLst>
          </p:cNvPr>
          <p:cNvSpPr>
            <a:spLocks xmlns:a="http://schemas.openxmlformats.org/drawingml/2006/main" noGrp="1"/>
          </p:cNvSpPr>
          <p:nvPr/>
        </p:nvSpPr>
        <p:spPr>
          <a:xfrm xmlns:a="http://schemas.openxmlformats.org/drawingml/2006/main">
            <a:off x="400050" y="156210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E6672"/>
                </a:solidFill>
                <a:latin typeface="Helvetica Neue"/>
                <a:ea typeface="Helvetica Neue"/>
                <a:cs typeface="Helvetica Neue"/>
              </a:defRPr>
            </a:pPr>
            <a:r>
              <a:rPr sz="1575" b="0">
                <a:solidFill>
                  <a:srgbClr val="5E6672"/>
                </a:solidFill>
                <a:latin typeface="Helvetica Neue"/>
                <a:ea typeface="Helvetica Neue"/>
                <a:cs typeface="Helvetica Neue"/>
              </a:rPr>
              <a:t>Proposed pilot: ordinary participants complete distinct identification and similarity/confusability tasks.</a:t>
            </a:r>
          </a:p>
        </p:txBody>
      </p:sp>
      <p:sp>
        <p:nvSpPr>
          <p:cNvPr id="5" name="">
            <a:extLst xmlns:a="http://schemas.openxmlformats.org/drawingml/2006/main">
              <a:ext uri="{FF2B5EF4-FFF2-40B4-BE49-F238E27FC236}">
                <a16:creationId xmlns:a16="http://schemas.microsoft.com/office/drawing/2014/main" id="{04BDD9A2-8CCA-4AE6-A2A7-FB34D26EA144}"/>
              </a:ext>
            </a:extLst>
          </p:cNvPr>
          <p:cNvSpPr>
            <a:spLocks xmlns:a="http://schemas.openxmlformats.org/drawingml/2006/main" noGrp="1"/>
          </p:cNvSpPr>
          <p:nvPr/>
        </p:nvSpPr>
        <p:spPr>
          <a:xfrm xmlns:a="http://schemas.openxmlformats.org/drawingml/2006/main">
            <a:off x="1114425" y="3286125"/>
            <a:ext cx="9972675" cy="476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49AC456-EE30-47CF-BBD0-C0C9AC093E37}"/>
              </a:ext>
            </a:extLst>
          </p:cNvPr>
          <p:cNvSpPr>
            <a:spLocks xmlns:a="http://schemas.openxmlformats.org/drawingml/2006/main" noGrp="1"/>
          </p:cNvSpPr>
          <p:nvPr/>
        </p:nvSpPr>
        <p:spPr>
          <a:xfrm xmlns:a="http://schemas.openxmlformats.org/drawingml/2006/main">
            <a:off x="857250" y="2943225"/>
            <a:ext cx="742950" cy="7429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8AE34C3-0E25-4592-9F8E-3DBEFD530416}"/>
              </a:ext>
            </a:extLst>
          </p:cNvPr>
          <p:cNvSpPr>
            <a:spLocks xmlns:a="http://schemas.openxmlformats.org/drawingml/2006/main" noGrp="1"/>
          </p:cNvSpPr>
          <p:nvPr/>
        </p:nvSpPr>
        <p:spPr>
          <a:xfrm xmlns:a="http://schemas.openxmlformats.org/drawingml/2006/main">
            <a:off x="857250" y="3114675"/>
            <a:ext cx="742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01</a:t>
            </a:r>
          </a:p>
        </p:txBody>
      </p:sp>
      <p:sp>
        <p:nvSpPr>
          <p:cNvPr id="8" name="">
            <a:extLst xmlns:a="http://schemas.openxmlformats.org/drawingml/2006/main">
              <a:ext uri="{FF2B5EF4-FFF2-40B4-BE49-F238E27FC236}">
                <a16:creationId xmlns:a16="http://schemas.microsoft.com/office/drawing/2014/main" id="{EE01D616-AEC4-4B5C-898B-21A69DEBA459}"/>
              </a:ext>
            </a:extLst>
          </p:cNvPr>
          <p:cNvSpPr>
            <a:spLocks xmlns:a="http://schemas.openxmlformats.org/drawingml/2006/main" noGrp="1"/>
          </p:cNvSpPr>
          <p:nvPr/>
        </p:nvSpPr>
        <p:spPr>
          <a:xfrm xmlns:a="http://schemas.openxmlformats.org/drawingml/2006/main">
            <a:off x="400050" y="3952875"/>
            <a:ext cx="16573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Select</a:t>
            </a:r>
          </a:p>
        </p:txBody>
      </p:sp>
      <p:sp>
        <p:nvSpPr>
          <p:cNvPr id="9" name="">
            <a:extLst xmlns:a="http://schemas.openxmlformats.org/drawingml/2006/main">
              <a:ext uri="{FF2B5EF4-FFF2-40B4-BE49-F238E27FC236}">
                <a16:creationId xmlns:a16="http://schemas.microsoft.com/office/drawing/2014/main" id="{61CCC0B7-EB42-49C8-A5B7-AF36B5693EC4}"/>
              </a:ext>
            </a:extLst>
          </p:cNvPr>
          <p:cNvSpPr>
            <a:spLocks xmlns:a="http://schemas.openxmlformats.org/drawingml/2006/main" noGrp="1"/>
          </p:cNvSpPr>
          <p:nvPr/>
        </p:nvSpPr>
        <p:spPr>
          <a:xfrm xmlns:a="http://schemas.openxmlformats.org/drawingml/2006/main">
            <a:off x="400050" y="4371975"/>
            <a:ext cx="16573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E6672"/>
                </a:solidFill>
                <a:latin typeface="Helvetica Neue"/>
                <a:ea typeface="Helvetica Neue"/>
                <a:cs typeface="Helvetica Neue"/>
              </a:defRPr>
            </a:pPr>
            <a:r>
              <a:rPr sz="1275" b="0">
                <a:solidFill>
                  <a:srgbClr val="5E6672"/>
                </a:solidFill>
                <a:latin typeface="Helvetica Neue"/>
                <a:ea typeface="Helvetica Neue"/>
                <a:cs typeface="Helvetica Neue"/>
              </a:rPr>
              <a:t>Matched icons and pairs; exclude uncertain measurements</a:t>
            </a:r>
          </a:p>
        </p:txBody>
      </p:sp>
      <p:sp>
        <p:nvSpPr>
          <p:cNvPr id="10" name="">
            <a:extLst xmlns:a="http://schemas.openxmlformats.org/drawingml/2006/main">
              <a:ext uri="{FF2B5EF4-FFF2-40B4-BE49-F238E27FC236}">
                <a16:creationId xmlns:a16="http://schemas.microsoft.com/office/drawing/2014/main" id="{7FA19A1C-B8D2-4740-A428-88FCA158DA37}"/>
              </a:ext>
            </a:extLst>
          </p:cNvPr>
          <p:cNvSpPr>
            <a:spLocks xmlns:a="http://schemas.openxmlformats.org/drawingml/2006/main" noGrp="1"/>
          </p:cNvSpPr>
          <p:nvPr/>
        </p:nvSpPr>
        <p:spPr>
          <a:xfrm xmlns:a="http://schemas.openxmlformats.org/drawingml/2006/main">
            <a:off x="3152775" y="2943225"/>
            <a:ext cx="742950" cy="7429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FB8373F-7235-4067-9104-C96345DE1961}"/>
              </a:ext>
            </a:extLst>
          </p:cNvPr>
          <p:cNvSpPr>
            <a:spLocks xmlns:a="http://schemas.openxmlformats.org/drawingml/2006/main" noGrp="1"/>
          </p:cNvSpPr>
          <p:nvPr/>
        </p:nvSpPr>
        <p:spPr>
          <a:xfrm xmlns:a="http://schemas.openxmlformats.org/drawingml/2006/main">
            <a:off x="3152775" y="3114675"/>
            <a:ext cx="742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02</a:t>
            </a:r>
          </a:p>
        </p:txBody>
      </p:sp>
      <p:sp>
        <p:nvSpPr>
          <p:cNvPr id="12" name="">
            <a:extLst xmlns:a="http://schemas.openxmlformats.org/drawingml/2006/main">
              <a:ext uri="{FF2B5EF4-FFF2-40B4-BE49-F238E27FC236}">
                <a16:creationId xmlns:a16="http://schemas.microsoft.com/office/drawing/2014/main" id="{5940E39F-8518-4833-8D11-FF3ED9E24E38}"/>
              </a:ext>
            </a:extLst>
          </p:cNvPr>
          <p:cNvSpPr>
            <a:spLocks xmlns:a="http://schemas.openxmlformats.org/drawingml/2006/main" noGrp="1"/>
          </p:cNvSpPr>
          <p:nvPr/>
        </p:nvSpPr>
        <p:spPr>
          <a:xfrm xmlns:a="http://schemas.openxmlformats.org/drawingml/2006/main">
            <a:off x="2695575" y="3952875"/>
            <a:ext cx="16573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Design</a:t>
            </a:r>
          </a:p>
        </p:txBody>
      </p:sp>
      <p:sp>
        <p:nvSpPr>
          <p:cNvPr id="13" name="">
            <a:extLst xmlns:a="http://schemas.openxmlformats.org/drawingml/2006/main">
              <a:ext uri="{FF2B5EF4-FFF2-40B4-BE49-F238E27FC236}">
                <a16:creationId xmlns:a16="http://schemas.microsoft.com/office/drawing/2014/main" id="{D99D01E4-33E4-4EC3-90BB-193FE8486E0E}"/>
              </a:ext>
            </a:extLst>
          </p:cNvPr>
          <p:cNvSpPr>
            <a:spLocks xmlns:a="http://schemas.openxmlformats.org/drawingml/2006/main" noGrp="1"/>
          </p:cNvSpPr>
          <p:nvPr/>
        </p:nvSpPr>
        <p:spPr>
          <a:xfrm xmlns:a="http://schemas.openxmlformats.org/drawingml/2006/main">
            <a:off x="2695575" y="4371975"/>
            <a:ext cx="16573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E6672"/>
                </a:solidFill>
                <a:latin typeface="Helvetica Neue"/>
                <a:ea typeface="Helvetica Neue"/>
                <a:cs typeface="Helvetica Neue"/>
              </a:defRPr>
            </a:pPr>
            <a:r>
              <a:rPr sz="1275" b="0">
                <a:solidFill>
                  <a:srgbClr val="5E6672"/>
                </a:solidFill>
                <a:latin typeface="Helvetica Neue"/>
                <a:ea typeface="Helvetica Neue"/>
                <a:cs typeface="Helvetica Neue"/>
              </a:rPr>
              <a:t>Labels, confidence, timing, and similarity choices</a:t>
            </a:r>
          </a:p>
        </p:txBody>
      </p:sp>
      <p:sp>
        <p:nvSpPr>
          <p:cNvPr id="14" name="">
            <a:extLst xmlns:a="http://schemas.openxmlformats.org/drawingml/2006/main">
              <a:ext uri="{FF2B5EF4-FFF2-40B4-BE49-F238E27FC236}">
                <a16:creationId xmlns:a16="http://schemas.microsoft.com/office/drawing/2014/main" id="{77616A56-8970-40F4-9A80-3B40C60F5D48}"/>
              </a:ext>
            </a:extLst>
          </p:cNvPr>
          <p:cNvSpPr>
            <a:spLocks xmlns:a="http://schemas.openxmlformats.org/drawingml/2006/main" noGrp="1"/>
          </p:cNvSpPr>
          <p:nvPr/>
        </p:nvSpPr>
        <p:spPr>
          <a:xfrm xmlns:a="http://schemas.openxmlformats.org/drawingml/2006/main">
            <a:off x="5448300" y="2943225"/>
            <a:ext cx="742950" cy="7429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BC89E21-14EB-454C-913B-548196F865EF}"/>
              </a:ext>
            </a:extLst>
          </p:cNvPr>
          <p:cNvSpPr>
            <a:spLocks xmlns:a="http://schemas.openxmlformats.org/drawingml/2006/main" noGrp="1"/>
          </p:cNvSpPr>
          <p:nvPr/>
        </p:nvSpPr>
        <p:spPr>
          <a:xfrm xmlns:a="http://schemas.openxmlformats.org/drawingml/2006/main">
            <a:off x="5448300" y="3114675"/>
            <a:ext cx="742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03</a:t>
            </a:r>
          </a:p>
        </p:txBody>
      </p:sp>
      <p:sp>
        <p:nvSpPr>
          <p:cNvPr id="16" name="">
            <a:extLst xmlns:a="http://schemas.openxmlformats.org/drawingml/2006/main">
              <a:ext uri="{FF2B5EF4-FFF2-40B4-BE49-F238E27FC236}">
                <a16:creationId xmlns:a16="http://schemas.microsoft.com/office/drawing/2014/main" id="{9117C70E-B415-4A94-A06F-562A87F7F316}"/>
              </a:ext>
            </a:extLst>
          </p:cNvPr>
          <p:cNvSpPr>
            <a:spLocks xmlns:a="http://schemas.openxmlformats.org/drawingml/2006/main" noGrp="1"/>
          </p:cNvSpPr>
          <p:nvPr/>
        </p:nvSpPr>
        <p:spPr>
          <a:xfrm xmlns:a="http://schemas.openxmlformats.org/drawingml/2006/main">
            <a:off x="4991100" y="3952875"/>
            <a:ext cx="16573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Pilot</a:t>
            </a:r>
          </a:p>
        </p:txBody>
      </p:sp>
      <p:sp>
        <p:nvSpPr>
          <p:cNvPr id="17" name="">
            <a:extLst xmlns:a="http://schemas.openxmlformats.org/drawingml/2006/main">
              <a:ext uri="{FF2B5EF4-FFF2-40B4-BE49-F238E27FC236}">
                <a16:creationId xmlns:a16="http://schemas.microsoft.com/office/drawing/2014/main" id="{80D386AB-EF5E-4CF5-AA96-C7FB8B24EC3E}"/>
              </a:ext>
            </a:extLst>
          </p:cNvPr>
          <p:cNvSpPr>
            <a:spLocks xmlns:a="http://schemas.openxmlformats.org/drawingml/2006/main" noGrp="1"/>
          </p:cNvSpPr>
          <p:nvPr/>
        </p:nvSpPr>
        <p:spPr>
          <a:xfrm xmlns:a="http://schemas.openxmlformats.org/drawingml/2006/main">
            <a:off x="4991100" y="4371975"/>
            <a:ext cx="16573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E6672"/>
                </a:solidFill>
                <a:latin typeface="Helvetica Neue"/>
                <a:ea typeface="Helvetica Neue"/>
                <a:cs typeface="Helvetica Neue"/>
              </a:defRPr>
            </a:pPr>
            <a:r>
              <a:rPr sz="1275" b="0">
                <a:solidFill>
                  <a:srgbClr val="5E6672"/>
                </a:solidFill>
                <a:latin typeface="Helvetica Neue"/>
                <a:ea typeface="Helvetica Neue"/>
                <a:cs typeface="Helvetica Neue"/>
              </a:rPr>
              <a:t>Check clarity, duration, and trial difficulty</a:t>
            </a:r>
          </a:p>
        </p:txBody>
      </p:sp>
      <p:sp>
        <p:nvSpPr>
          <p:cNvPr id="18" name="">
            <a:extLst xmlns:a="http://schemas.openxmlformats.org/drawingml/2006/main">
              <a:ext uri="{FF2B5EF4-FFF2-40B4-BE49-F238E27FC236}">
                <a16:creationId xmlns:a16="http://schemas.microsoft.com/office/drawing/2014/main" id="{55F82380-5C92-42F5-8B25-3A70A3744F5B}"/>
              </a:ext>
            </a:extLst>
          </p:cNvPr>
          <p:cNvSpPr>
            <a:spLocks xmlns:a="http://schemas.openxmlformats.org/drawingml/2006/main" noGrp="1"/>
          </p:cNvSpPr>
          <p:nvPr/>
        </p:nvSpPr>
        <p:spPr>
          <a:xfrm xmlns:a="http://schemas.openxmlformats.org/drawingml/2006/main">
            <a:off x="7743825" y="2943225"/>
            <a:ext cx="742950" cy="7429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A477DA9-A183-4126-88DB-8C6F2CBD6FA5}"/>
              </a:ext>
            </a:extLst>
          </p:cNvPr>
          <p:cNvSpPr>
            <a:spLocks xmlns:a="http://schemas.openxmlformats.org/drawingml/2006/main" noGrp="1"/>
          </p:cNvSpPr>
          <p:nvPr/>
        </p:nvSpPr>
        <p:spPr>
          <a:xfrm xmlns:a="http://schemas.openxmlformats.org/drawingml/2006/main">
            <a:off x="7743825" y="3114675"/>
            <a:ext cx="742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04</a:t>
            </a:r>
          </a:p>
        </p:txBody>
      </p:sp>
      <p:sp>
        <p:nvSpPr>
          <p:cNvPr id="20" name="">
            <a:extLst xmlns:a="http://schemas.openxmlformats.org/drawingml/2006/main">
              <a:ext uri="{FF2B5EF4-FFF2-40B4-BE49-F238E27FC236}">
                <a16:creationId xmlns:a16="http://schemas.microsoft.com/office/drawing/2014/main" id="{D89D8ECA-9368-4D34-B0CE-2795C1FEEB4D}"/>
              </a:ext>
            </a:extLst>
          </p:cNvPr>
          <p:cNvSpPr>
            <a:spLocks xmlns:a="http://schemas.openxmlformats.org/drawingml/2006/main" noGrp="1"/>
          </p:cNvSpPr>
          <p:nvPr/>
        </p:nvSpPr>
        <p:spPr>
          <a:xfrm xmlns:a="http://schemas.openxmlformats.org/drawingml/2006/main">
            <a:off x="7286625" y="3952875"/>
            <a:ext cx="16573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Collect</a:t>
            </a:r>
          </a:p>
        </p:txBody>
      </p:sp>
      <p:sp>
        <p:nvSpPr>
          <p:cNvPr id="21" name="">
            <a:extLst xmlns:a="http://schemas.openxmlformats.org/drawingml/2006/main">
              <a:ext uri="{FF2B5EF4-FFF2-40B4-BE49-F238E27FC236}">
                <a16:creationId xmlns:a16="http://schemas.microsoft.com/office/drawing/2014/main" id="{07DEE746-61A2-4296-91D8-CE374C26B60C}"/>
              </a:ext>
            </a:extLst>
          </p:cNvPr>
          <p:cNvSpPr>
            <a:spLocks xmlns:a="http://schemas.openxmlformats.org/drawingml/2006/main" noGrp="1"/>
          </p:cNvSpPr>
          <p:nvPr/>
        </p:nvSpPr>
        <p:spPr>
          <a:xfrm xmlns:a="http://schemas.openxmlformats.org/drawingml/2006/main">
            <a:off x="7286625" y="4371975"/>
            <a:ext cx="16573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E6672"/>
                </a:solidFill>
                <a:latin typeface="Helvetica Neue"/>
                <a:ea typeface="Helvetica Neue"/>
                <a:cs typeface="Helvetica Neue"/>
              </a:defRPr>
            </a:pPr>
            <a:r>
              <a:rPr sz="1275" b="0">
                <a:solidFill>
                  <a:srgbClr val="5E6672"/>
                </a:solidFill>
                <a:latin typeface="Helvetica Neue"/>
                <a:ea typeface="Helvetica Neue"/>
                <a:cs typeface="Helvetica Neue"/>
              </a:rPr>
              <a:t>Consent, responses, and stable icon/pair IDs</a:t>
            </a:r>
          </a:p>
        </p:txBody>
      </p:sp>
      <p:sp>
        <p:nvSpPr>
          <p:cNvPr id="22" name="">
            <a:extLst xmlns:a="http://schemas.openxmlformats.org/drawingml/2006/main">
              <a:ext uri="{FF2B5EF4-FFF2-40B4-BE49-F238E27FC236}">
                <a16:creationId xmlns:a16="http://schemas.microsoft.com/office/drawing/2014/main" id="{1670B43C-21AB-4745-9385-2E42870CE705}"/>
              </a:ext>
            </a:extLst>
          </p:cNvPr>
          <p:cNvSpPr>
            <a:spLocks xmlns:a="http://schemas.openxmlformats.org/drawingml/2006/main" noGrp="1"/>
          </p:cNvSpPr>
          <p:nvPr/>
        </p:nvSpPr>
        <p:spPr>
          <a:xfrm xmlns:a="http://schemas.openxmlformats.org/drawingml/2006/main">
            <a:off x="10039350" y="2943225"/>
            <a:ext cx="742950" cy="7429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61BC478-5865-46DF-B315-E51693EE3042}"/>
              </a:ext>
            </a:extLst>
          </p:cNvPr>
          <p:cNvSpPr>
            <a:spLocks xmlns:a="http://schemas.openxmlformats.org/drawingml/2006/main" noGrp="1"/>
          </p:cNvSpPr>
          <p:nvPr/>
        </p:nvSpPr>
        <p:spPr>
          <a:xfrm xmlns:a="http://schemas.openxmlformats.org/drawingml/2006/main">
            <a:off x="10039350" y="3114675"/>
            <a:ext cx="742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05</a:t>
            </a:r>
          </a:p>
        </p:txBody>
      </p:sp>
      <p:sp>
        <p:nvSpPr>
          <p:cNvPr id="24" name="">
            <a:extLst xmlns:a="http://schemas.openxmlformats.org/drawingml/2006/main">
              <a:ext uri="{FF2B5EF4-FFF2-40B4-BE49-F238E27FC236}">
                <a16:creationId xmlns:a16="http://schemas.microsoft.com/office/drawing/2014/main" id="{61CDD20D-C516-423D-886C-B106FAF14721}"/>
              </a:ext>
            </a:extLst>
          </p:cNvPr>
          <p:cNvSpPr>
            <a:spLocks xmlns:a="http://schemas.openxmlformats.org/drawingml/2006/main" noGrp="1"/>
          </p:cNvSpPr>
          <p:nvPr/>
        </p:nvSpPr>
        <p:spPr>
          <a:xfrm xmlns:a="http://schemas.openxmlformats.org/drawingml/2006/main">
            <a:off x="9582150" y="3952875"/>
            <a:ext cx="16573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Compare</a:t>
            </a:r>
          </a:p>
        </p:txBody>
      </p:sp>
      <p:sp>
        <p:nvSpPr>
          <p:cNvPr id="25" name="">
            <a:extLst xmlns:a="http://schemas.openxmlformats.org/drawingml/2006/main">
              <a:ext uri="{FF2B5EF4-FFF2-40B4-BE49-F238E27FC236}">
                <a16:creationId xmlns:a16="http://schemas.microsoft.com/office/drawing/2014/main" id="{FAE94293-3C97-4E28-9BDD-035375F20A1B}"/>
              </a:ext>
            </a:extLst>
          </p:cNvPr>
          <p:cNvSpPr>
            <a:spLocks xmlns:a="http://schemas.openxmlformats.org/drawingml/2006/main" noGrp="1"/>
          </p:cNvSpPr>
          <p:nvPr/>
        </p:nvSpPr>
        <p:spPr>
          <a:xfrm xmlns:a="http://schemas.openxmlformats.org/drawingml/2006/main">
            <a:off x="9582150" y="4371975"/>
            <a:ext cx="16573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5E6672"/>
                </a:solidFill>
                <a:latin typeface="Helvetica Neue"/>
                <a:ea typeface="Helvetica Neue"/>
                <a:cs typeface="Helvetica Neue"/>
              </a:defRPr>
            </a:pPr>
            <a:r>
              <a:rPr sz="1275" b="0">
                <a:solidFill>
                  <a:srgbClr val="5E6672"/>
                </a:solidFill>
                <a:latin typeface="Helvetica Neue"/>
                <a:ea typeface="Helvetica Neue"/>
                <a:cs typeface="Helvetica Neue"/>
              </a:rPr>
              <a:t>Agreement, mismatch, and qualitative explanations</a:t>
            </a:r>
          </a:p>
        </p:txBody>
      </p:sp>
      <p:sp>
        <p:nvSpPr>
          <p:cNvPr id="26" name="">
            <a:extLst xmlns:a="http://schemas.openxmlformats.org/drawingml/2006/main">
              <a:ext uri="{FF2B5EF4-FFF2-40B4-BE49-F238E27FC236}">
                <a16:creationId xmlns:a16="http://schemas.microsoft.com/office/drawing/2014/main" id="{BF096FF1-6DD8-41DF-8CA4-2FF0D1975FAC}"/>
              </a:ext>
            </a:extLst>
          </p:cNvPr>
          <p:cNvSpPr>
            <a:spLocks xmlns:a="http://schemas.openxmlformats.org/drawingml/2006/main" noGrp="1"/>
          </p:cNvSpPr>
          <p:nvPr/>
        </p:nvSpPr>
        <p:spPr>
          <a:xfrm xmlns:a="http://schemas.openxmlformats.org/drawingml/2006/main">
            <a:off x="1514475" y="5638800"/>
            <a:ext cx="9163050" cy="52387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3C0C4D9-1A8D-4F72-892D-9BDCF107BBF4}"/>
              </a:ext>
            </a:extLst>
          </p:cNvPr>
          <p:cNvSpPr>
            <a:spLocks xmlns:a="http://schemas.openxmlformats.org/drawingml/2006/main" noGrp="1"/>
          </p:cNvSpPr>
          <p:nvPr/>
        </p:nvSpPr>
        <p:spPr>
          <a:xfrm xmlns:a="http://schemas.openxmlformats.org/drawingml/2006/main">
            <a:off x="1704975" y="5791200"/>
            <a:ext cx="87820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Immediate decision: freeze the feature benchmark, then lock the pilot stimuli and protocol.</a:t>
            </a:r>
          </a:p>
        </p:txBody>
      </p:sp>
    </p:spTree>
    <p:extLst>
      <p:ext uri="{BB962C8B-B14F-4D97-AF65-F5344CB8AC3E}">
        <p14:creationId xmlns:p14="http://schemas.microsoft.com/office/powerpoint/2010/main" val="206657608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0FC51DA-7A13-4663-B32D-3C7B7E315C4C}"/>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10 · CONCLUSION</a:t>
            </a:r>
          </a:p>
        </p:txBody>
      </p:sp>
      <p:sp>
        <p:nvSpPr>
          <p:cNvPr id="2" name="">
            <a:extLst xmlns:a="http://schemas.openxmlformats.org/drawingml/2006/main">
              <a:ext uri="{FF2B5EF4-FFF2-40B4-BE49-F238E27FC236}">
                <a16:creationId xmlns:a16="http://schemas.microsoft.com/office/drawing/2014/main" id="{240BA880-8059-4EB4-97F8-80F01D68984A}"/>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21</a:t>
            </a:r>
          </a:p>
        </p:txBody>
      </p:sp>
      <p:sp>
        <p:nvSpPr>
          <p:cNvPr id="3" name="">
            <a:extLst xmlns:a="http://schemas.openxmlformats.org/drawingml/2006/main">
              <a:ext uri="{FF2B5EF4-FFF2-40B4-BE49-F238E27FC236}">
                <a16:creationId xmlns:a16="http://schemas.microsoft.com/office/drawing/2014/main" id="{2535124A-9DF6-46BC-99E2-45EAAACBDE67}"/>
              </a:ext>
            </a:extLst>
          </p:cNvPr>
          <p:cNvSpPr>
            <a:spLocks xmlns:a="http://schemas.openxmlformats.org/drawingml/2006/main" noGrp="1"/>
          </p:cNvSpPr>
          <p:nvPr/>
        </p:nvSpPr>
        <p:spPr>
          <a:xfrm xmlns:a="http://schemas.openxmlformats.org/drawingml/2006/main">
            <a:off x="400050" y="876300"/>
            <a:ext cx="113919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00" b="1">
                <a:solidFill>
                  <a:srgbClr val="111111"/>
                </a:solidFill>
                <a:latin typeface="Helvetica Neue"/>
                <a:ea typeface="Helvetica Neue"/>
                <a:cs typeface="Helvetica Neue"/>
              </a:defRPr>
            </a:pPr>
            <a:r>
              <a:rPr sz="3300" b="1">
                <a:solidFill>
                  <a:srgbClr val="111111"/>
                </a:solidFill>
                <a:latin typeface="Helvetica Neue"/>
                <a:ea typeface="Helvetica Neue"/>
                <a:cs typeface="Helvetica Neue"/>
              </a:rPr>
              <a:t>A clear computer-side foundation and validation path</a:t>
            </a:r>
          </a:p>
        </p:txBody>
      </p:sp>
      <p:sp>
        <p:nvSpPr>
          <p:cNvPr id="4" name="">
            <a:extLst xmlns:a="http://schemas.openxmlformats.org/drawingml/2006/main">
              <a:ext uri="{FF2B5EF4-FFF2-40B4-BE49-F238E27FC236}">
                <a16:creationId xmlns:a16="http://schemas.microsoft.com/office/drawing/2014/main" id="{BC9366B5-B9C6-477C-BF6B-0AAB4D9F2130}"/>
              </a:ext>
            </a:extLst>
          </p:cNvPr>
          <p:cNvSpPr>
            <a:spLocks xmlns:a="http://schemas.openxmlformats.org/drawingml/2006/main" noGrp="1"/>
          </p:cNvSpPr>
          <p:nvPr/>
        </p:nvSpPr>
        <p:spPr>
          <a:xfrm xmlns:a="http://schemas.openxmlformats.org/drawingml/2006/main">
            <a:off x="400050" y="2466975"/>
            <a:ext cx="1790700" cy="47625"/>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C2F0BDC-5C96-4FAB-9C40-EF0597A3EE73}"/>
              </a:ext>
            </a:extLst>
          </p:cNvPr>
          <p:cNvSpPr>
            <a:spLocks xmlns:a="http://schemas.openxmlformats.org/drawingml/2006/main" noGrp="1"/>
          </p:cNvSpPr>
          <p:nvPr/>
        </p:nvSpPr>
        <p:spPr>
          <a:xfrm xmlns:a="http://schemas.openxmlformats.org/drawingml/2006/main">
            <a:off x="400050" y="308610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45BA60B0-B17F-48F2-9761-999184502A76}"/>
              </a:ext>
            </a:extLst>
          </p:cNvPr>
          <p:cNvSpPr>
            <a:spLocks xmlns:a="http://schemas.openxmlformats.org/drawingml/2006/main" noGrp="1"/>
          </p:cNvSpPr>
          <p:nvPr/>
        </p:nvSpPr>
        <p:spPr>
          <a:xfrm xmlns:a="http://schemas.openxmlformats.org/drawingml/2006/main">
            <a:off x="1219200" y="3067050"/>
            <a:ext cx="10001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Literature-defined visual concepts are now measurable and traceable.</a:t>
            </a:r>
          </a:p>
        </p:txBody>
      </p:sp>
      <p:sp>
        <p:nvSpPr>
          <p:cNvPr id="7" name="">
            <a:extLst xmlns:a="http://schemas.openxmlformats.org/drawingml/2006/main">
              <a:ext uri="{FF2B5EF4-FFF2-40B4-BE49-F238E27FC236}">
                <a16:creationId xmlns:a16="http://schemas.microsoft.com/office/drawing/2014/main" id="{2DED5B39-32DF-44A2-98D9-619A53E82C1F}"/>
              </a:ext>
            </a:extLst>
          </p:cNvPr>
          <p:cNvSpPr>
            <a:spLocks xmlns:a="http://schemas.openxmlformats.org/drawingml/2006/main" noGrp="1"/>
          </p:cNvSpPr>
          <p:nvPr/>
        </p:nvSpPr>
        <p:spPr>
          <a:xfrm xmlns:a="http://schemas.openxmlformats.org/drawingml/2006/main">
            <a:off x="400050" y="39052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2B1DEDD0-4350-426C-9989-9D18BA6AF1B4}"/>
              </a:ext>
            </a:extLst>
          </p:cNvPr>
          <p:cNvSpPr>
            <a:spLocks xmlns:a="http://schemas.openxmlformats.org/drawingml/2006/main" noGrp="1"/>
          </p:cNvSpPr>
          <p:nvPr/>
        </p:nvSpPr>
        <p:spPr>
          <a:xfrm xmlns:a="http://schemas.openxmlformats.org/drawingml/2006/main">
            <a:off x="1219200" y="3886200"/>
            <a:ext cx="10001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The dashboard makes values, examples, clusters, and limitations visible.</a:t>
            </a:r>
          </a:p>
        </p:txBody>
      </p:sp>
      <p:sp>
        <p:nvSpPr>
          <p:cNvPr id="9" name="">
            <a:extLst xmlns:a="http://schemas.openxmlformats.org/drawingml/2006/main">
              <a:ext uri="{FF2B5EF4-FFF2-40B4-BE49-F238E27FC236}">
                <a16:creationId xmlns:a16="http://schemas.microsoft.com/office/drawing/2014/main" id="{CB0C74C5-7F80-40B9-83C0-32798207C0AB}"/>
              </a:ext>
            </a:extLst>
          </p:cNvPr>
          <p:cNvSpPr>
            <a:spLocks xmlns:a="http://schemas.openxmlformats.org/drawingml/2006/main" noGrp="1"/>
          </p:cNvSpPr>
          <p:nvPr/>
        </p:nvSpPr>
        <p:spPr>
          <a:xfrm xmlns:a="http://schemas.openxmlformats.org/drawingml/2006/main">
            <a:off x="400050" y="472440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03</a:t>
            </a:r>
          </a:p>
        </p:txBody>
      </p:sp>
      <p:sp>
        <p:nvSpPr>
          <p:cNvPr id="10" name="">
            <a:extLst xmlns:a="http://schemas.openxmlformats.org/drawingml/2006/main">
              <a:ext uri="{FF2B5EF4-FFF2-40B4-BE49-F238E27FC236}">
                <a16:creationId xmlns:a16="http://schemas.microsoft.com/office/drawing/2014/main" id="{11C2CC6C-174E-4E5A-8B0D-2B0A4C8B34B4}"/>
              </a:ext>
            </a:extLst>
          </p:cNvPr>
          <p:cNvSpPr>
            <a:spLocks xmlns:a="http://schemas.openxmlformats.org/drawingml/2006/main" noGrp="1"/>
          </p:cNvSpPr>
          <p:nvPr/>
        </p:nvSpPr>
        <p:spPr>
          <a:xfrm xmlns:a="http://schemas.openxmlformats.org/drawingml/2006/main">
            <a:off x="1219200" y="4705350"/>
            <a:ext cx="10001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The user study will test where those measurements match real human responses.</a:t>
            </a:r>
          </a:p>
        </p:txBody>
      </p:sp>
      <p:sp>
        <p:nvSpPr>
          <p:cNvPr id="11" name="">
            <a:extLst xmlns:a="http://schemas.openxmlformats.org/drawingml/2006/main">
              <a:ext uri="{FF2B5EF4-FFF2-40B4-BE49-F238E27FC236}">
                <a16:creationId xmlns:a16="http://schemas.microsoft.com/office/drawing/2014/main" id="{520BB3B0-0098-4E3F-8CF7-A85E024CFCA4}"/>
              </a:ext>
            </a:extLst>
          </p:cNvPr>
          <p:cNvSpPr>
            <a:spLocks xmlns:a="http://schemas.openxmlformats.org/drawingml/2006/main" noGrp="1"/>
          </p:cNvSpPr>
          <p:nvPr/>
        </p:nvSpPr>
        <p:spPr>
          <a:xfrm xmlns:a="http://schemas.openxmlformats.org/drawingml/2006/main">
            <a:off x="400050" y="5905500"/>
            <a:ext cx="7239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E6672"/>
                </a:solidFill>
                <a:latin typeface="Helvetica Neue"/>
                <a:ea typeface="Helvetica Neue"/>
                <a:cs typeface="Helvetica Neue"/>
              </a:defRPr>
            </a:pPr>
            <a:r>
              <a:rPr sz="1350" b="0">
                <a:solidFill>
                  <a:srgbClr val="5E6672"/>
                </a:solidFill>
                <a:latin typeface="Helvetica Neue"/>
                <a:ea typeface="Helvetica Neue"/>
                <a:cs typeface="Helvetica Neue"/>
              </a:rPr>
              <a:t>Next milestone · approved pilot design and frozen stimulus set</a:t>
            </a:r>
          </a:p>
        </p:txBody>
      </p:sp>
    </p:spTree>
    <p:extLst>
      <p:ext uri="{BB962C8B-B14F-4D97-AF65-F5344CB8AC3E}">
        <p14:creationId xmlns:p14="http://schemas.microsoft.com/office/powerpoint/2010/main" val="1838594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2026-08-13T14:20:08.3060000Z</dcterms:created>
  <dcterms:modified xsi:type="dcterms:W3CDTF">2026-08-13T14:20:08.3060000Z</dcterms:modified>
</coreProperties>
</file>